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7" r:id="rId2"/>
    <p:sldId id="1283" r:id="rId3"/>
    <p:sldId id="1254" r:id="rId4"/>
    <p:sldId id="1255" r:id="rId5"/>
    <p:sldId id="1257" r:id="rId6"/>
    <p:sldId id="1258" r:id="rId7"/>
    <p:sldId id="1259" r:id="rId8"/>
    <p:sldId id="1260" r:id="rId9"/>
    <p:sldId id="1261" r:id="rId10"/>
    <p:sldId id="1262" r:id="rId11"/>
    <p:sldId id="1263" r:id="rId12"/>
    <p:sldId id="1282" r:id="rId13"/>
    <p:sldId id="1264" r:id="rId14"/>
    <p:sldId id="1114" r:id="rId15"/>
    <p:sldId id="1265" r:id="rId16"/>
    <p:sldId id="1207" r:id="rId17"/>
    <p:sldId id="1266" r:id="rId18"/>
    <p:sldId id="1281" r:id="rId19"/>
    <p:sldId id="1269" r:id="rId20"/>
    <p:sldId id="1268" r:id="rId21"/>
    <p:sldId id="1270" r:id="rId22"/>
    <p:sldId id="1271" r:id="rId23"/>
    <p:sldId id="1272" r:id="rId24"/>
    <p:sldId id="1273" r:id="rId25"/>
    <p:sldId id="1274" r:id="rId26"/>
    <p:sldId id="1275" r:id="rId27"/>
    <p:sldId id="1276" r:id="rId28"/>
    <p:sldId id="1277" r:id="rId29"/>
    <p:sldId id="1278" r:id="rId30"/>
    <p:sldId id="1279" r:id="rId31"/>
    <p:sldId id="1280" r:id="rId32"/>
    <p:sldId id="1106" r:id="rId33"/>
    <p:sldId id="1107" r:id="rId34"/>
    <p:sldId id="111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0044" autoAdjust="0"/>
  </p:normalViewPr>
  <p:slideViewPr>
    <p:cSldViewPr snapToGrid="0">
      <p:cViewPr varScale="1">
        <p:scale>
          <a:sx n="86" d="100"/>
          <a:sy n="86" d="100"/>
        </p:scale>
        <p:origin x="1829" y="53"/>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5325D3-F1C7-4B36-A88F-5BFB155084BF}" type="datetimeFigureOut">
              <a:rPr lang="en-US" smtClean="0"/>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DCB26F-7BF5-4DA6-BA18-A0B7008BFCA0}" type="slidenum">
              <a:rPr lang="en-US" smtClean="0"/>
              <a:t>‹#›</a:t>
            </a:fld>
            <a:endParaRPr lang="en-US"/>
          </a:p>
        </p:txBody>
      </p:sp>
    </p:spTree>
    <p:extLst>
      <p:ext uri="{BB962C8B-B14F-4D97-AF65-F5344CB8AC3E}">
        <p14:creationId xmlns:p14="http://schemas.microsoft.com/office/powerpoint/2010/main" val="1805550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600"/>
              </a:spcBef>
              <a:spcAft>
                <a:spcPts val="0"/>
              </a:spcAft>
              <a:buNone/>
            </a:pPr>
            <a:r>
              <a:rPr lang="en-US" dirty="0"/>
              <a:t>How do we set the timer length?</a:t>
            </a:r>
          </a:p>
          <a:p>
            <a:pPr marL="171450" lvl="0" indent="-171450" algn="l" rtl="0">
              <a:spcBef>
                <a:spcPts val="600"/>
              </a:spcBef>
              <a:spcAft>
                <a:spcPts val="0"/>
              </a:spcAft>
              <a:buFont typeface="Arial" panose="020B0604020202020204" pitchFamily="34" charset="0"/>
              <a:buChar char="•"/>
            </a:pPr>
            <a:r>
              <a:rPr lang="en-US" dirty="0"/>
              <a:t>Too long: Delays delivery.</a:t>
            </a:r>
          </a:p>
          <a:p>
            <a:pPr marL="171450" lvl="0" indent="-171450" algn="l" rtl="0">
              <a:spcBef>
                <a:spcPts val="600"/>
              </a:spcBef>
              <a:spcAft>
                <a:spcPts val="0"/>
              </a:spcAft>
              <a:buFont typeface="Arial" panose="020B0604020202020204" pitchFamily="34" charset="0"/>
              <a:buChar char="•"/>
            </a:pPr>
            <a:r>
              <a:rPr lang="en-US" dirty="0"/>
              <a:t>Too short: Causes unnecessary retransmission.</a:t>
            </a:r>
          </a:p>
          <a:p>
            <a:pPr marL="0" lvl="0" indent="0" algn="l" rtl="0">
              <a:spcBef>
                <a:spcPts val="600"/>
              </a:spcBef>
              <a:spcAft>
                <a:spcPts val="0"/>
              </a:spcAft>
              <a:buNone/>
            </a:pPr>
            <a:endParaRPr lang="en-US" dirty="0"/>
          </a:p>
          <a:p>
            <a:pPr marL="0" lvl="0" indent="0" algn="l" rtl="0">
              <a:spcBef>
                <a:spcPts val="600"/>
              </a:spcBef>
              <a:spcAft>
                <a:spcPts val="0"/>
              </a:spcAft>
              <a:buNone/>
            </a:pPr>
            <a:r>
              <a:rPr lang="en-US" dirty="0"/>
              <a:t>Ideally: Timer is proportional to RTT (round-trip time).</a:t>
            </a:r>
          </a:p>
          <a:p>
            <a:pPr marL="171450" lvl="0" indent="-171450" algn="l" rtl="0">
              <a:spcBef>
                <a:spcPts val="600"/>
              </a:spcBef>
              <a:spcAft>
                <a:spcPts val="0"/>
              </a:spcAft>
              <a:buFont typeface="Arial" panose="020B0604020202020204" pitchFamily="34" charset="0"/>
              <a:buChar char="•"/>
            </a:pPr>
            <a:r>
              <a:rPr lang="en-US" dirty="0"/>
              <a:t>Intuition: RTT is when you expected to see the ack.</a:t>
            </a:r>
          </a:p>
          <a:p>
            <a:pPr marL="0" lvl="0" indent="0" algn="l" rtl="0">
              <a:spcBef>
                <a:spcPts val="600"/>
              </a:spcBef>
              <a:spcAft>
                <a:spcPts val="0"/>
              </a:spcAft>
              <a:buNone/>
            </a:pPr>
            <a:endParaRPr lang="en-US" dirty="0"/>
          </a:p>
          <a:p>
            <a:pPr marL="0" lvl="0" indent="0" algn="l" rtl="0">
              <a:spcBef>
                <a:spcPts val="600"/>
              </a:spcBef>
              <a:spcAft>
                <a:spcPts val="0"/>
              </a:spcAft>
              <a:buNone/>
            </a:pPr>
            <a:r>
              <a:rPr lang="en-US" dirty="0"/>
              <a:t>In practice: Measuring the RTT is non-trivial.</a:t>
            </a:r>
          </a:p>
          <a:p>
            <a:pPr marL="171450" lvl="0" indent="-171450" algn="l" rtl="0">
              <a:spcBef>
                <a:spcPts val="600"/>
              </a:spcBef>
              <a:spcAft>
                <a:spcPts val="0"/>
              </a:spcAft>
              <a:buFont typeface="Arial" panose="020B0604020202020204" pitchFamily="34" charset="0"/>
              <a:buChar char="•"/>
            </a:pPr>
            <a:r>
              <a:rPr lang="en-US" dirty="0"/>
              <a:t>RTT varies depending on what path the packet takes.</a:t>
            </a:r>
          </a:p>
          <a:p>
            <a:pPr marL="171450" lvl="0" indent="-171450" algn="l" rtl="0">
              <a:spcBef>
                <a:spcPts val="600"/>
              </a:spcBef>
              <a:spcAft>
                <a:spcPts val="0"/>
              </a:spcAft>
              <a:buFont typeface="Arial" panose="020B0604020202020204" pitchFamily="34" charset="0"/>
              <a:buChar char="•"/>
            </a:pPr>
            <a:r>
              <a:rPr lang="en-US" dirty="0"/>
              <a:t>RTT varies along a fixed path: packet could get stuck in queues at links.</a:t>
            </a:r>
          </a:p>
          <a:p>
            <a:endParaRPr lang="en-US" dirty="0"/>
          </a:p>
        </p:txBody>
      </p:sp>
      <p:sp>
        <p:nvSpPr>
          <p:cNvPr id="4" name="Slide Number Placeholder 3"/>
          <p:cNvSpPr>
            <a:spLocks noGrp="1"/>
          </p:cNvSpPr>
          <p:nvPr>
            <p:ph type="sldNum" sz="quarter" idx="5"/>
          </p:nvPr>
        </p:nvSpPr>
        <p:spPr/>
        <p:txBody>
          <a:bodyPr/>
          <a:lstStyle/>
          <a:p>
            <a:fld id="{B5DCB26F-7BF5-4DA6-BA18-A0B7008BFCA0}" type="slidenum">
              <a:rPr lang="en-US" smtClean="0"/>
              <a:t>6</a:t>
            </a:fld>
            <a:endParaRPr lang="en-US"/>
          </a:p>
        </p:txBody>
      </p:sp>
    </p:spTree>
    <p:extLst>
      <p:ext uri="{BB962C8B-B14F-4D97-AF65-F5344CB8AC3E}">
        <p14:creationId xmlns:p14="http://schemas.microsoft.com/office/powerpoint/2010/main" val="10386560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indent="0">
              <a:buFont typeface="Arial" panose="020B0604020202020204" pitchFamily="34" charset="0"/>
              <a:buNone/>
            </a:pPr>
            <a:r>
              <a:rPr lang="en-US" dirty="0"/>
              <a:t>The TCP sender and receiver have a number of pieces of shared state that they must establish before actually communicating</a:t>
            </a:r>
          </a:p>
          <a:p>
            <a:pPr marL="171450" indent="-171450">
              <a:buFont typeface="Arial" panose="020B0604020202020204" pitchFamily="34" charset="0"/>
              <a:buChar char="•"/>
            </a:pPr>
            <a:r>
              <a:rPr lang="en-US" b="1" dirty="0"/>
              <a:t>FIRST</a:t>
            </a:r>
            <a:r>
              <a:rPr lang="en-US" dirty="0"/>
              <a:t> they must both agree that they WANT to communicate with each other</a:t>
            </a:r>
          </a:p>
          <a:p>
            <a:pPr marL="171450" indent="-171450">
              <a:buFont typeface="Arial" panose="020B0604020202020204" pitchFamily="34" charset="0"/>
              <a:buChar char="•"/>
            </a:pPr>
            <a:r>
              <a:rPr lang="en-US" b="1" dirty="0"/>
              <a:t>Secondly</a:t>
            </a:r>
            <a:r>
              <a:rPr lang="en-US" dirty="0"/>
              <a:t> there are connection parameters – the initial sequence number and the initial receiver-advertised bufferspace that they’ll want to agree on</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This is done via a so-called handshake protocol – the client reaching our to the server, and the server answering back.</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And before diving into the TCP handshake protocol, let’s first consider the problem of handshaking, of establishing shared state.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70161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3-way handshake solves the above problems:</a:t>
            </a:r>
          </a:p>
          <a:p>
            <a:endParaRPr lang="en-US" dirty="0"/>
          </a:p>
          <a:p>
            <a:pPr marL="457200" lvl="1" indent="0" algn="l">
              <a:buFont typeface="Arial" panose="020B0604020202020204" pitchFamily="34" charset="0"/>
              <a:buNone/>
            </a:pPr>
            <a:endParaRPr lang="en-US" dirty="0"/>
          </a:p>
          <a:p>
            <a:r>
              <a:rPr lang="en-US" b="1" dirty="0"/>
              <a:t>1. Half-Open Connection Problem:</a:t>
            </a:r>
          </a:p>
          <a:p>
            <a:pPr>
              <a:buFont typeface="Arial" panose="020B0604020202020204" pitchFamily="34" charset="0"/>
              <a:buChar char="•"/>
            </a:pPr>
            <a:r>
              <a:rPr lang="en-US" dirty="0"/>
              <a:t>In a </a:t>
            </a:r>
            <a:r>
              <a:rPr lang="en-US" b="1" dirty="0"/>
              <a:t>2-way handshake (without the final ACK)</a:t>
            </a:r>
            <a:r>
              <a:rPr lang="en-US" dirty="0"/>
              <a:t>, if the </a:t>
            </a:r>
            <a:r>
              <a:rPr lang="en-US" b="1" dirty="0"/>
              <a:t>client terminates</a:t>
            </a:r>
            <a:r>
              <a:rPr lang="en-US" dirty="0"/>
              <a:t> the connection or loses communication while the server still thinks the connection is active, this can result in a </a:t>
            </a:r>
            <a:r>
              <a:rPr lang="en-US" b="1" dirty="0"/>
              <a:t>half-open connection</a:t>
            </a:r>
            <a:r>
              <a:rPr lang="en-US" dirty="0"/>
              <a:t>. This leaves the server wasting resources maintaining a connection that no longer exists.</a:t>
            </a:r>
          </a:p>
          <a:p>
            <a:pPr>
              <a:buFont typeface="Arial" panose="020B0604020202020204" pitchFamily="34" charset="0"/>
              <a:buChar char="•"/>
            </a:pPr>
            <a:r>
              <a:rPr lang="en-US" b="1" dirty="0"/>
              <a:t>In the 3-way handshake</a:t>
            </a:r>
            <a:r>
              <a:rPr lang="en-US" dirty="0"/>
              <a:t>, the </a:t>
            </a:r>
            <a:r>
              <a:rPr lang="en-US" b="1" dirty="0"/>
              <a:t>final ACK</a:t>
            </a:r>
            <a:r>
              <a:rPr lang="en-US" dirty="0"/>
              <a:t> step serves as a confirmation that the client is ready to proceed:</a:t>
            </a:r>
          </a:p>
          <a:p>
            <a:pPr marL="742950" lvl="1" indent="-285750">
              <a:buFont typeface="Arial" panose="020B0604020202020204" pitchFamily="34" charset="0"/>
              <a:buChar char="•"/>
            </a:pPr>
            <a:r>
              <a:rPr lang="en-US" dirty="0"/>
              <a:t>If the client never sends this final ACK (due to termination or network failure), the server will not consider the connection established and will not continue waiting for data from the client.</a:t>
            </a:r>
          </a:p>
          <a:p>
            <a:pPr marL="742950" lvl="1" indent="-285750">
              <a:buFont typeface="Arial" panose="020B0604020202020204" pitchFamily="34" charset="0"/>
              <a:buChar char="•"/>
            </a:pPr>
            <a:r>
              <a:rPr lang="en-US" dirty="0"/>
              <a:t>This prevents the server from being left with a half-open connection.</a:t>
            </a:r>
          </a:p>
          <a:p>
            <a:pPr marL="742950" lvl="1" indent="-285750">
              <a:buFont typeface="Arial" panose="020B0604020202020204" pitchFamily="34" charset="0"/>
              <a:buChar char="•"/>
            </a:pPr>
            <a:endParaRPr lang="en-US" dirty="0"/>
          </a:p>
          <a:p>
            <a:pPr marL="0" indent="0">
              <a:buNone/>
            </a:pPr>
            <a:r>
              <a:rPr lang="en-US" b="1" dirty="0"/>
              <a:t>2. Duplicate Data Acceptance Issue</a:t>
            </a:r>
            <a:r>
              <a:rPr lang="en-US" dirty="0"/>
              <a:t>: </a:t>
            </a:r>
          </a:p>
          <a:p>
            <a:pPr>
              <a:buFont typeface="Arial" panose="020B0604020202020204" pitchFamily="34" charset="0"/>
              <a:buChar char="•"/>
            </a:pPr>
            <a:r>
              <a:rPr lang="en-US" dirty="0"/>
              <a:t>In a </a:t>
            </a:r>
            <a:r>
              <a:rPr lang="en-US" b="1" dirty="0"/>
              <a:t>2-way handshake</a:t>
            </a:r>
            <a:r>
              <a:rPr lang="en-US" dirty="0"/>
              <a:t>, the client might send data after receiving the first acknowledgment from the server, but due to retransmission of the connection request, the server might </a:t>
            </a:r>
            <a:r>
              <a:rPr lang="en-US" b="1" dirty="0"/>
              <a:t>forget</a:t>
            </a:r>
            <a:r>
              <a:rPr lang="en-US" dirty="0"/>
              <a:t> the initial connection and reprocess the data, resulting in </a:t>
            </a:r>
            <a:r>
              <a:rPr lang="en-US" b="1" dirty="0"/>
              <a:t>duplicate data being accepted</a:t>
            </a:r>
            <a:r>
              <a:rPr lang="en-US" dirty="0"/>
              <a:t>.</a:t>
            </a:r>
            <a:endParaRPr lang="en-US" b="1" dirty="0"/>
          </a:p>
          <a:p>
            <a:pPr>
              <a:buFont typeface="Arial" panose="020B0604020202020204" pitchFamily="34" charset="0"/>
              <a:buChar char="•"/>
            </a:pPr>
            <a:r>
              <a:rPr lang="en-US" b="1" dirty="0"/>
              <a:t>In the 3-way handshake</a:t>
            </a:r>
            <a:r>
              <a:rPr lang="en-US" dirty="0"/>
              <a:t>, the final </a:t>
            </a:r>
            <a:r>
              <a:rPr lang="en-US" b="1" dirty="0"/>
              <a:t>ACK</a:t>
            </a:r>
            <a:r>
              <a:rPr lang="en-US" dirty="0"/>
              <a:t> step (client acknowledging the server) ensures that both the client and server are </a:t>
            </a:r>
            <a:r>
              <a:rPr lang="en-US" b="1" dirty="0"/>
              <a:t>fully synchronized</a:t>
            </a:r>
            <a:r>
              <a:rPr lang="en-US" dirty="0"/>
              <a:t>:</a:t>
            </a:r>
          </a:p>
          <a:p>
            <a:pPr lvl="1">
              <a:buFont typeface="Arial" panose="020B0604020202020204" pitchFamily="34" charset="0"/>
              <a:buChar char="•"/>
            </a:pPr>
            <a:r>
              <a:rPr lang="en-US" b="1" dirty="0"/>
              <a:t>The server only starts accepting data</a:t>
            </a:r>
            <a:r>
              <a:rPr lang="en-US" dirty="0"/>
              <a:t> once it receives the client’s final </a:t>
            </a:r>
            <a:r>
              <a:rPr lang="en-US" b="1" dirty="0"/>
              <a:t>ACK</a:t>
            </a:r>
            <a:r>
              <a:rPr lang="en-US" dirty="0"/>
              <a:t> (step 3), confirming that the connection is fully established on both sides.</a:t>
            </a:r>
          </a:p>
          <a:p>
            <a:pPr lvl="1">
              <a:buFont typeface="Arial" panose="020B0604020202020204" pitchFamily="34" charset="0"/>
              <a:buChar char="•"/>
            </a:pPr>
            <a:r>
              <a:rPr lang="en-US" dirty="0"/>
              <a:t>This ensures that any retransmitted connection requests are handled before data transmission starts, preventing the server from accepting </a:t>
            </a:r>
            <a:r>
              <a:rPr lang="en-US" b="1" dirty="0"/>
              <a:t>duplicate data</a:t>
            </a:r>
            <a:r>
              <a:rPr lang="en-US" dirty="0"/>
              <a:t>.</a:t>
            </a:r>
          </a:p>
          <a:p>
            <a:pPr marL="457200" lvl="1" indent="0" algn="l">
              <a:buFont typeface="Arial" panose="020B0604020202020204" pitchFamily="34" charset="0"/>
              <a:buNone/>
            </a:pPr>
            <a:endParaRPr lang="en-US" dirty="0"/>
          </a:p>
          <a:p>
            <a:r>
              <a:rPr lang="en-US" b="1" dirty="0"/>
              <a:t>3. Out-of-Sync Connection States:</a:t>
            </a:r>
          </a:p>
          <a:p>
            <a:pPr>
              <a:buFont typeface="Arial" panose="020B0604020202020204" pitchFamily="34" charset="0"/>
              <a:buChar char="•"/>
            </a:pPr>
            <a:r>
              <a:rPr lang="en-US" dirty="0"/>
              <a:t>In the </a:t>
            </a:r>
            <a:r>
              <a:rPr lang="en-US" b="1" dirty="0"/>
              <a:t>2-way handshake</a:t>
            </a:r>
            <a:r>
              <a:rPr lang="en-US" dirty="0"/>
              <a:t>, there is no final confirmation that both sides have successfully synchronized their connection states. This can lead to situations where the client believes the connection is established, but the server either hasn't received the initial request or has forgotten it due to retransmissions.</a:t>
            </a:r>
          </a:p>
          <a:p>
            <a:pPr>
              <a:buFont typeface="Arial" panose="020B0604020202020204" pitchFamily="34" charset="0"/>
              <a:buChar char="•"/>
            </a:pPr>
            <a:r>
              <a:rPr lang="en-US" b="1" dirty="0"/>
              <a:t>In the 3-way handshake</a:t>
            </a:r>
            <a:r>
              <a:rPr lang="en-US" dirty="0"/>
              <a:t>, the </a:t>
            </a:r>
            <a:r>
              <a:rPr lang="en-US" b="1" dirty="0"/>
              <a:t>final ACK</a:t>
            </a:r>
            <a:r>
              <a:rPr lang="en-US" dirty="0"/>
              <a:t> from the client ensures that the server knows the connection has been acknowledged by the client:</a:t>
            </a:r>
          </a:p>
          <a:p>
            <a:pPr marL="742950" lvl="1" indent="-285750">
              <a:buFont typeface="Arial" panose="020B0604020202020204" pitchFamily="34" charset="0"/>
              <a:buChar char="•"/>
            </a:pPr>
            <a:r>
              <a:rPr lang="en-US" dirty="0"/>
              <a:t>Once the server receives this final ACK, both sides have confirmed that they are ready to communicate.</a:t>
            </a:r>
          </a:p>
          <a:p>
            <a:pPr marL="742950" lvl="1" indent="-285750">
              <a:buFont typeface="Arial" panose="020B0604020202020204" pitchFamily="34" charset="0"/>
              <a:buChar char="•"/>
            </a:pPr>
            <a:r>
              <a:rPr lang="en-US" dirty="0"/>
              <a:t>Any subsequent data transmissions occur after both sides have agreed on the connection state, reducing the chance of </a:t>
            </a:r>
            <a:r>
              <a:rPr lang="en-US" b="1" dirty="0"/>
              <a:t>out-of-sync states</a:t>
            </a:r>
            <a:r>
              <a:rPr lang="en-US" dirty="0"/>
              <a:t>.</a:t>
            </a:r>
          </a:p>
          <a:p>
            <a:pPr marL="457200" lvl="1" indent="0" algn="l">
              <a:buFont typeface="Arial" panose="020B0604020202020204" pitchFamily="34" charset="0"/>
              <a:buNone/>
            </a:pPr>
            <a:endParaRPr lang="en-US" dirty="0"/>
          </a:p>
          <a:p>
            <a:pPr marL="0" indent="0">
              <a:buNone/>
            </a:pPr>
            <a:endParaRPr lang="en-US" dirty="0"/>
          </a:p>
          <a:p>
            <a:pPr marL="228600" indent="-228600">
              <a:buAutoNum type="arabicPeriod"/>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1457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Abrupt termination is not something you need to know. Just for fun</a:t>
            </a:r>
          </a:p>
        </p:txBody>
      </p:sp>
      <p:sp>
        <p:nvSpPr>
          <p:cNvPr id="4" name="Slide Number Placeholder 3"/>
          <p:cNvSpPr>
            <a:spLocks noGrp="1"/>
          </p:cNvSpPr>
          <p:nvPr>
            <p:ph type="sldNum" sz="quarter" idx="5"/>
          </p:nvPr>
        </p:nvSpPr>
        <p:spPr/>
        <p:txBody>
          <a:bodyPr/>
          <a:lstStyle/>
          <a:p>
            <a:fld id="{B5DCB26F-7BF5-4DA6-BA18-A0B7008BFCA0}" type="slidenum">
              <a:rPr lang="en-US" smtClean="0"/>
              <a:t>17</a:t>
            </a:fld>
            <a:endParaRPr lang="en-US"/>
          </a:p>
        </p:txBody>
      </p:sp>
    </p:spTree>
    <p:extLst>
      <p:ext uri="{BB962C8B-B14F-4D97-AF65-F5344CB8AC3E}">
        <p14:creationId xmlns:p14="http://schemas.microsoft.com/office/powerpoint/2010/main" val="14278930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56226-606A-795B-B0E9-718E4F592C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F5FE5-9E19-14DA-C0F6-4213C99B8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98A331-AAC6-36B7-29BB-B1B93F5D49F9}"/>
              </a:ext>
            </a:extLst>
          </p:cNvPr>
          <p:cNvSpPr>
            <a:spLocks noGrp="1"/>
          </p:cNvSpPr>
          <p:nvPr>
            <p:ph type="body" idx="1"/>
          </p:nvPr>
        </p:nvSpPr>
        <p:spPr/>
        <p:txBody>
          <a:bodyPr/>
          <a:lstStyle/>
          <a:p>
            <a:pPr marL="0" lvl="0" indent="0" algn="l" rtl="0">
              <a:spcBef>
                <a:spcPts val="600"/>
              </a:spcBef>
              <a:spcAft>
                <a:spcPts val="0"/>
              </a:spcAft>
              <a:buNone/>
            </a:pPr>
            <a:r>
              <a:rPr lang="en-US" dirty="0"/>
              <a:t>How do we set the timer length?</a:t>
            </a:r>
          </a:p>
          <a:p>
            <a:pPr marL="171450" lvl="0" indent="-171450" algn="l" rtl="0">
              <a:spcBef>
                <a:spcPts val="600"/>
              </a:spcBef>
              <a:spcAft>
                <a:spcPts val="0"/>
              </a:spcAft>
              <a:buFont typeface="Arial" panose="020B0604020202020204" pitchFamily="34" charset="0"/>
              <a:buChar char="•"/>
            </a:pPr>
            <a:r>
              <a:rPr lang="en-US" dirty="0"/>
              <a:t>Too long: Delays delivery.</a:t>
            </a:r>
          </a:p>
          <a:p>
            <a:pPr marL="171450" lvl="0" indent="-171450" algn="l" rtl="0">
              <a:spcBef>
                <a:spcPts val="600"/>
              </a:spcBef>
              <a:spcAft>
                <a:spcPts val="0"/>
              </a:spcAft>
              <a:buFont typeface="Arial" panose="020B0604020202020204" pitchFamily="34" charset="0"/>
              <a:buChar char="•"/>
            </a:pPr>
            <a:r>
              <a:rPr lang="en-US" dirty="0"/>
              <a:t>Too short: Causes unnecessary retransmission.</a:t>
            </a:r>
          </a:p>
          <a:p>
            <a:pPr marL="0" lvl="0" indent="0" algn="l" rtl="0">
              <a:spcBef>
                <a:spcPts val="600"/>
              </a:spcBef>
              <a:spcAft>
                <a:spcPts val="0"/>
              </a:spcAft>
              <a:buNone/>
            </a:pPr>
            <a:endParaRPr lang="en-US" dirty="0"/>
          </a:p>
          <a:p>
            <a:pPr marL="0" lvl="0" indent="0" algn="l" rtl="0">
              <a:spcBef>
                <a:spcPts val="600"/>
              </a:spcBef>
              <a:spcAft>
                <a:spcPts val="0"/>
              </a:spcAft>
              <a:buNone/>
            </a:pPr>
            <a:r>
              <a:rPr lang="en-US" dirty="0"/>
              <a:t>Ideally: Timer is proportional to RTT (round-trip time).</a:t>
            </a:r>
          </a:p>
          <a:p>
            <a:pPr marL="171450" lvl="0" indent="-171450" algn="l" rtl="0">
              <a:spcBef>
                <a:spcPts val="600"/>
              </a:spcBef>
              <a:spcAft>
                <a:spcPts val="0"/>
              </a:spcAft>
              <a:buFont typeface="Arial" panose="020B0604020202020204" pitchFamily="34" charset="0"/>
              <a:buChar char="•"/>
            </a:pPr>
            <a:r>
              <a:rPr lang="en-US" dirty="0"/>
              <a:t>Intuition: RTT is when you expected to see the ack.</a:t>
            </a:r>
          </a:p>
          <a:p>
            <a:pPr marL="0" lvl="0" indent="0" algn="l" rtl="0">
              <a:spcBef>
                <a:spcPts val="600"/>
              </a:spcBef>
              <a:spcAft>
                <a:spcPts val="0"/>
              </a:spcAft>
              <a:buNone/>
            </a:pPr>
            <a:endParaRPr lang="en-US" dirty="0"/>
          </a:p>
          <a:p>
            <a:pPr marL="0" lvl="0" indent="0" algn="l" rtl="0">
              <a:spcBef>
                <a:spcPts val="600"/>
              </a:spcBef>
              <a:spcAft>
                <a:spcPts val="0"/>
              </a:spcAft>
              <a:buNone/>
            </a:pPr>
            <a:r>
              <a:rPr lang="en-US" dirty="0"/>
              <a:t>In practice: Measuring the RTT is non-trivial.</a:t>
            </a:r>
          </a:p>
          <a:p>
            <a:pPr marL="171450" lvl="0" indent="-171450" algn="l" rtl="0">
              <a:spcBef>
                <a:spcPts val="600"/>
              </a:spcBef>
              <a:spcAft>
                <a:spcPts val="0"/>
              </a:spcAft>
              <a:buFont typeface="Arial" panose="020B0604020202020204" pitchFamily="34" charset="0"/>
              <a:buChar char="•"/>
            </a:pPr>
            <a:r>
              <a:rPr lang="en-US" dirty="0"/>
              <a:t>RTT varies depending on what path the packet takes.</a:t>
            </a:r>
          </a:p>
          <a:p>
            <a:pPr marL="171450" lvl="0" indent="-171450" algn="l" rtl="0">
              <a:spcBef>
                <a:spcPts val="600"/>
              </a:spcBef>
              <a:spcAft>
                <a:spcPts val="0"/>
              </a:spcAft>
              <a:buFont typeface="Arial" panose="020B0604020202020204" pitchFamily="34" charset="0"/>
              <a:buChar char="•"/>
            </a:pPr>
            <a:r>
              <a:rPr lang="en-US" dirty="0"/>
              <a:t>RTT varies along a fixed path: packet could get stuck in queues at links.</a:t>
            </a:r>
          </a:p>
          <a:p>
            <a:endParaRPr lang="en-US" dirty="0"/>
          </a:p>
        </p:txBody>
      </p:sp>
      <p:sp>
        <p:nvSpPr>
          <p:cNvPr id="4" name="Slide Number Placeholder 3">
            <a:extLst>
              <a:ext uri="{FF2B5EF4-FFF2-40B4-BE49-F238E27FC236}">
                <a16:creationId xmlns:a16="http://schemas.microsoft.com/office/drawing/2014/main" id="{2837CCC7-DD45-5519-3E7D-D0C3D51B71E5}"/>
              </a:ext>
            </a:extLst>
          </p:cNvPr>
          <p:cNvSpPr>
            <a:spLocks noGrp="1"/>
          </p:cNvSpPr>
          <p:nvPr>
            <p:ph type="sldNum" sz="quarter" idx="5"/>
          </p:nvPr>
        </p:nvSpPr>
        <p:spPr/>
        <p:txBody>
          <a:bodyPr/>
          <a:lstStyle/>
          <a:p>
            <a:fld id="{B5DCB26F-7BF5-4DA6-BA18-A0B7008BFCA0}" type="slidenum">
              <a:rPr lang="en-US" smtClean="0"/>
              <a:t>19</a:t>
            </a:fld>
            <a:endParaRPr lang="en-US"/>
          </a:p>
        </p:txBody>
      </p:sp>
    </p:spTree>
    <p:extLst>
      <p:ext uri="{BB962C8B-B14F-4D97-AF65-F5344CB8AC3E}">
        <p14:creationId xmlns:p14="http://schemas.microsoft.com/office/powerpoint/2010/main" val="2652213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6419E-83B3-1194-63EC-9ECADD244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96AA2-FD39-22C4-31D4-C24E014D48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86BC5-C31F-5B5B-A9B3-62EC4936EDB0}"/>
              </a:ext>
            </a:extLst>
          </p:cNvPr>
          <p:cNvSpPr>
            <a:spLocks noGrp="1"/>
          </p:cNvSpPr>
          <p:nvPr>
            <p:ph type="body" idx="1"/>
          </p:nvPr>
        </p:nvSpPr>
        <p:spPr/>
        <p:txBody>
          <a:bodyPr/>
          <a:lstStyle/>
          <a:p>
            <a:endParaRPr lang="en-US" dirty="0"/>
          </a:p>
          <a:p>
            <a:r>
              <a:rPr lang="en-US" dirty="0"/>
              <a:t>This is how TCP re-computes the estimated RTT each time a new </a:t>
            </a:r>
            <a:r>
              <a:rPr lang="en-US" dirty="0" err="1"/>
              <a:t>SampleRTT</a:t>
            </a:r>
            <a:r>
              <a:rPr lang="en-US" dirty="0"/>
              <a:t> is taken.</a:t>
            </a:r>
          </a:p>
          <a:p>
            <a:r>
              <a:rPr lang="en-US" dirty="0"/>
              <a:t>The process is knows as an exponentially weighted moving average, shown by the equation here.</a:t>
            </a:r>
          </a:p>
          <a:p>
            <a:endParaRPr lang="en-US" dirty="0"/>
          </a:p>
          <a:p>
            <a:r>
              <a:rPr lang="en-US" dirty="0"/>
              <a:t>Where alpha reflects the influence of the most recent measurements on the estimated RTT; a typical value of alpha used in implementations is .125</a:t>
            </a:r>
          </a:p>
          <a:p>
            <a:endParaRPr lang="en-US" dirty="0"/>
          </a:p>
          <a:p>
            <a:r>
              <a:rPr lang="en-US" dirty="0"/>
              <a:t>The graph at the bottom show measured RTTs between a host in the Massachusetts and a host in France, as well as the estimated, “smoothed”  RTT</a:t>
            </a:r>
          </a:p>
        </p:txBody>
      </p:sp>
      <p:sp>
        <p:nvSpPr>
          <p:cNvPr id="4" name="Slide Number Placeholder 3">
            <a:extLst>
              <a:ext uri="{FF2B5EF4-FFF2-40B4-BE49-F238E27FC236}">
                <a16:creationId xmlns:a16="http://schemas.microsoft.com/office/drawing/2014/main" id="{8465EF4A-0DC0-CF9C-B17B-07D57739FA29}"/>
              </a:ext>
            </a:extLst>
          </p:cNvPr>
          <p:cNvSpPr>
            <a:spLocks noGrp="1"/>
          </p:cNvSpPr>
          <p:nvPr>
            <p:ph type="sldNum" sz="quarter" idx="5"/>
          </p:nvPr>
        </p:nvSpPr>
        <p:spPr/>
        <p:txBody>
          <a:bodyPr/>
          <a:lstStyle/>
          <a:p>
            <a:fld id="{B5DCB26F-7BF5-4DA6-BA18-A0B7008BFCA0}" type="slidenum">
              <a:rPr lang="en-US" smtClean="0"/>
              <a:t>20</a:t>
            </a:fld>
            <a:endParaRPr lang="en-US"/>
          </a:p>
        </p:txBody>
      </p:sp>
    </p:spTree>
    <p:extLst>
      <p:ext uri="{BB962C8B-B14F-4D97-AF65-F5344CB8AC3E}">
        <p14:creationId xmlns:p14="http://schemas.microsoft.com/office/powerpoint/2010/main" val="2153149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Given this value of the estimated RTT, TCP computes the timeout interval to be the estimated RTT plus a “safety margin”</a:t>
            </a:r>
          </a:p>
          <a:p>
            <a:r>
              <a:rPr lang="en-US" dirty="0"/>
              <a:t> </a:t>
            </a:r>
          </a:p>
          <a:p>
            <a:r>
              <a:rPr lang="en-US" dirty="0"/>
              <a:t>And the intuition is that if we are seeing a large variation in SAMPLERTT – the RTT estimates are fluctuating a lot - then we’ll want a larger safety margin</a:t>
            </a:r>
          </a:p>
          <a:p>
            <a:endParaRPr lang="en-US" dirty="0"/>
          </a:p>
          <a:p>
            <a:r>
              <a:rPr lang="en-US" dirty="0"/>
              <a:t>So TCP computes the Timeout interval to be the Estimated RTT plus 4 times a measure of deviation in the RTT.</a:t>
            </a:r>
          </a:p>
          <a:p>
            <a:endParaRPr lang="en-US" dirty="0"/>
          </a:p>
          <a:p>
            <a:r>
              <a:rPr lang="en-US" dirty="0"/>
              <a:t>The deviation in the RTT is computed as the eWMA of the difference between the most recently measured SampleRTT from the Estimated RTT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007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5DCB26F-7BF5-4DA6-BA18-A0B7008BFCA0}" type="slidenum">
              <a:rPr lang="en-US" smtClean="0"/>
              <a:t>26</a:t>
            </a:fld>
            <a:endParaRPr lang="en-US"/>
          </a:p>
        </p:txBody>
      </p:sp>
    </p:spTree>
    <p:extLst>
      <p:ext uri="{BB962C8B-B14F-4D97-AF65-F5344CB8AC3E}">
        <p14:creationId xmlns:p14="http://schemas.microsoft.com/office/powerpoint/2010/main" val="18267874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E4D50-CAC4-01A3-61EA-82C54AACC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7F573-265E-D5B9-2EB8-9F0CA0B04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8E730F-4CDC-9274-0CE2-B9963B973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4A5464-A9EF-5667-C0E0-CBC88A7C07A3}"/>
              </a:ext>
            </a:extLst>
          </p:cNvPr>
          <p:cNvSpPr>
            <a:spLocks noGrp="1"/>
          </p:cNvSpPr>
          <p:nvPr>
            <p:ph type="sldNum" sz="quarter" idx="5"/>
          </p:nvPr>
        </p:nvSpPr>
        <p:spPr/>
        <p:txBody>
          <a:bodyPr/>
          <a:lstStyle/>
          <a:p>
            <a:fld id="{B5DCB26F-7BF5-4DA6-BA18-A0B7008BFCA0}" type="slidenum">
              <a:rPr lang="en-US" smtClean="0"/>
              <a:t>27</a:t>
            </a:fld>
            <a:endParaRPr lang="en-US"/>
          </a:p>
        </p:txBody>
      </p:sp>
    </p:spTree>
    <p:extLst>
      <p:ext uri="{BB962C8B-B14F-4D97-AF65-F5344CB8AC3E}">
        <p14:creationId xmlns:p14="http://schemas.microsoft.com/office/powerpoint/2010/main" val="15009209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F42A5-E3CB-8F22-23F1-DCEC24AB5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855A0D-8E20-AFEE-8DC9-42A8177EC6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08FD6-F420-258F-08FB-B622BE7B99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FFFCBF-A2D6-7F26-F47E-34240581C3DB}"/>
              </a:ext>
            </a:extLst>
          </p:cNvPr>
          <p:cNvSpPr>
            <a:spLocks noGrp="1"/>
          </p:cNvSpPr>
          <p:nvPr>
            <p:ph type="sldNum" sz="quarter" idx="5"/>
          </p:nvPr>
        </p:nvSpPr>
        <p:spPr/>
        <p:txBody>
          <a:bodyPr/>
          <a:lstStyle/>
          <a:p>
            <a:fld id="{B5DCB26F-7BF5-4DA6-BA18-A0B7008BFCA0}" type="slidenum">
              <a:rPr lang="en-US" smtClean="0"/>
              <a:t>28</a:t>
            </a:fld>
            <a:endParaRPr lang="en-US"/>
          </a:p>
        </p:txBody>
      </p:sp>
    </p:spTree>
    <p:extLst>
      <p:ext uri="{BB962C8B-B14F-4D97-AF65-F5344CB8AC3E}">
        <p14:creationId xmlns:p14="http://schemas.microsoft.com/office/powerpoint/2010/main" val="4076856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720EF-97D5-3225-6585-8AC049D74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93A48-814B-EDEE-7140-403E0DAD85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B88D12-DC95-24B5-EA40-9E7C782A7F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5BCA63-A813-26B5-46AB-ED9967B02C96}"/>
              </a:ext>
            </a:extLst>
          </p:cNvPr>
          <p:cNvSpPr>
            <a:spLocks noGrp="1"/>
          </p:cNvSpPr>
          <p:nvPr>
            <p:ph type="sldNum" sz="quarter" idx="5"/>
          </p:nvPr>
        </p:nvSpPr>
        <p:spPr/>
        <p:txBody>
          <a:bodyPr/>
          <a:lstStyle/>
          <a:p>
            <a:fld id="{B5DCB26F-7BF5-4DA6-BA18-A0B7008BFCA0}" type="slidenum">
              <a:rPr lang="en-US" smtClean="0"/>
              <a:t>29</a:t>
            </a:fld>
            <a:endParaRPr lang="en-US"/>
          </a:p>
        </p:txBody>
      </p:sp>
    </p:spTree>
    <p:extLst>
      <p:ext uri="{BB962C8B-B14F-4D97-AF65-F5344CB8AC3E}">
        <p14:creationId xmlns:p14="http://schemas.microsoft.com/office/powerpoint/2010/main" val="292145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EDE3-5D6E-E083-4B64-AF0A39462D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44FBD7-3AC6-940B-7A9A-1A0E7ED0EB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C2C1D1-5980-77A4-5912-18F4FC49D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229A3E-AD5D-FBD5-EB81-5FB3733781CF}"/>
              </a:ext>
            </a:extLst>
          </p:cNvPr>
          <p:cNvSpPr>
            <a:spLocks noGrp="1"/>
          </p:cNvSpPr>
          <p:nvPr>
            <p:ph type="sldNum" sz="quarter" idx="5"/>
          </p:nvPr>
        </p:nvSpPr>
        <p:spPr/>
        <p:txBody>
          <a:bodyPr/>
          <a:lstStyle/>
          <a:p>
            <a:fld id="{B5DCB26F-7BF5-4DA6-BA18-A0B7008BFCA0}" type="slidenum">
              <a:rPr lang="en-US" smtClean="0"/>
              <a:t>30</a:t>
            </a:fld>
            <a:endParaRPr lang="en-US"/>
          </a:p>
        </p:txBody>
      </p:sp>
    </p:spTree>
    <p:extLst>
      <p:ext uri="{BB962C8B-B14F-4D97-AF65-F5344CB8AC3E}">
        <p14:creationId xmlns:p14="http://schemas.microsoft.com/office/powerpoint/2010/main" val="23095165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1E0FE-7F4A-69B8-5CC6-AE81E8C3C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F72D3-08E0-07A1-A0E4-4586D62C5D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84351-18CA-6D67-AEB0-5526234C08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7E1631-BE6B-A53F-1202-21A75C9D7DB6}"/>
              </a:ext>
            </a:extLst>
          </p:cNvPr>
          <p:cNvSpPr>
            <a:spLocks noGrp="1"/>
          </p:cNvSpPr>
          <p:nvPr>
            <p:ph type="sldNum" sz="quarter" idx="5"/>
          </p:nvPr>
        </p:nvSpPr>
        <p:spPr/>
        <p:txBody>
          <a:bodyPr/>
          <a:lstStyle/>
          <a:p>
            <a:fld id="{B5DCB26F-7BF5-4DA6-BA18-A0B7008BFCA0}" type="slidenum">
              <a:rPr lang="en-US" smtClean="0"/>
              <a:t>31</a:t>
            </a:fld>
            <a:endParaRPr lang="en-US"/>
          </a:p>
        </p:txBody>
      </p:sp>
    </p:spTree>
    <p:extLst>
      <p:ext uri="{BB962C8B-B14F-4D97-AF65-F5344CB8AC3E}">
        <p14:creationId xmlns:p14="http://schemas.microsoft.com/office/powerpoint/2010/main" val="2513812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cement our understanding of TCP reliability, let’s look a a few retransmission scenarios</a:t>
            </a:r>
          </a:p>
          <a:p>
            <a:endParaRPr lang="en-US" dirty="0"/>
          </a:p>
          <a:p>
            <a:r>
              <a:rPr lang="en-US" dirty="0"/>
              <a:t>In the first case a TCP segments is transmitted and the ACK is lost, and the TCP timeout mechanism results in another copy of being transmitted and then re-ACKed a the sender</a:t>
            </a:r>
          </a:p>
          <a:p>
            <a:endParaRPr lang="en-US" dirty="0"/>
          </a:p>
          <a:p>
            <a:r>
              <a:rPr lang="en-US" dirty="0"/>
              <a:t>In the second example two segments are sent and acknowledged, but there is a premature timeout e for the first segment, which is retransmitted.  Note that when this retransmitted segment is received, the receiver has already received the first two segments, and so resends a cumulative ACK for both segments received so far, rather than an ACK for just this fist segment.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70587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in this last example, two segments are again transmitted, the first ACK is lost but the second ACK, a cumulative ACK arrives at the sender, which then can transmit a third segment, knowing that the first two have arrived, even though the ACK for the first segment was lost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343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wrap up our study of TCP reliability by discussing an optimization to the original TCP known as TCP fast retransmit,</a:t>
            </a:r>
          </a:p>
          <a:p>
            <a:endParaRPr lang="en-US" dirty="0"/>
          </a:p>
          <a:p>
            <a:r>
              <a:rPr lang="en-US" dirty="0"/>
              <a:t>Take a look at this example on the right where 5 segments are transmitted and the second segment is lost.  In this case the TCP receiver sends an ACK 100 acknowledging the first received segment.</a:t>
            </a:r>
          </a:p>
          <a:p>
            <a:r>
              <a:rPr lang="en-US" dirty="0"/>
              <a:t>When the third segment arrives at the receiver, the TCP receiver sends another ACK 100 since the second segment has not arrived. And similarly for the 4</a:t>
            </a:r>
            <a:r>
              <a:rPr lang="en-US" baseline="30000" dirty="0"/>
              <a:t>th</a:t>
            </a:r>
            <a:r>
              <a:rPr lang="en-US" dirty="0"/>
              <a:t> and 5</a:t>
            </a:r>
            <a:r>
              <a:rPr lang="en-US" baseline="30000" dirty="0"/>
              <a:t>th</a:t>
            </a:r>
            <a:r>
              <a:rPr lang="en-US" dirty="0"/>
              <a:t> segments to arrive.</a:t>
            </a:r>
          </a:p>
          <a:p>
            <a:endParaRPr lang="en-US" dirty="0"/>
          </a:p>
          <a:p>
            <a:r>
              <a:rPr lang="en-US" dirty="0"/>
              <a:t>Now what does the sender see?  The sender receives the first ACK 100 it has been hoping for, but then three additional duplicate ACK100s arrive.  The sender knows that somethings’ wrong – it knows the first segment arrived at the receiver  but three later arriving segments at the receiver – the ones that generated the three duplicate ACKs – we received correctly but were not in order.  That is, that there was a missing segment at the receiver when each of the three duplicate ACK were generated.</a:t>
            </a:r>
          </a:p>
          <a:p>
            <a:endParaRPr lang="en-US" dirty="0"/>
          </a:p>
          <a:p>
            <a:r>
              <a:rPr lang="en-US" dirty="0"/>
              <a:t>With fast retransmit, the arrival of three duplicate ACK causes the sender to retransmit its oldest unACKed segment, without waiting for a timeout event.  This allows TCP to recover more quickly from what is very likely a loss event</a:t>
            </a:r>
          </a:p>
          <a:p>
            <a:endParaRPr lang="en-US" dirty="0"/>
          </a:p>
          <a:p>
            <a:r>
              <a:rPr lang="en-US" dirty="0"/>
              <a:t>specifically that the second segment has been lost, since three higher -numbered segments were received</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91EEAC-CFEF-9647-876F-EABC6B8338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102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98F-B827-13AD-265C-514C216220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A41564-4F01-3DA7-30A5-41B696027D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298C639-4AB9-F4D6-CFBA-209FE857A5B2}"/>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5" name="Footer Placeholder 4">
            <a:extLst>
              <a:ext uri="{FF2B5EF4-FFF2-40B4-BE49-F238E27FC236}">
                <a16:creationId xmlns:a16="http://schemas.microsoft.com/office/drawing/2014/main" id="{07777A7F-9979-7B59-A463-DCEBBA95BB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9F0F76-7128-32CE-27E0-EA7B842C85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748364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F79D5-059D-19DB-300F-B545C4C45F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D31340-A1E9-7CE3-85EA-7F1CF2ED7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0681CF-4E42-18FC-F8CF-942C82B56AA5}"/>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5" name="Footer Placeholder 4">
            <a:extLst>
              <a:ext uri="{FF2B5EF4-FFF2-40B4-BE49-F238E27FC236}">
                <a16:creationId xmlns:a16="http://schemas.microsoft.com/office/drawing/2014/main" id="{D62C2239-A774-E47F-618D-51D208E68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14B347-A921-E0AB-5A62-7830EDC846C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552133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3AE5C-05CB-8274-A918-075C19B6A7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07643FC-A248-C72E-7C55-AF40C95C9EE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FC89F5-84BE-3CEF-33F5-F2CA26EE8B32}"/>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5" name="Footer Placeholder 4">
            <a:extLst>
              <a:ext uri="{FF2B5EF4-FFF2-40B4-BE49-F238E27FC236}">
                <a16:creationId xmlns:a16="http://schemas.microsoft.com/office/drawing/2014/main" id="{144EC82B-F092-F737-C6EC-4508B148A6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AE09F0-8AE5-6C3F-D940-15869CCF5AB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88112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02350-D4AF-4F3C-CEE2-B8734DE147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3F635-D032-EB3F-AA91-8B6201523B0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D6D8E9-1DD1-0647-572D-88AADC9B0E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ABC9E6-F832-C7D5-DD5F-43E7579F9B16}"/>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6" name="Footer Placeholder 5">
            <a:extLst>
              <a:ext uri="{FF2B5EF4-FFF2-40B4-BE49-F238E27FC236}">
                <a16:creationId xmlns:a16="http://schemas.microsoft.com/office/drawing/2014/main" id="{AF1C2CA5-C7DE-C955-B48A-7E0F3888C0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A8908E-669F-CB28-260B-78354401EF72}"/>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961818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24474-5433-09FA-BE28-C0DC57B646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4AD488-42FB-58FC-4155-0D56C39BE0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1634D41-5957-DB0E-CB35-AC6249E0A5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2425178-5D33-EBD1-4C79-986B42DAD0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B3E2A5-4A98-031A-250D-CBFB1D9384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1FBD9DE-6FA7-D067-18F3-C04BBCDB0753}"/>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8" name="Footer Placeholder 7">
            <a:extLst>
              <a:ext uri="{FF2B5EF4-FFF2-40B4-BE49-F238E27FC236}">
                <a16:creationId xmlns:a16="http://schemas.microsoft.com/office/drawing/2014/main" id="{525D33E4-2E0D-1662-B7BF-20E78E7C80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EDC47E-1E21-2424-6A7B-315D8AAFB6E4}"/>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43752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BCA65-C705-E6A3-485D-408F56B817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EF069A2-CE3D-6E6E-685B-1FE020EA8296}"/>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4" name="Footer Placeholder 3">
            <a:extLst>
              <a:ext uri="{FF2B5EF4-FFF2-40B4-BE49-F238E27FC236}">
                <a16:creationId xmlns:a16="http://schemas.microsoft.com/office/drawing/2014/main" id="{AF684AF1-31C9-84AC-0250-05744141CAE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C33C2AA-F699-ED5D-9FBA-C19002EBB90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759563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0332F3-879F-BB3B-698B-B2739723538A}"/>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3" name="Footer Placeholder 2">
            <a:extLst>
              <a:ext uri="{FF2B5EF4-FFF2-40B4-BE49-F238E27FC236}">
                <a16:creationId xmlns:a16="http://schemas.microsoft.com/office/drawing/2014/main" id="{F72D113C-0FB8-0400-99D8-6F134830DDC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150B956-7068-44C2-B72A-60BB293DD6C3}"/>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30799932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E8B4E-A384-E57E-E42B-8DF0137C30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5095B01-185E-04BB-14A7-B258CA51CA7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B7228C-5F12-7AF1-FC9F-8C1032F39B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61407C-424A-E815-0FAD-6132348EB71D}"/>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6" name="Footer Placeholder 5">
            <a:extLst>
              <a:ext uri="{FF2B5EF4-FFF2-40B4-BE49-F238E27FC236}">
                <a16:creationId xmlns:a16="http://schemas.microsoft.com/office/drawing/2014/main" id="{3ACF71BD-8573-007D-3858-3535CBA02C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6C0FE8-99A5-4546-F000-62538D60DED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2418224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CAFE-88EA-C3CA-5268-51CB959800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02BC8C-DCDC-6F3B-EC4D-AD7E7D77A7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F3F378A-43F4-65AF-61DB-1B261A99D1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315D82-7B33-82FC-4CC1-372A7E7A8053}"/>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6" name="Footer Placeholder 5">
            <a:extLst>
              <a:ext uri="{FF2B5EF4-FFF2-40B4-BE49-F238E27FC236}">
                <a16:creationId xmlns:a16="http://schemas.microsoft.com/office/drawing/2014/main" id="{FE298B4F-C700-D100-E550-F1A34A2385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1C4BE6-38EC-0ED9-64CD-D1DBED13BB35}"/>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41740296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2276C-A078-6711-FF3C-E68ACE035B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E0CDEF-7F11-C385-F99C-1D079A46699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133E6-8B7A-63A7-4B43-936C9C063E95}"/>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5" name="Footer Placeholder 4">
            <a:extLst>
              <a:ext uri="{FF2B5EF4-FFF2-40B4-BE49-F238E27FC236}">
                <a16:creationId xmlns:a16="http://schemas.microsoft.com/office/drawing/2014/main" id="{125BFD48-7F8C-2C53-C6E5-51FBBC2B9F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0E807-0A14-F9E7-D3C4-243C242BF739}"/>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195637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852A6E-A9A4-3335-FD57-B09080704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BA70CC-412C-59DD-E5F3-0B5222096D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402B3D-CE4D-9039-CF20-3EA5A25A1B97}"/>
              </a:ext>
            </a:extLst>
          </p:cNvPr>
          <p:cNvSpPr>
            <a:spLocks noGrp="1"/>
          </p:cNvSpPr>
          <p:nvPr>
            <p:ph type="dt" sz="half" idx="10"/>
          </p:nvPr>
        </p:nvSpPr>
        <p:spPr/>
        <p:txBody>
          <a:bodyPr/>
          <a:lstStyle/>
          <a:p>
            <a:fld id="{40272AB9-64A1-45BC-9C9A-78E398D2F99B}" type="datetimeFigureOut">
              <a:rPr lang="en-US" smtClean="0"/>
              <a:t>9/19/2025</a:t>
            </a:fld>
            <a:endParaRPr lang="en-US"/>
          </a:p>
        </p:txBody>
      </p:sp>
      <p:sp>
        <p:nvSpPr>
          <p:cNvPr id="5" name="Footer Placeholder 4">
            <a:extLst>
              <a:ext uri="{FF2B5EF4-FFF2-40B4-BE49-F238E27FC236}">
                <a16:creationId xmlns:a16="http://schemas.microsoft.com/office/drawing/2014/main" id="{FCD8CD87-FDF1-2A7A-1BE7-FA7D6B71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428DFF-8601-30EC-83EF-AD74CA7EE220}"/>
              </a:ext>
            </a:extLst>
          </p:cNvPr>
          <p:cNvSpPr>
            <a:spLocks noGrp="1"/>
          </p:cNvSpPr>
          <p:nvPr>
            <p:ph type="sldNum" sz="quarter" idx="12"/>
          </p:nvPr>
        </p:nvSpPr>
        <p:spPr/>
        <p:txBody>
          <a:bodyPr/>
          <a:lstStyle/>
          <a:p>
            <a:fld id="{CF125542-7130-46B0-9D6D-1892C1FCB086}" type="slidenum">
              <a:rPr lang="en-US" smtClean="0"/>
              <a:t>‹#›</a:t>
            </a:fld>
            <a:endParaRPr lang="en-US"/>
          </a:p>
        </p:txBody>
      </p:sp>
    </p:spTree>
    <p:extLst>
      <p:ext uri="{BB962C8B-B14F-4D97-AF65-F5344CB8AC3E}">
        <p14:creationId xmlns:p14="http://schemas.microsoft.com/office/powerpoint/2010/main" val="12163457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87597A-B7A8-059C-160C-EC7CE2886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2534A4-186E-5F01-1F5B-80DF3841A5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ABDDF5-E321-EF03-3E6D-64F457503C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272AB9-64A1-45BC-9C9A-78E398D2F99B}" type="datetimeFigureOut">
              <a:rPr lang="en-US" smtClean="0"/>
              <a:t>9/19/2025</a:t>
            </a:fld>
            <a:endParaRPr lang="en-US"/>
          </a:p>
        </p:txBody>
      </p:sp>
      <p:sp>
        <p:nvSpPr>
          <p:cNvPr id="5" name="Footer Placeholder 4">
            <a:extLst>
              <a:ext uri="{FF2B5EF4-FFF2-40B4-BE49-F238E27FC236}">
                <a16:creationId xmlns:a16="http://schemas.microsoft.com/office/drawing/2014/main" id="{B231B2B9-24D1-3FFE-9B16-BFA0BAC7B4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E29AEC6-3A77-F298-9C68-54B2F00650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F125542-7130-46B0-9D6D-1892C1FCB086}" type="slidenum">
              <a:rPr lang="en-US" smtClean="0"/>
              <a:t>‹#›</a:t>
            </a:fld>
            <a:endParaRPr lang="en-US"/>
          </a:p>
        </p:txBody>
      </p:sp>
    </p:spTree>
    <p:extLst>
      <p:ext uri="{BB962C8B-B14F-4D97-AF65-F5344CB8AC3E}">
        <p14:creationId xmlns:p14="http://schemas.microsoft.com/office/powerpoint/2010/main" val="19286463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gaia.cs.umass.edu/kurose_ross/interactive/TCP_RTT.php"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datatracker.ietf.org/doc/html/rfc879"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A64E1-5610-7CF5-A8AC-8AACF97CA223}"/>
              </a:ext>
            </a:extLst>
          </p:cNvPr>
          <p:cNvSpPr>
            <a:spLocks noGrp="1"/>
          </p:cNvSpPr>
          <p:nvPr>
            <p:ph type="ctrTitle"/>
          </p:nvPr>
        </p:nvSpPr>
        <p:spPr>
          <a:xfrm>
            <a:off x="536448" y="1122363"/>
            <a:ext cx="11119104" cy="2133599"/>
          </a:xfrm>
        </p:spPr>
        <p:txBody>
          <a:bodyPr/>
          <a:lstStyle/>
          <a:p>
            <a:r>
              <a:rPr lang="en-US" dirty="0"/>
              <a:t>CSC 3511 Security and Networking</a:t>
            </a:r>
          </a:p>
        </p:txBody>
      </p:sp>
      <p:sp>
        <p:nvSpPr>
          <p:cNvPr id="3" name="Subtitle 2">
            <a:extLst>
              <a:ext uri="{FF2B5EF4-FFF2-40B4-BE49-F238E27FC236}">
                <a16:creationId xmlns:a16="http://schemas.microsoft.com/office/drawing/2014/main" id="{3A8E7C23-6E8B-EC33-B311-21148E5DBC8C}"/>
              </a:ext>
            </a:extLst>
          </p:cNvPr>
          <p:cNvSpPr>
            <a:spLocks noGrp="1"/>
          </p:cNvSpPr>
          <p:nvPr>
            <p:ph type="subTitle" idx="1"/>
          </p:nvPr>
        </p:nvSpPr>
        <p:spPr>
          <a:xfrm>
            <a:off x="1524000" y="3602039"/>
            <a:ext cx="9144000" cy="1655762"/>
          </a:xfrm>
        </p:spPr>
        <p:txBody>
          <a:bodyPr/>
          <a:lstStyle/>
          <a:p>
            <a:endParaRPr lang="en-US" dirty="0"/>
          </a:p>
          <a:p>
            <a:endParaRPr lang="en-US" dirty="0"/>
          </a:p>
          <a:p>
            <a:r>
              <a:rPr lang="en-US" dirty="0"/>
              <a:t>Week 4, Lecture 1: Transport Layer and TCP</a:t>
            </a:r>
          </a:p>
        </p:txBody>
      </p:sp>
    </p:spTree>
    <p:extLst>
      <p:ext uri="{BB962C8B-B14F-4D97-AF65-F5344CB8AC3E}">
        <p14:creationId xmlns:p14="http://schemas.microsoft.com/office/powerpoint/2010/main" val="12913817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8C94C-F29F-7C34-C610-B837F7262A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0D748-2A23-EE2C-6530-AE9F0801B4ED}"/>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15C5BD55-897A-7425-690B-91402B905D0F}"/>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Reliable data transmission</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TCP connection setup</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RTT estimation</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Byte notation, segments, sequence numbers &amp; ACK number</a:t>
            </a:r>
          </a:p>
          <a:p>
            <a:pPr marL="117475" indent="0">
              <a:spcBef>
                <a:spcPts val="800"/>
              </a:spcBef>
              <a:spcAft>
                <a:spcPts val="600"/>
              </a:spcAft>
              <a:buClr>
                <a:schemeClr val="bg1">
                  <a:lumMod val="85000"/>
                </a:schemeClr>
              </a:buClr>
              <a:buNone/>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68178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72;p26">
            <a:extLst>
              <a:ext uri="{FF2B5EF4-FFF2-40B4-BE49-F238E27FC236}">
                <a16:creationId xmlns:a16="http://schemas.microsoft.com/office/drawing/2014/main" id="{DFF9FB08-C0A6-5F94-488B-6254B6954A8B}"/>
              </a:ext>
            </a:extLst>
          </p:cNvPr>
          <p:cNvSpPr txBox="1">
            <a:spLocks/>
          </p:cNvSpPr>
          <p:nvPr/>
        </p:nvSpPr>
        <p:spPr>
          <a:xfrm>
            <a:off x="156200" y="1152395"/>
            <a:ext cx="11879600" cy="5567820"/>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Font typeface="Arial" panose="020B0604020202020204" pitchFamily="34" charset="0"/>
              <a:buNone/>
            </a:pPr>
            <a:r>
              <a:rPr lang="en-US" sz="2400" b="1" dirty="0"/>
              <a:t>Layer 3 (Network/IP) </a:t>
            </a:r>
            <a:r>
              <a:rPr lang="en-US" sz="2400" dirty="0"/>
              <a:t>gave us the ability to send packets anywhere on the Internet</a:t>
            </a:r>
          </a:p>
          <a:p>
            <a:pPr>
              <a:spcAft>
                <a:spcPts val="600"/>
              </a:spcAft>
            </a:pPr>
            <a:r>
              <a:rPr lang="en-US" sz="2400" dirty="0"/>
              <a:t>Abstraction level: Packets individually sent through the network</a:t>
            </a:r>
          </a:p>
          <a:p>
            <a:pPr>
              <a:spcBef>
                <a:spcPts val="0"/>
              </a:spcBef>
              <a:spcAft>
                <a:spcPts val="600"/>
              </a:spcAft>
            </a:pPr>
            <a:r>
              <a:rPr lang="en-US" sz="2400" dirty="0"/>
              <a:t>Problem: IP offers best-effort delivery</a:t>
            </a:r>
          </a:p>
          <a:p>
            <a:pPr lvl="1">
              <a:spcBef>
                <a:spcPts val="0"/>
              </a:spcBef>
              <a:spcAft>
                <a:spcPts val="600"/>
              </a:spcAft>
            </a:pPr>
            <a:r>
              <a:rPr lang="en-US" dirty="0"/>
              <a:t>Packets can be </a:t>
            </a:r>
            <a:r>
              <a:rPr lang="en-US" i="1" dirty="0"/>
              <a:t>lost</a:t>
            </a:r>
            <a:r>
              <a:rPr lang="en-US" dirty="0"/>
              <a:t>, </a:t>
            </a:r>
            <a:r>
              <a:rPr lang="en-US" i="1" dirty="0"/>
              <a:t>corrupted</a:t>
            </a:r>
            <a:r>
              <a:rPr lang="en-US" dirty="0"/>
              <a:t>, </a:t>
            </a:r>
            <a:r>
              <a:rPr lang="en-US" i="1" dirty="0"/>
              <a:t>reordered</a:t>
            </a:r>
            <a:r>
              <a:rPr lang="en-US" dirty="0"/>
              <a:t>, </a:t>
            </a:r>
            <a:r>
              <a:rPr lang="en-US" i="1" dirty="0"/>
              <a:t>delayed</a:t>
            </a:r>
            <a:r>
              <a:rPr lang="en-US" dirty="0"/>
              <a:t>, or </a:t>
            </a:r>
            <a:r>
              <a:rPr lang="en-US" i="1" dirty="0"/>
              <a:t>duplicated</a:t>
            </a:r>
            <a:endParaRPr lang="en-US" dirty="0"/>
          </a:p>
          <a:p>
            <a:pPr>
              <a:spcBef>
                <a:spcPts val="0"/>
              </a:spcBef>
              <a:spcAft>
                <a:spcPts val="600"/>
              </a:spcAft>
            </a:pPr>
            <a:r>
              <a:rPr lang="en-US" sz="2400" dirty="0"/>
              <a:t>Problem: Applications don't want to think about packets and best-effort</a:t>
            </a:r>
          </a:p>
          <a:p>
            <a:pPr lvl="1">
              <a:spcBef>
                <a:spcPts val="0"/>
              </a:spcBef>
              <a:spcAft>
                <a:spcPts val="600"/>
              </a:spcAft>
            </a:pPr>
            <a:r>
              <a:rPr lang="en-US" dirty="0"/>
              <a:t>Programmers want to think in terms of a more convenient abstraction</a:t>
            </a:r>
          </a:p>
          <a:p>
            <a:pPr marL="0" indent="0">
              <a:spcAft>
                <a:spcPts val="600"/>
              </a:spcAft>
              <a:buFont typeface="Arial" panose="020B0604020202020204" pitchFamily="34" charset="0"/>
              <a:buNone/>
            </a:pPr>
            <a:r>
              <a:rPr lang="en-US" sz="2400" b="1" dirty="0"/>
              <a:t>Layer 4 (Transport) </a:t>
            </a:r>
            <a:r>
              <a:rPr lang="en-US" sz="2400" dirty="0"/>
              <a:t>builds extra features on top of Layer 3</a:t>
            </a:r>
          </a:p>
          <a:p>
            <a:pPr>
              <a:spcBef>
                <a:spcPts val="0"/>
              </a:spcBef>
              <a:spcAft>
                <a:spcPts val="600"/>
              </a:spcAft>
            </a:pPr>
            <a:r>
              <a:rPr lang="en-US" sz="2400" b="1" dirty="0"/>
              <a:t>UDP</a:t>
            </a:r>
            <a:r>
              <a:rPr lang="en-US" sz="2400" dirty="0"/>
              <a:t> (User Datagram Protocol): Adds </a:t>
            </a:r>
            <a:r>
              <a:rPr lang="en-US" sz="2400" i="1" dirty="0"/>
              <a:t>de-multiplexing</a:t>
            </a:r>
            <a:r>
              <a:rPr lang="en-US" sz="2400" dirty="0"/>
              <a:t> only</a:t>
            </a:r>
          </a:p>
          <a:p>
            <a:pPr>
              <a:spcBef>
                <a:spcPts val="0"/>
              </a:spcBef>
              <a:spcAft>
                <a:spcPts val="600"/>
              </a:spcAft>
            </a:pPr>
            <a:r>
              <a:rPr lang="en-US" sz="2400" b="1" dirty="0">
                <a:solidFill>
                  <a:srgbClr val="C00000"/>
                </a:solidFill>
              </a:rPr>
              <a:t>TCP</a:t>
            </a:r>
            <a:r>
              <a:rPr lang="en-US" sz="2400" dirty="0"/>
              <a:t> (Transmission Control Protocol): Adds </a:t>
            </a:r>
            <a:r>
              <a:rPr lang="en-US" sz="2400" i="1" dirty="0"/>
              <a:t>de-multiplexing</a:t>
            </a:r>
            <a:r>
              <a:rPr lang="en-US" sz="2400" dirty="0"/>
              <a:t> and </a:t>
            </a:r>
            <a:r>
              <a:rPr lang="en-US" sz="2400" b="1" i="1" dirty="0">
                <a:solidFill>
                  <a:srgbClr val="C00000"/>
                </a:solidFill>
              </a:rPr>
              <a:t>reliability</a:t>
            </a:r>
            <a:endParaRPr lang="en-US" sz="2400" b="1" dirty="0">
              <a:solidFill>
                <a:srgbClr val="C00000"/>
              </a:solidFill>
            </a:endParaRPr>
          </a:p>
          <a:p>
            <a:pPr>
              <a:spcBef>
                <a:spcPts val="0"/>
              </a:spcBef>
              <a:spcAft>
                <a:spcPts val="600"/>
              </a:spcAft>
            </a:pPr>
            <a:r>
              <a:rPr lang="en-US" sz="2400" dirty="0"/>
              <a:t>Both protocols provide a more useful abstraction to programmers</a:t>
            </a:r>
          </a:p>
          <a:p>
            <a:pPr marL="0" indent="0">
              <a:spcAft>
                <a:spcPts val="600"/>
              </a:spcAft>
              <a:buFont typeface="Arial" panose="020B0604020202020204" pitchFamily="34" charset="0"/>
              <a:buNone/>
            </a:pPr>
            <a:r>
              <a:rPr lang="en-US" sz="2400" dirty="0"/>
              <a:t>Let's check out each of these features</a:t>
            </a:r>
          </a:p>
        </p:txBody>
      </p:sp>
      <p:sp>
        <p:nvSpPr>
          <p:cNvPr id="3" name="Google Shape;173;p26">
            <a:extLst>
              <a:ext uri="{FF2B5EF4-FFF2-40B4-BE49-F238E27FC236}">
                <a16:creationId xmlns:a16="http://schemas.microsoft.com/office/drawing/2014/main" id="{79BD68DA-6E03-36D6-6280-6295B03F3ED6}"/>
              </a:ext>
            </a:extLst>
          </p:cNvPr>
          <p:cNvSpPr txBox="1">
            <a:spLocks/>
          </p:cNvSpPr>
          <p:nvPr/>
        </p:nvSpPr>
        <p:spPr>
          <a:xfrm>
            <a:off x="415600" y="137785"/>
            <a:ext cx="11360800" cy="1189973"/>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Transport Layer Protocols</a:t>
            </a:r>
          </a:p>
        </p:txBody>
      </p:sp>
    </p:spTree>
    <p:extLst>
      <p:ext uri="{BB962C8B-B14F-4D97-AF65-F5344CB8AC3E}">
        <p14:creationId xmlns:p14="http://schemas.microsoft.com/office/powerpoint/2010/main" val="28986329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7;p39">
            <a:extLst>
              <a:ext uri="{FF2B5EF4-FFF2-40B4-BE49-F238E27FC236}">
                <a16:creationId xmlns:a16="http://schemas.microsoft.com/office/drawing/2014/main" id="{FFD1C388-89E6-2694-2347-FE728E5880A6}"/>
              </a:ext>
            </a:extLst>
          </p:cNvPr>
          <p:cNvSpPr txBox="1">
            <a:spLocks/>
          </p:cNvSpPr>
          <p:nvPr/>
        </p:nvSpPr>
        <p:spPr>
          <a:xfrm>
            <a:off x="5225196" y="995816"/>
            <a:ext cx="6799921" cy="5862184"/>
          </a:xfrm>
          <a:prstGeom prst="rect">
            <a:avLst/>
          </a:prstGeom>
        </p:spPr>
        <p:txBody>
          <a:bodyPr spcFirstLastPara="1" vert="horz" wrap="square" lIns="121900" tIns="121900" rIns="121900" bIns="1219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600"/>
              </a:spcAft>
              <a:buFont typeface="Arial" panose="020B0604020202020204" pitchFamily="34" charset="0"/>
              <a:buNone/>
            </a:pPr>
            <a:r>
              <a:rPr lang="en-US" sz="2400" dirty="0"/>
              <a:t>3 different levels of reliability:</a:t>
            </a:r>
          </a:p>
          <a:p>
            <a:pPr>
              <a:spcAft>
                <a:spcPts val="600"/>
              </a:spcAft>
            </a:pPr>
            <a:r>
              <a:rPr lang="en-US" sz="2400" dirty="0"/>
              <a:t>Best-effort delivery</a:t>
            </a:r>
          </a:p>
          <a:p>
            <a:pPr>
              <a:spcBef>
                <a:spcPts val="0"/>
              </a:spcBef>
              <a:spcAft>
                <a:spcPts val="600"/>
              </a:spcAft>
            </a:pPr>
            <a:r>
              <a:rPr lang="en-US" sz="2400" i="1" dirty="0"/>
              <a:t>At-least-once</a:t>
            </a:r>
            <a:r>
              <a:rPr lang="en-US" sz="2400" dirty="0"/>
              <a:t> delivery: Every packet arrives, but some might arrive more than once (duplicates)</a:t>
            </a:r>
          </a:p>
          <a:p>
            <a:pPr>
              <a:spcBef>
                <a:spcPts val="0"/>
              </a:spcBef>
              <a:spcAft>
                <a:spcPts val="600"/>
              </a:spcAft>
            </a:pPr>
            <a:r>
              <a:rPr lang="en-US" sz="2400" i="1" dirty="0"/>
              <a:t>Exactly-once</a:t>
            </a:r>
            <a:r>
              <a:rPr lang="en-US" sz="2400" dirty="0"/>
              <a:t> delivery: Every packet arrives exactly once</a:t>
            </a:r>
          </a:p>
          <a:p>
            <a:pPr marL="0" indent="0">
              <a:spcAft>
                <a:spcPts val="600"/>
              </a:spcAft>
              <a:buFont typeface="Arial" panose="020B0604020202020204" pitchFamily="34" charset="0"/>
              <a:buNone/>
            </a:pPr>
            <a:endParaRPr lang="en-US" sz="2400" dirty="0"/>
          </a:p>
          <a:p>
            <a:pPr marL="0" indent="0">
              <a:spcAft>
                <a:spcPts val="600"/>
              </a:spcAft>
              <a:buFont typeface="Arial" panose="020B0604020202020204" pitchFamily="34" charset="0"/>
              <a:buNone/>
            </a:pPr>
            <a:r>
              <a:rPr lang="en-US" sz="2400" dirty="0"/>
              <a:t>Our plan for bridging the abstraction gap:</a:t>
            </a:r>
          </a:p>
          <a:p>
            <a:pPr>
              <a:spcAft>
                <a:spcPts val="600"/>
              </a:spcAft>
            </a:pPr>
            <a:r>
              <a:rPr lang="en-US" sz="2400" dirty="0"/>
              <a:t>At transport layer: Use IP (best-effort delivery) to build </a:t>
            </a:r>
            <a:r>
              <a:rPr lang="en-US" sz="2400" b="1" i="1" dirty="0">
                <a:solidFill>
                  <a:srgbClr val="C00000"/>
                </a:solidFill>
              </a:rPr>
              <a:t>at-least-once</a:t>
            </a:r>
            <a:r>
              <a:rPr lang="en-US" sz="2400" dirty="0"/>
              <a:t> delivery</a:t>
            </a:r>
          </a:p>
          <a:p>
            <a:pPr>
              <a:spcBef>
                <a:spcPts val="0"/>
              </a:spcBef>
              <a:spcAft>
                <a:spcPts val="600"/>
              </a:spcAft>
            </a:pPr>
            <a:r>
              <a:rPr lang="en-US" sz="2400" dirty="0"/>
              <a:t>Then, get rid of duplicates and pass the result to the application</a:t>
            </a:r>
            <a:br>
              <a:rPr lang="en-US" sz="2400" dirty="0"/>
            </a:br>
            <a:r>
              <a:rPr lang="en-US" sz="2400" dirty="0"/>
              <a:t>This gives the application </a:t>
            </a:r>
            <a:r>
              <a:rPr lang="en-US" sz="2400" b="1" i="1" dirty="0">
                <a:solidFill>
                  <a:srgbClr val="C00000"/>
                </a:solidFill>
              </a:rPr>
              <a:t>exactly-once</a:t>
            </a:r>
            <a:r>
              <a:rPr lang="en-US" sz="2400" b="1" dirty="0">
                <a:solidFill>
                  <a:srgbClr val="C00000"/>
                </a:solidFill>
              </a:rPr>
              <a:t> delivery</a:t>
            </a:r>
          </a:p>
        </p:txBody>
      </p:sp>
      <p:sp>
        <p:nvSpPr>
          <p:cNvPr id="3" name="Google Shape;406;p39">
            <a:extLst>
              <a:ext uri="{FF2B5EF4-FFF2-40B4-BE49-F238E27FC236}">
                <a16:creationId xmlns:a16="http://schemas.microsoft.com/office/drawing/2014/main" id="{E5F8F57F-696E-45EC-C5B3-5951046A5A7A}"/>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Defining Reliability</a:t>
            </a:r>
          </a:p>
        </p:txBody>
      </p:sp>
      <p:sp>
        <p:nvSpPr>
          <p:cNvPr id="5" name="TextBox 4">
            <a:extLst>
              <a:ext uri="{FF2B5EF4-FFF2-40B4-BE49-F238E27FC236}">
                <a16:creationId xmlns:a16="http://schemas.microsoft.com/office/drawing/2014/main" id="{8A82D574-1647-221C-479C-EF4878C18785}"/>
              </a:ext>
            </a:extLst>
          </p:cNvPr>
          <p:cNvSpPr txBox="1"/>
          <p:nvPr/>
        </p:nvSpPr>
        <p:spPr>
          <a:xfrm>
            <a:off x="177553" y="2209287"/>
            <a:ext cx="5041725" cy="3062377"/>
          </a:xfrm>
          <a:prstGeom prst="rect">
            <a:avLst/>
          </a:prstGeom>
          <a:noFill/>
        </p:spPr>
        <p:txBody>
          <a:bodyPr wrap="square">
            <a:spAutoFit/>
          </a:bodyPr>
          <a:lstStyle/>
          <a:p>
            <a:pPr marL="0" indent="0">
              <a:spcAft>
                <a:spcPts val="600"/>
              </a:spcAft>
              <a:buNone/>
            </a:pPr>
            <a:r>
              <a:rPr lang="en-US" sz="2400" dirty="0"/>
              <a:t>We have to deal with </a:t>
            </a:r>
            <a:r>
              <a:rPr lang="en-US" sz="2400" dirty="0">
                <a:solidFill>
                  <a:srgbClr val="C00000"/>
                </a:solidFill>
              </a:rPr>
              <a:t>5 problems </a:t>
            </a:r>
            <a:r>
              <a:rPr lang="en-US" sz="2400" dirty="0"/>
              <a:t>from the best-effort service model:</a:t>
            </a:r>
          </a:p>
          <a:p>
            <a:pPr marL="457200" indent="-457200">
              <a:spcAft>
                <a:spcPts val="600"/>
              </a:spcAft>
              <a:buFont typeface="+mj-lt"/>
              <a:buAutoNum type="arabicPeriod"/>
            </a:pPr>
            <a:r>
              <a:rPr lang="en-US" sz="2400" dirty="0"/>
              <a:t>Packets can be dropped</a:t>
            </a:r>
          </a:p>
          <a:p>
            <a:pPr marL="457200" indent="-457200">
              <a:spcAft>
                <a:spcPts val="600"/>
              </a:spcAft>
              <a:buFont typeface="+mj-lt"/>
              <a:buAutoNum type="arabicPeriod"/>
            </a:pPr>
            <a:r>
              <a:rPr lang="en-US" sz="2400" dirty="0"/>
              <a:t>Packets can be corrupted</a:t>
            </a:r>
          </a:p>
          <a:p>
            <a:pPr marL="457200" indent="-457200">
              <a:spcAft>
                <a:spcPts val="600"/>
              </a:spcAft>
              <a:buFont typeface="+mj-lt"/>
              <a:buAutoNum type="arabicPeriod"/>
            </a:pPr>
            <a:r>
              <a:rPr lang="en-US" sz="2400" dirty="0"/>
              <a:t>Packets can be delayed</a:t>
            </a:r>
          </a:p>
          <a:p>
            <a:pPr marL="457200" indent="-457200">
              <a:spcAft>
                <a:spcPts val="600"/>
              </a:spcAft>
              <a:buFont typeface="+mj-lt"/>
              <a:buAutoNum type="arabicPeriod"/>
            </a:pPr>
            <a:r>
              <a:rPr lang="en-US" sz="2400" dirty="0"/>
              <a:t>Packets can be duplicated</a:t>
            </a:r>
          </a:p>
          <a:p>
            <a:pPr marL="457200" indent="-457200">
              <a:spcAft>
                <a:spcPts val="600"/>
              </a:spcAft>
              <a:buFont typeface="+mj-lt"/>
              <a:buAutoNum type="arabicPeriod"/>
            </a:pPr>
            <a:r>
              <a:rPr lang="en-US" sz="2400" dirty="0"/>
              <a:t>Packets can be reordered</a:t>
            </a:r>
          </a:p>
        </p:txBody>
      </p:sp>
    </p:spTree>
    <p:extLst>
      <p:ext uri="{BB962C8B-B14F-4D97-AF65-F5344CB8AC3E}">
        <p14:creationId xmlns:p14="http://schemas.microsoft.com/office/powerpoint/2010/main" val="752082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6;p39">
            <a:extLst>
              <a:ext uri="{FF2B5EF4-FFF2-40B4-BE49-F238E27FC236}">
                <a16:creationId xmlns:a16="http://schemas.microsoft.com/office/drawing/2014/main" id="{F163D2A7-487E-6C6D-8155-1C0B80B249BD}"/>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Designing Reliability for a Single Packet </a:t>
            </a:r>
          </a:p>
        </p:txBody>
      </p:sp>
      <p:sp>
        <p:nvSpPr>
          <p:cNvPr id="4" name="TextBox 3">
            <a:extLst>
              <a:ext uri="{FF2B5EF4-FFF2-40B4-BE49-F238E27FC236}">
                <a16:creationId xmlns:a16="http://schemas.microsoft.com/office/drawing/2014/main" id="{638C6B0E-A323-D489-B6A0-58414D67CDE3}"/>
              </a:ext>
            </a:extLst>
          </p:cNvPr>
          <p:cNvSpPr txBox="1"/>
          <p:nvPr/>
        </p:nvSpPr>
        <p:spPr>
          <a:xfrm>
            <a:off x="167535" y="1676199"/>
            <a:ext cx="6060356" cy="4170372"/>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1 </a:t>
            </a:r>
            <a:r>
              <a:rPr lang="en-US" sz="2400" dirty="0"/>
              <a:t>-  Packets can be dropped: </a:t>
            </a:r>
          </a:p>
          <a:p>
            <a:pPr marL="742950" lvl="1" indent="-285750">
              <a:spcAft>
                <a:spcPts val="600"/>
              </a:spcAft>
              <a:buFont typeface="Arial" panose="020B0604020202020204" pitchFamily="34" charset="0"/>
              <a:buChar char="•"/>
            </a:pPr>
            <a:r>
              <a:rPr lang="en-US" sz="2400" dirty="0"/>
              <a:t>The packet is sent. How does the sender know if it was received successfully?</a:t>
            </a:r>
          </a:p>
          <a:p>
            <a:pPr marL="285750" indent="-285750">
              <a:spcAft>
                <a:spcPts val="600"/>
              </a:spcAft>
              <a:buFont typeface="Arial" panose="020B0604020202020204" pitchFamily="34" charset="0"/>
              <a:buChar char="•"/>
            </a:pPr>
            <a:r>
              <a:rPr lang="en-US" sz="2400" b="1" dirty="0">
                <a:solidFill>
                  <a:srgbClr val="C00000"/>
                </a:solidFill>
              </a:rPr>
              <a:t>Solution</a:t>
            </a:r>
            <a:r>
              <a:rPr lang="en-US" sz="2400" dirty="0"/>
              <a:t>: The recipient replies with an acknowledgment (</a:t>
            </a:r>
            <a:r>
              <a:rPr lang="en-US" sz="2400" dirty="0">
                <a:solidFill>
                  <a:srgbClr val="C00000"/>
                </a:solidFill>
              </a:rPr>
              <a:t>ack</a:t>
            </a:r>
            <a:r>
              <a:rPr lang="en-US" sz="2400" dirty="0"/>
              <a:t>)</a:t>
            </a:r>
          </a:p>
          <a:p>
            <a:pPr marL="742950" lvl="1" indent="-285750">
              <a:spcAft>
                <a:spcPts val="600"/>
              </a:spcAft>
              <a:buFont typeface="Arial" panose="020B0604020202020204" pitchFamily="34" charset="0"/>
              <a:buChar char="•"/>
            </a:pPr>
            <a:r>
              <a:rPr lang="en-US" sz="2400" dirty="0"/>
              <a:t>Set a timer when we send the packet</a:t>
            </a:r>
          </a:p>
          <a:p>
            <a:pPr marL="742950" lvl="1" indent="-285750">
              <a:spcAft>
                <a:spcPts val="600"/>
              </a:spcAft>
              <a:buFont typeface="Arial" panose="020B0604020202020204" pitchFamily="34" charset="0"/>
              <a:buChar char="•"/>
            </a:pPr>
            <a:r>
              <a:rPr lang="en-US" sz="2400" dirty="0"/>
              <a:t>If the timer expires and we don’t get the ack, resend the packet</a:t>
            </a:r>
          </a:p>
          <a:p>
            <a:pPr marL="742950" lvl="1" indent="-285750">
              <a:spcAft>
                <a:spcPts val="600"/>
              </a:spcAft>
              <a:buFont typeface="Arial" panose="020B0604020202020204" pitchFamily="34" charset="0"/>
              <a:buChar char="•"/>
            </a:pPr>
            <a:r>
              <a:rPr lang="en-US" sz="2400" dirty="0"/>
              <a:t>When we get the ack, cancel the timer</a:t>
            </a:r>
          </a:p>
        </p:txBody>
      </p:sp>
      <p:grpSp>
        <p:nvGrpSpPr>
          <p:cNvPr id="26" name="Group 25">
            <a:extLst>
              <a:ext uri="{FF2B5EF4-FFF2-40B4-BE49-F238E27FC236}">
                <a16:creationId xmlns:a16="http://schemas.microsoft.com/office/drawing/2014/main" id="{FCB2C627-792D-450C-D19A-4C2ECBF08127}"/>
              </a:ext>
            </a:extLst>
          </p:cNvPr>
          <p:cNvGrpSpPr/>
          <p:nvPr/>
        </p:nvGrpSpPr>
        <p:grpSpPr>
          <a:xfrm>
            <a:off x="6375506" y="2212699"/>
            <a:ext cx="5400894" cy="3214300"/>
            <a:chOff x="6375506" y="2212699"/>
            <a:chExt cx="5400894" cy="3214300"/>
          </a:xfrm>
        </p:grpSpPr>
        <p:grpSp>
          <p:nvGrpSpPr>
            <p:cNvPr id="5" name="Google Shape;461;p44">
              <a:extLst>
                <a:ext uri="{FF2B5EF4-FFF2-40B4-BE49-F238E27FC236}">
                  <a16:creationId xmlns:a16="http://schemas.microsoft.com/office/drawing/2014/main" id="{E59A2892-CD86-2BE5-8E03-FB70843E6944}"/>
                </a:ext>
              </a:extLst>
            </p:cNvPr>
            <p:cNvGrpSpPr/>
            <p:nvPr/>
          </p:nvGrpSpPr>
          <p:grpSpPr>
            <a:xfrm>
              <a:off x="8156941" y="4036275"/>
              <a:ext cx="3015000" cy="530546"/>
              <a:chOff x="3039475" y="2514600"/>
              <a:chExt cx="3015000" cy="530546"/>
            </a:xfrm>
          </p:grpSpPr>
          <p:cxnSp>
            <p:nvCxnSpPr>
              <p:cNvPr id="6" name="Google Shape;462;p44">
                <a:extLst>
                  <a:ext uri="{FF2B5EF4-FFF2-40B4-BE49-F238E27FC236}">
                    <a16:creationId xmlns:a16="http://schemas.microsoft.com/office/drawing/2014/main" id="{0FF4F6B7-39E8-8FE6-BC8F-9B1A2742B693}"/>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7" name="Google Shape;463;p44">
                <a:extLst>
                  <a:ext uri="{FF2B5EF4-FFF2-40B4-BE49-F238E27FC236}">
                    <a16:creationId xmlns:a16="http://schemas.microsoft.com/office/drawing/2014/main" id="{B6B2B9F6-E637-8289-93D7-C7D04B8E5A9D}"/>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8" name="Google Shape;466;p44">
              <a:extLst>
                <a:ext uri="{FF2B5EF4-FFF2-40B4-BE49-F238E27FC236}">
                  <a16:creationId xmlns:a16="http://schemas.microsoft.com/office/drawing/2014/main" id="{5E6A979E-81C6-A2EE-F09E-4B3EF51F0627}"/>
                </a:ext>
              </a:extLst>
            </p:cNvPr>
            <p:cNvCxnSpPr/>
            <p:nvPr/>
          </p:nvCxnSpPr>
          <p:spPr>
            <a:xfrm>
              <a:off x="8156966" y="2401949"/>
              <a:ext cx="1440000" cy="226500"/>
            </a:xfrm>
            <a:prstGeom prst="straightConnector1">
              <a:avLst/>
            </a:prstGeom>
            <a:noFill/>
            <a:ln w="19050" cap="flat" cmpd="sng">
              <a:solidFill>
                <a:srgbClr val="000000"/>
              </a:solidFill>
              <a:prstDash val="solid"/>
              <a:round/>
              <a:headEnd type="none" w="med" len="med"/>
              <a:tailEnd type="triangle" w="med" len="med"/>
            </a:ln>
          </p:spPr>
        </p:cxnSp>
        <p:cxnSp>
          <p:nvCxnSpPr>
            <p:cNvPr id="9" name="Google Shape;467;p44">
              <a:extLst>
                <a:ext uri="{FF2B5EF4-FFF2-40B4-BE49-F238E27FC236}">
                  <a16:creationId xmlns:a16="http://schemas.microsoft.com/office/drawing/2014/main" id="{0735D5F8-D5B9-3A45-11D4-2D4145A722E2}"/>
                </a:ext>
              </a:extLst>
            </p:cNvPr>
            <p:cNvCxnSpPr/>
            <p:nvPr/>
          </p:nvCxnSpPr>
          <p:spPr>
            <a:xfrm>
              <a:off x="8154991" y="2212699"/>
              <a:ext cx="0" cy="2943300"/>
            </a:xfrm>
            <a:prstGeom prst="straightConnector1">
              <a:avLst/>
            </a:prstGeom>
            <a:noFill/>
            <a:ln w="19050" cap="flat" cmpd="sng">
              <a:solidFill>
                <a:schemeClr val="dk2"/>
              </a:solidFill>
              <a:prstDash val="solid"/>
              <a:round/>
              <a:headEnd type="none" w="med" len="med"/>
              <a:tailEnd type="none" w="med" len="med"/>
            </a:ln>
          </p:spPr>
        </p:cxnSp>
        <p:sp>
          <p:nvSpPr>
            <p:cNvPr id="10" name="Google Shape;468;p44">
              <a:extLst>
                <a:ext uri="{FF2B5EF4-FFF2-40B4-BE49-F238E27FC236}">
                  <a16:creationId xmlns:a16="http://schemas.microsoft.com/office/drawing/2014/main" id="{F79C77D6-B941-91F1-FFBB-D97E63DC5D4A}"/>
                </a:ext>
              </a:extLst>
            </p:cNvPr>
            <p:cNvSpPr txBox="1"/>
            <p:nvPr/>
          </p:nvSpPr>
          <p:spPr>
            <a:xfrm>
              <a:off x="7602541" y="5156099"/>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cxnSp>
          <p:nvCxnSpPr>
            <p:cNvPr id="11" name="Google Shape;469;p44">
              <a:extLst>
                <a:ext uri="{FF2B5EF4-FFF2-40B4-BE49-F238E27FC236}">
                  <a16:creationId xmlns:a16="http://schemas.microsoft.com/office/drawing/2014/main" id="{CCB80E0B-F9AF-25C1-3F70-B11999CA45FB}"/>
                </a:ext>
              </a:extLst>
            </p:cNvPr>
            <p:cNvCxnSpPr/>
            <p:nvPr/>
          </p:nvCxnSpPr>
          <p:spPr>
            <a:xfrm>
              <a:off x="11176391" y="2212699"/>
              <a:ext cx="0" cy="2943300"/>
            </a:xfrm>
            <a:prstGeom prst="straightConnector1">
              <a:avLst/>
            </a:prstGeom>
            <a:noFill/>
            <a:ln w="19050" cap="flat" cmpd="sng">
              <a:solidFill>
                <a:schemeClr val="dk2"/>
              </a:solidFill>
              <a:prstDash val="solid"/>
              <a:round/>
              <a:headEnd type="none" w="med" len="med"/>
              <a:tailEnd type="none" w="med" len="med"/>
            </a:ln>
          </p:spPr>
        </p:cxnSp>
        <p:sp>
          <p:nvSpPr>
            <p:cNvPr id="12" name="Google Shape;470;p44">
              <a:extLst>
                <a:ext uri="{FF2B5EF4-FFF2-40B4-BE49-F238E27FC236}">
                  <a16:creationId xmlns:a16="http://schemas.microsoft.com/office/drawing/2014/main" id="{D0807B1D-075C-8384-AF66-F303B488C4A7}"/>
                </a:ext>
              </a:extLst>
            </p:cNvPr>
            <p:cNvSpPr txBox="1"/>
            <p:nvPr/>
          </p:nvSpPr>
          <p:spPr>
            <a:xfrm>
              <a:off x="10576400" y="5156099"/>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3" name="Google Shape;471;p44">
              <a:extLst>
                <a:ext uri="{FF2B5EF4-FFF2-40B4-BE49-F238E27FC236}">
                  <a16:creationId xmlns:a16="http://schemas.microsoft.com/office/drawing/2014/main" id="{1CEFE190-B8E7-DDD6-2E74-2F321C9E57ED}"/>
                </a:ext>
              </a:extLst>
            </p:cNvPr>
            <p:cNvSpPr txBox="1"/>
            <p:nvPr/>
          </p:nvSpPr>
          <p:spPr>
            <a:xfrm>
              <a:off x="6911641" y="2262175"/>
              <a:ext cx="9282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rgbClr val="6AA84F"/>
                  </a:solidFill>
                  <a:latin typeface="Roboto"/>
                  <a:ea typeface="Roboto"/>
                  <a:cs typeface="Roboto"/>
                  <a:sym typeface="Roboto"/>
                </a:rPr>
                <a:t>Start timer</a:t>
              </a:r>
              <a:endParaRPr dirty="0">
                <a:solidFill>
                  <a:srgbClr val="6AA84F"/>
                </a:solidFill>
                <a:latin typeface="Roboto"/>
                <a:ea typeface="Roboto"/>
                <a:cs typeface="Roboto"/>
                <a:sym typeface="Roboto"/>
              </a:endParaRPr>
            </a:p>
          </p:txBody>
        </p:sp>
        <p:sp>
          <p:nvSpPr>
            <p:cNvPr id="14" name="Google Shape;472;p44">
              <a:extLst>
                <a:ext uri="{FF2B5EF4-FFF2-40B4-BE49-F238E27FC236}">
                  <a16:creationId xmlns:a16="http://schemas.microsoft.com/office/drawing/2014/main" id="{83772CF5-B4A8-4BFF-9BD6-392F3995B340}"/>
                </a:ext>
              </a:extLst>
            </p:cNvPr>
            <p:cNvSpPr txBox="1"/>
            <p:nvPr/>
          </p:nvSpPr>
          <p:spPr>
            <a:xfrm>
              <a:off x="6375506" y="3429000"/>
              <a:ext cx="1464335"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Timeout!</a:t>
              </a:r>
              <a:endParaRPr dirty="0">
                <a:solidFill>
                  <a:schemeClr val="accent2"/>
                </a:solidFill>
                <a:latin typeface="Roboto"/>
                <a:ea typeface="Roboto"/>
                <a:cs typeface="Roboto"/>
                <a:sym typeface="Roboto"/>
              </a:endParaRPr>
            </a:p>
          </p:txBody>
        </p:sp>
        <p:sp>
          <p:nvSpPr>
            <p:cNvPr id="15" name="Google Shape;473;p44">
              <a:extLst>
                <a:ext uri="{FF2B5EF4-FFF2-40B4-BE49-F238E27FC236}">
                  <a16:creationId xmlns:a16="http://schemas.microsoft.com/office/drawing/2014/main" id="{C1549620-8245-F5A8-85E8-421AB52EB06E}"/>
                </a:ext>
              </a:extLst>
            </p:cNvPr>
            <p:cNvSpPr txBox="1"/>
            <p:nvPr/>
          </p:nvSpPr>
          <p:spPr>
            <a:xfrm>
              <a:off x="6457752" y="3657599"/>
              <a:ext cx="1381939"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5"/>
                  </a:solidFill>
                  <a:latin typeface="Roboto"/>
                  <a:ea typeface="Roboto"/>
                  <a:cs typeface="Roboto"/>
                  <a:sym typeface="Roboto"/>
                </a:rPr>
                <a:t>Restart timer</a:t>
              </a:r>
              <a:endParaRPr dirty="0">
                <a:solidFill>
                  <a:schemeClr val="accent5"/>
                </a:solidFill>
                <a:latin typeface="Roboto"/>
                <a:ea typeface="Roboto"/>
                <a:cs typeface="Roboto"/>
                <a:sym typeface="Roboto"/>
              </a:endParaRPr>
            </a:p>
          </p:txBody>
        </p:sp>
        <p:cxnSp>
          <p:nvCxnSpPr>
            <p:cNvPr id="16" name="Google Shape;474;p44">
              <a:extLst>
                <a:ext uri="{FF2B5EF4-FFF2-40B4-BE49-F238E27FC236}">
                  <a16:creationId xmlns:a16="http://schemas.microsoft.com/office/drawing/2014/main" id="{CC4191CA-F027-58DD-F426-94E7B3AF2CA3}"/>
                </a:ext>
              </a:extLst>
            </p:cNvPr>
            <p:cNvCxnSpPr/>
            <p:nvPr/>
          </p:nvCxnSpPr>
          <p:spPr>
            <a:xfrm>
              <a:off x="8156966" y="3563999"/>
              <a:ext cx="3007800" cy="441900"/>
            </a:xfrm>
            <a:prstGeom prst="straightConnector1">
              <a:avLst/>
            </a:prstGeom>
            <a:noFill/>
            <a:ln w="19050" cap="flat" cmpd="sng">
              <a:solidFill>
                <a:srgbClr val="000000"/>
              </a:solidFill>
              <a:prstDash val="solid"/>
              <a:round/>
              <a:headEnd type="none" w="med" len="med"/>
              <a:tailEnd type="triangle" w="med" len="med"/>
            </a:ln>
          </p:spPr>
        </p:cxnSp>
        <p:sp>
          <p:nvSpPr>
            <p:cNvPr id="17" name="Google Shape;475;p44">
              <a:extLst>
                <a:ext uri="{FF2B5EF4-FFF2-40B4-BE49-F238E27FC236}">
                  <a16:creationId xmlns:a16="http://schemas.microsoft.com/office/drawing/2014/main" id="{E5FD8075-7BB4-EE37-8443-00BA030AE27A}"/>
                </a:ext>
              </a:extLst>
            </p:cNvPr>
            <p:cNvSpPr txBox="1"/>
            <p:nvPr/>
          </p:nvSpPr>
          <p:spPr>
            <a:xfrm>
              <a:off x="9598941" y="2475175"/>
              <a:ext cx="202800" cy="270900"/>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b="1">
                  <a:solidFill>
                    <a:schemeClr val="accent2"/>
                  </a:solidFill>
                  <a:latin typeface="Roboto"/>
                  <a:ea typeface="Roboto"/>
                  <a:cs typeface="Roboto"/>
                  <a:sym typeface="Roboto"/>
                </a:rPr>
                <a:t>✗</a:t>
              </a:r>
              <a:endParaRPr b="1">
                <a:solidFill>
                  <a:schemeClr val="accent2"/>
                </a:solidFill>
                <a:latin typeface="Roboto"/>
                <a:ea typeface="Roboto"/>
                <a:cs typeface="Roboto"/>
                <a:sym typeface="Roboto"/>
              </a:endParaRPr>
            </a:p>
          </p:txBody>
        </p:sp>
        <p:cxnSp>
          <p:nvCxnSpPr>
            <p:cNvPr id="18" name="Google Shape;476;p44">
              <a:extLst>
                <a:ext uri="{FF2B5EF4-FFF2-40B4-BE49-F238E27FC236}">
                  <a16:creationId xmlns:a16="http://schemas.microsoft.com/office/drawing/2014/main" id="{1D03D921-4A20-1A2F-487C-B7E76A524650}"/>
                </a:ext>
              </a:extLst>
            </p:cNvPr>
            <p:cNvCxnSpPr>
              <a:stCxn id="13" idx="3"/>
            </p:cNvCxnSpPr>
            <p:nvPr/>
          </p:nvCxnSpPr>
          <p:spPr>
            <a:xfrm>
              <a:off x="7839841" y="2397625"/>
              <a:ext cx="279000" cy="0"/>
            </a:xfrm>
            <a:prstGeom prst="straightConnector1">
              <a:avLst/>
            </a:prstGeom>
            <a:noFill/>
            <a:ln w="9525" cap="flat" cmpd="sng">
              <a:solidFill>
                <a:srgbClr val="6AA84F"/>
              </a:solidFill>
              <a:prstDash val="solid"/>
              <a:round/>
              <a:headEnd type="none" w="med" len="med"/>
              <a:tailEnd type="triangle" w="med" len="med"/>
            </a:ln>
          </p:spPr>
        </p:cxnSp>
        <p:cxnSp>
          <p:nvCxnSpPr>
            <p:cNvPr id="19" name="Google Shape;477;p44">
              <a:extLst>
                <a:ext uri="{FF2B5EF4-FFF2-40B4-BE49-F238E27FC236}">
                  <a16:creationId xmlns:a16="http://schemas.microsoft.com/office/drawing/2014/main" id="{ADD2E625-22BF-0879-BCA8-8880D7E41CDF}"/>
                </a:ext>
              </a:extLst>
            </p:cNvPr>
            <p:cNvCxnSpPr>
              <a:cxnSpLocks/>
              <a:stCxn id="14" idx="3"/>
            </p:cNvCxnSpPr>
            <p:nvPr/>
          </p:nvCxnSpPr>
          <p:spPr>
            <a:xfrm flipV="1">
              <a:off x="7839841" y="3564450"/>
              <a:ext cx="279000" cy="30743"/>
            </a:xfrm>
            <a:prstGeom prst="straightConnector1">
              <a:avLst/>
            </a:prstGeom>
            <a:noFill/>
            <a:ln w="9525" cap="flat" cmpd="sng">
              <a:solidFill>
                <a:schemeClr val="accent2"/>
              </a:solidFill>
              <a:prstDash val="solid"/>
              <a:round/>
              <a:headEnd type="none" w="med" len="med"/>
              <a:tailEnd type="triangle" w="med" len="med"/>
            </a:ln>
          </p:spPr>
        </p:cxnSp>
        <p:cxnSp>
          <p:nvCxnSpPr>
            <p:cNvPr id="20" name="Google Shape;478;p44">
              <a:extLst>
                <a:ext uri="{FF2B5EF4-FFF2-40B4-BE49-F238E27FC236}">
                  <a16:creationId xmlns:a16="http://schemas.microsoft.com/office/drawing/2014/main" id="{6E4D94B8-AC25-1C07-8F2A-E749FB5F4822}"/>
                </a:ext>
              </a:extLst>
            </p:cNvPr>
            <p:cNvCxnSpPr>
              <a:cxnSpLocks/>
              <a:stCxn id="15" idx="3"/>
            </p:cNvCxnSpPr>
            <p:nvPr/>
          </p:nvCxnSpPr>
          <p:spPr>
            <a:xfrm flipV="1">
              <a:off x="7839691" y="3626550"/>
              <a:ext cx="262800" cy="197242"/>
            </a:xfrm>
            <a:prstGeom prst="straightConnector1">
              <a:avLst/>
            </a:prstGeom>
            <a:noFill/>
            <a:ln w="9525" cap="flat" cmpd="sng">
              <a:solidFill>
                <a:srgbClr val="6AA84F"/>
              </a:solidFill>
              <a:prstDash val="solid"/>
              <a:round/>
              <a:headEnd type="none" w="med" len="med"/>
              <a:tailEnd type="triangle" w="med" len="med"/>
            </a:ln>
          </p:spPr>
        </p:cxnSp>
        <p:sp>
          <p:nvSpPr>
            <p:cNvPr id="21" name="Google Shape;479;p44">
              <a:extLst>
                <a:ext uri="{FF2B5EF4-FFF2-40B4-BE49-F238E27FC236}">
                  <a16:creationId xmlns:a16="http://schemas.microsoft.com/office/drawing/2014/main" id="{03D06975-8BEC-BD7E-A041-E186739B0A5F}"/>
                </a:ext>
              </a:extLst>
            </p:cNvPr>
            <p:cNvSpPr txBox="1"/>
            <p:nvPr/>
          </p:nvSpPr>
          <p:spPr>
            <a:xfrm>
              <a:off x="6375506" y="4343400"/>
              <a:ext cx="1464310"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Cancel timer</a:t>
              </a:r>
              <a:endParaRPr dirty="0">
                <a:solidFill>
                  <a:schemeClr val="accent2"/>
                </a:solidFill>
                <a:latin typeface="Roboto"/>
                <a:ea typeface="Roboto"/>
                <a:cs typeface="Roboto"/>
                <a:sym typeface="Roboto"/>
              </a:endParaRPr>
            </a:p>
          </p:txBody>
        </p:sp>
        <p:cxnSp>
          <p:nvCxnSpPr>
            <p:cNvPr id="22" name="Google Shape;480;p44">
              <a:extLst>
                <a:ext uri="{FF2B5EF4-FFF2-40B4-BE49-F238E27FC236}">
                  <a16:creationId xmlns:a16="http://schemas.microsoft.com/office/drawing/2014/main" id="{BE29A1AE-D25E-7F54-DFD0-2A3DF5AA13C6}"/>
                </a:ext>
              </a:extLst>
            </p:cNvPr>
            <p:cNvCxnSpPr>
              <a:cxnSpLocks/>
              <a:stCxn id="21" idx="3"/>
            </p:cNvCxnSpPr>
            <p:nvPr/>
          </p:nvCxnSpPr>
          <p:spPr>
            <a:xfrm flipV="1">
              <a:off x="7839816" y="4478850"/>
              <a:ext cx="279000" cy="30743"/>
            </a:xfrm>
            <a:prstGeom prst="straightConnector1">
              <a:avLst/>
            </a:prstGeom>
            <a:noFill/>
            <a:ln w="9525" cap="flat" cmpd="sng">
              <a:solidFill>
                <a:schemeClr val="accent2"/>
              </a:solidFill>
              <a:prstDash val="solid"/>
              <a:round/>
              <a:headEnd type="none" w="med" len="med"/>
              <a:tailEnd type="triangle" w="med" len="med"/>
            </a:ln>
          </p:spPr>
        </p:cxnSp>
      </p:grpSp>
    </p:spTree>
    <p:extLst>
      <p:ext uri="{BB962C8B-B14F-4D97-AF65-F5344CB8AC3E}">
        <p14:creationId xmlns:p14="http://schemas.microsoft.com/office/powerpoint/2010/main" val="4002267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D160A-1553-A1A1-4A30-B56BFAABF6AE}"/>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C7BA4E75-6245-E027-5689-BB9F58A98902}"/>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Designing Reliability for a Single Packet </a:t>
            </a:r>
          </a:p>
        </p:txBody>
      </p:sp>
      <p:sp>
        <p:nvSpPr>
          <p:cNvPr id="4" name="TextBox 3">
            <a:extLst>
              <a:ext uri="{FF2B5EF4-FFF2-40B4-BE49-F238E27FC236}">
                <a16:creationId xmlns:a16="http://schemas.microsoft.com/office/drawing/2014/main" id="{2CCE5742-0DE0-ED29-F1C3-7FD3B828F377}"/>
              </a:ext>
            </a:extLst>
          </p:cNvPr>
          <p:cNvSpPr txBox="1"/>
          <p:nvPr/>
        </p:nvSpPr>
        <p:spPr>
          <a:xfrm>
            <a:off x="35644" y="2078861"/>
            <a:ext cx="6060356" cy="2539157"/>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1 </a:t>
            </a:r>
            <a:r>
              <a:rPr lang="en-US" sz="2400" dirty="0"/>
              <a:t>-  Packets can be dropped: </a:t>
            </a:r>
          </a:p>
          <a:p>
            <a:pPr marL="742950" lvl="1" indent="-285750">
              <a:spcAft>
                <a:spcPts val="600"/>
              </a:spcAft>
              <a:buFont typeface="Arial" panose="020B0604020202020204" pitchFamily="34" charset="0"/>
              <a:buChar char="•"/>
            </a:pPr>
            <a:r>
              <a:rPr lang="en-US" sz="2400" dirty="0"/>
              <a:t>What if the </a:t>
            </a:r>
            <a:r>
              <a:rPr lang="en-US" sz="2400" b="1" dirty="0">
                <a:solidFill>
                  <a:srgbClr val="C00000"/>
                </a:solidFill>
              </a:rPr>
              <a:t>ack</a:t>
            </a:r>
            <a:r>
              <a:rPr lang="en-US" sz="2400" dirty="0"/>
              <a:t> gets dropped</a:t>
            </a:r>
          </a:p>
          <a:p>
            <a:pPr marL="285750" indent="-285750">
              <a:spcAft>
                <a:spcPts val="600"/>
              </a:spcAft>
              <a:buFont typeface="Arial" panose="020B0604020202020204" pitchFamily="34" charset="0"/>
              <a:buChar char="•"/>
            </a:pPr>
            <a:r>
              <a:rPr lang="en-US" sz="2400" dirty="0"/>
              <a:t>The timer expires, and the packet gets resent. Repeat until the ack arrives.</a:t>
            </a:r>
          </a:p>
          <a:p>
            <a:pPr marL="285750" indent="-285750">
              <a:spcAft>
                <a:spcPts val="600"/>
              </a:spcAft>
              <a:buFont typeface="Arial" panose="020B0604020202020204" pitchFamily="34" charset="0"/>
              <a:buChar char="•"/>
            </a:pPr>
            <a:r>
              <a:rPr lang="en-US" sz="2400" dirty="0"/>
              <a:t>The destination received the packet twice, but that's okay (</a:t>
            </a:r>
            <a:r>
              <a:rPr lang="en-US" sz="2400" i="1" dirty="0">
                <a:solidFill>
                  <a:srgbClr val="C00000"/>
                </a:solidFill>
              </a:rPr>
              <a:t>at-least-once</a:t>
            </a:r>
            <a:r>
              <a:rPr lang="en-US" sz="2400" dirty="0">
                <a:solidFill>
                  <a:srgbClr val="C00000"/>
                </a:solidFill>
              </a:rPr>
              <a:t> delivery</a:t>
            </a:r>
            <a:r>
              <a:rPr lang="en-US" sz="2400" dirty="0"/>
              <a:t>).</a:t>
            </a:r>
          </a:p>
        </p:txBody>
      </p:sp>
      <p:grpSp>
        <p:nvGrpSpPr>
          <p:cNvPr id="28" name="Group 27">
            <a:extLst>
              <a:ext uri="{FF2B5EF4-FFF2-40B4-BE49-F238E27FC236}">
                <a16:creationId xmlns:a16="http://schemas.microsoft.com/office/drawing/2014/main" id="{0E0DED26-01CE-63AF-BB1F-98440E43A54E}"/>
              </a:ext>
            </a:extLst>
          </p:cNvPr>
          <p:cNvGrpSpPr/>
          <p:nvPr/>
        </p:nvGrpSpPr>
        <p:grpSpPr>
          <a:xfrm>
            <a:off x="6252687" y="2207870"/>
            <a:ext cx="5523713" cy="3214300"/>
            <a:chOff x="6577115" y="1957349"/>
            <a:chExt cx="5523713" cy="3214300"/>
          </a:xfrm>
        </p:grpSpPr>
        <p:grpSp>
          <p:nvGrpSpPr>
            <p:cNvPr id="3" name="Google Shape;485;p45">
              <a:extLst>
                <a:ext uri="{FF2B5EF4-FFF2-40B4-BE49-F238E27FC236}">
                  <a16:creationId xmlns:a16="http://schemas.microsoft.com/office/drawing/2014/main" id="{98BB71BA-DB61-83F8-164E-017DBDEC5DFE}"/>
                </a:ext>
              </a:extLst>
            </p:cNvPr>
            <p:cNvGrpSpPr/>
            <p:nvPr/>
          </p:nvGrpSpPr>
          <p:grpSpPr>
            <a:xfrm>
              <a:off x="8481369" y="3780925"/>
              <a:ext cx="3015000" cy="530546"/>
              <a:chOff x="3039475" y="2514600"/>
              <a:chExt cx="3015000" cy="530546"/>
            </a:xfrm>
          </p:grpSpPr>
          <p:cxnSp>
            <p:nvCxnSpPr>
              <p:cNvPr id="5" name="Google Shape;486;p45">
                <a:extLst>
                  <a:ext uri="{FF2B5EF4-FFF2-40B4-BE49-F238E27FC236}">
                    <a16:creationId xmlns:a16="http://schemas.microsoft.com/office/drawing/2014/main" id="{127238F9-B43D-9CC4-3B29-EA6A7CAB4FD5}"/>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6" name="Google Shape;487;p45">
                <a:extLst>
                  <a:ext uri="{FF2B5EF4-FFF2-40B4-BE49-F238E27FC236}">
                    <a16:creationId xmlns:a16="http://schemas.microsoft.com/office/drawing/2014/main" id="{904201EC-E3A4-83D0-45BE-0058C4DC05C4}"/>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7" name="Google Shape;490;p45">
              <a:extLst>
                <a:ext uri="{FF2B5EF4-FFF2-40B4-BE49-F238E27FC236}">
                  <a16:creationId xmlns:a16="http://schemas.microsoft.com/office/drawing/2014/main" id="{96E0B6AE-73CF-E0FF-1104-B968BEAF3B07}"/>
                </a:ext>
              </a:extLst>
            </p:cNvPr>
            <p:cNvCxnSpPr/>
            <p:nvPr/>
          </p:nvCxnSpPr>
          <p:spPr>
            <a:xfrm>
              <a:off x="8479419" y="1957349"/>
              <a:ext cx="0" cy="2943300"/>
            </a:xfrm>
            <a:prstGeom prst="straightConnector1">
              <a:avLst/>
            </a:prstGeom>
            <a:noFill/>
            <a:ln w="19050" cap="flat" cmpd="sng">
              <a:solidFill>
                <a:schemeClr val="dk2"/>
              </a:solidFill>
              <a:prstDash val="solid"/>
              <a:round/>
              <a:headEnd type="none" w="med" len="med"/>
              <a:tailEnd type="none" w="med" len="med"/>
            </a:ln>
          </p:spPr>
        </p:cxnSp>
        <p:sp>
          <p:nvSpPr>
            <p:cNvPr id="8" name="Google Shape;491;p45">
              <a:extLst>
                <a:ext uri="{FF2B5EF4-FFF2-40B4-BE49-F238E27FC236}">
                  <a16:creationId xmlns:a16="http://schemas.microsoft.com/office/drawing/2014/main" id="{B01C0827-72DD-308D-9029-EFDD29848043}"/>
                </a:ext>
              </a:extLst>
            </p:cNvPr>
            <p:cNvSpPr txBox="1"/>
            <p:nvPr/>
          </p:nvSpPr>
          <p:spPr>
            <a:xfrm>
              <a:off x="7926969" y="4900749"/>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cxnSp>
          <p:nvCxnSpPr>
            <p:cNvPr id="9" name="Google Shape;492;p45">
              <a:extLst>
                <a:ext uri="{FF2B5EF4-FFF2-40B4-BE49-F238E27FC236}">
                  <a16:creationId xmlns:a16="http://schemas.microsoft.com/office/drawing/2014/main" id="{559B11BA-694F-4031-E2EC-8AF8AD0B412C}"/>
                </a:ext>
              </a:extLst>
            </p:cNvPr>
            <p:cNvCxnSpPr/>
            <p:nvPr/>
          </p:nvCxnSpPr>
          <p:spPr>
            <a:xfrm>
              <a:off x="11500819" y="1957349"/>
              <a:ext cx="0" cy="2943300"/>
            </a:xfrm>
            <a:prstGeom prst="straightConnector1">
              <a:avLst/>
            </a:prstGeom>
            <a:noFill/>
            <a:ln w="19050" cap="flat" cmpd="sng">
              <a:solidFill>
                <a:schemeClr val="dk2"/>
              </a:solidFill>
              <a:prstDash val="solid"/>
              <a:round/>
              <a:headEnd type="none" w="med" len="med"/>
              <a:tailEnd type="none" w="med" len="med"/>
            </a:ln>
          </p:spPr>
        </p:cxnSp>
        <p:sp>
          <p:nvSpPr>
            <p:cNvPr id="10" name="Google Shape;493;p45">
              <a:extLst>
                <a:ext uri="{FF2B5EF4-FFF2-40B4-BE49-F238E27FC236}">
                  <a16:creationId xmlns:a16="http://schemas.microsoft.com/office/drawing/2014/main" id="{91B88992-C388-8557-098B-EA27EDBCAE62}"/>
                </a:ext>
              </a:extLst>
            </p:cNvPr>
            <p:cNvSpPr txBox="1"/>
            <p:nvPr/>
          </p:nvSpPr>
          <p:spPr>
            <a:xfrm>
              <a:off x="10900828" y="4900749"/>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1" name="Google Shape;494;p45">
              <a:extLst>
                <a:ext uri="{FF2B5EF4-FFF2-40B4-BE49-F238E27FC236}">
                  <a16:creationId xmlns:a16="http://schemas.microsoft.com/office/drawing/2014/main" id="{278D28DA-ADD4-5BBA-A774-98AD222A8ED5}"/>
                </a:ext>
              </a:extLst>
            </p:cNvPr>
            <p:cNvSpPr txBox="1"/>
            <p:nvPr/>
          </p:nvSpPr>
          <p:spPr>
            <a:xfrm>
              <a:off x="6895217" y="2006825"/>
              <a:ext cx="1269052" cy="330208"/>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rgbClr val="6AA84F"/>
                  </a:solidFill>
                  <a:latin typeface="Roboto"/>
                  <a:ea typeface="Roboto"/>
                  <a:cs typeface="Roboto"/>
                  <a:sym typeface="Roboto"/>
                </a:rPr>
                <a:t>Start timer</a:t>
              </a:r>
              <a:endParaRPr dirty="0">
                <a:solidFill>
                  <a:srgbClr val="6AA84F"/>
                </a:solidFill>
                <a:latin typeface="Roboto"/>
                <a:ea typeface="Roboto"/>
                <a:cs typeface="Roboto"/>
                <a:sym typeface="Roboto"/>
              </a:endParaRPr>
            </a:p>
          </p:txBody>
        </p:sp>
        <p:sp>
          <p:nvSpPr>
            <p:cNvPr id="12" name="Google Shape;495;p45">
              <a:extLst>
                <a:ext uri="{FF2B5EF4-FFF2-40B4-BE49-F238E27FC236}">
                  <a16:creationId xmlns:a16="http://schemas.microsoft.com/office/drawing/2014/main" id="{5E85B0EC-6EB7-7E41-B66C-508F7B9FE170}"/>
                </a:ext>
              </a:extLst>
            </p:cNvPr>
            <p:cNvSpPr txBox="1"/>
            <p:nvPr/>
          </p:nvSpPr>
          <p:spPr>
            <a:xfrm>
              <a:off x="6579917" y="3173650"/>
              <a:ext cx="1584352"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Timeout!</a:t>
              </a:r>
              <a:endParaRPr dirty="0">
                <a:solidFill>
                  <a:schemeClr val="accent2"/>
                </a:solidFill>
                <a:latin typeface="Roboto"/>
                <a:ea typeface="Roboto"/>
                <a:cs typeface="Roboto"/>
                <a:sym typeface="Roboto"/>
              </a:endParaRPr>
            </a:p>
          </p:txBody>
        </p:sp>
        <p:cxnSp>
          <p:nvCxnSpPr>
            <p:cNvPr id="13" name="Google Shape;496;p45">
              <a:extLst>
                <a:ext uri="{FF2B5EF4-FFF2-40B4-BE49-F238E27FC236}">
                  <a16:creationId xmlns:a16="http://schemas.microsoft.com/office/drawing/2014/main" id="{7D3A1784-3684-0E83-6B16-7DFD5B9F009F}"/>
                </a:ext>
              </a:extLst>
            </p:cNvPr>
            <p:cNvCxnSpPr/>
            <p:nvPr/>
          </p:nvCxnSpPr>
          <p:spPr>
            <a:xfrm>
              <a:off x="8481394" y="3308649"/>
              <a:ext cx="3007800" cy="441900"/>
            </a:xfrm>
            <a:prstGeom prst="straightConnector1">
              <a:avLst/>
            </a:prstGeom>
            <a:noFill/>
            <a:ln w="19050" cap="flat" cmpd="sng">
              <a:solidFill>
                <a:srgbClr val="000000"/>
              </a:solidFill>
              <a:prstDash val="solid"/>
              <a:round/>
              <a:headEnd type="none" w="med" len="med"/>
              <a:tailEnd type="triangle" w="med" len="med"/>
            </a:ln>
          </p:spPr>
        </p:cxnSp>
        <p:sp>
          <p:nvSpPr>
            <p:cNvPr id="14" name="Google Shape;497;p45">
              <a:extLst>
                <a:ext uri="{FF2B5EF4-FFF2-40B4-BE49-F238E27FC236}">
                  <a16:creationId xmlns:a16="http://schemas.microsoft.com/office/drawing/2014/main" id="{0158179F-11B2-ADEF-B587-10B71556BAD2}"/>
                </a:ext>
              </a:extLst>
            </p:cNvPr>
            <p:cNvSpPr txBox="1"/>
            <p:nvPr/>
          </p:nvSpPr>
          <p:spPr>
            <a:xfrm>
              <a:off x="9887426" y="2753225"/>
              <a:ext cx="202800" cy="270900"/>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b="1">
                  <a:solidFill>
                    <a:schemeClr val="accent2"/>
                  </a:solidFill>
                  <a:latin typeface="Roboto"/>
                  <a:ea typeface="Roboto"/>
                  <a:cs typeface="Roboto"/>
                  <a:sym typeface="Roboto"/>
                </a:rPr>
                <a:t>✗</a:t>
              </a:r>
              <a:endParaRPr b="1">
                <a:solidFill>
                  <a:schemeClr val="accent2"/>
                </a:solidFill>
                <a:latin typeface="Roboto"/>
                <a:ea typeface="Roboto"/>
                <a:cs typeface="Roboto"/>
                <a:sym typeface="Roboto"/>
              </a:endParaRPr>
            </a:p>
          </p:txBody>
        </p:sp>
        <p:cxnSp>
          <p:nvCxnSpPr>
            <p:cNvPr id="15" name="Google Shape;498;p45">
              <a:extLst>
                <a:ext uri="{FF2B5EF4-FFF2-40B4-BE49-F238E27FC236}">
                  <a16:creationId xmlns:a16="http://schemas.microsoft.com/office/drawing/2014/main" id="{92AF0F42-AEA2-F7D7-D2D5-E0CF8042849B}"/>
                </a:ext>
              </a:extLst>
            </p:cNvPr>
            <p:cNvCxnSpPr>
              <a:cxnSpLocks/>
              <a:stCxn id="11" idx="3"/>
            </p:cNvCxnSpPr>
            <p:nvPr/>
          </p:nvCxnSpPr>
          <p:spPr>
            <a:xfrm flipV="1">
              <a:off x="8164269" y="2142275"/>
              <a:ext cx="279000" cy="29654"/>
            </a:xfrm>
            <a:prstGeom prst="straightConnector1">
              <a:avLst/>
            </a:prstGeom>
            <a:noFill/>
            <a:ln w="9525" cap="flat" cmpd="sng">
              <a:solidFill>
                <a:srgbClr val="6AA84F"/>
              </a:solidFill>
              <a:prstDash val="solid"/>
              <a:round/>
              <a:headEnd type="none" w="med" len="med"/>
              <a:tailEnd type="triangle" w="med" len="med"/>
            </a:ln>
          </p:spPr>
        </p:cxnSp>
        <p:cxnSp>
          <p:nvCxnSpPr>
            <p:cNvPr id="16" name="Google Shape;499;p45">
              <a:extLst>
                <a:ext uri="{FF2B5EF4-FFF2-40B4-BE49-F238E27FC236}">
                  <a16:creationId xmlns:a16="http://schemas.microsoft.com/office/drawing/2014/main" id="{BE9F00E5-0DFA-C106-170E-D33061E94B70}"/>
                </a:ext>
              </a:extLst>
            </p:cNvPr>
            <p:cNvCxnSpPr>
              <a:cxnSpLocks/>
              <a:stCxn id="12" idx="3"/>
            </p:cNvCxnSpPr>
            <p:nvPr/>
          </p:nvCxnSpPr>
          <p:spPr>
            <a:xfrm flipV="1">
              <a:off x="8164269" y="3309100"/>
              <a:ext cx="279000" cy="30743"/>
            </a:xfrm>
            <a:prstGeom prst="straightConnector1">
              <a:avLst/>
            </a:prstGeom>
            <a:noFill/>
            <a:ln w="9525" cap="flat" cmpd="sng">
              <a:solidFill>
                <a:schemeClr val="accent2"/>
              </a:solidFill>
              <a:prstDash val="solid"/>
              <a:round/>
              <a:headEnd type="none" w="med" len="med"/>
              <a:tailEnd type="triangle" w="med" len="med"/>
            </a:ln>
          </p:spPr>
        </p:cxnSp>
        <p:sp>
          <p:nvSpPr>
            <p:cNvPr id="17" name="Google Shape;500;p45">
              <a:extLst>
                <a:ext uri="{FF2B5EF4-FFF2-40B4-BE49-F238E27FC236}">
                  <a16:creationId xmlns:a16="http://schemas.microsoft.com/office/drawing/2014/main" id="{A1B28C19-88D8-D13C-DE1D-136C850C6CD9}"/>
                </a:ext>
              </a:extLst>
            </p:cNvPr>
            <p:cNvSpPr txBox="1"/>
            <p:nvPr/>
          </p:nvSpPr>
          <p:spPr>
            <a:xfrm>
              <a:off x="6577115" y="4010267"/>
              <a:ext cx="1587129"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Cancel timer</a:t>
              </a:r>
              <a:endParaRPr dirty="0">
                <a:solidFill>
                  <a:schemeClr val="accent2"/>
                </a:solidFill>
                <a:latin typeface="Roboto"/>
                <a:ea typeface="Roboto"/>
                <a:cs typeface="Roboto"/>
                <a:sym typeface="Roboto"/>
              </a:endParaRPr>
            </a:p>
          </p:txBody>
        </p:sp>
        <p:cxnSp>
          <p:nvCxnSpPr>
            <p:cNvPr id="18" name="Google Shape;501;p45">
              <a:extLst>
                <a:ext uri="{FF2B5EF4-FFF2-40B4-BE49-F238E27FC236}">
                  <a16:creationId xmlns:a16="http://schemas.microsoft.com/office/drawing/2014/main" id="{FDAEB7D1-69F3-3D04-27FE-049CB02B762C}"/>
                </a:ext>
              </a:extLst>
            </p:cNvPr>
            <p:cNvCxnSpPr>
              <a:cxnSpLocks/>
              <a:stCxn id="17" idx="3"/>
            </p:cNvCxnSpPr>
            <p:nvPr/>
          </p:nvCxnSpPr>
          <p:spPr>
            <a:xfrm>
              <a:off x="8164244" y="4176460"/>
              <a:ext cx="279000" cy="47040"/>
            </a:xfrm>
            <a:prstGeom prst="straightConnector1">
              <a:avLst/>
            </a:prstGeom>
            <a:noFill/>
            <a:ln w="9525" cap="flat" cmpd="sng">
              <a:solidFill>
                <a:schemeClr val="accent2"/>
              </a:solidFill>
              <a:prstDash val="solid"/>
              <a:round/>
              <a:headEnd type="none" w="med" len="med"/>
              <a:tailEnd type="triangle" w="med" len="med"/>
            </a:ln>
          </p:spPr>
        </p:cxnSp>
        <p:cxnSp>
          <p:nvCxnSpPr>
            <p:cNvPr id="19" name="Google Shape;502;p45">
              <a:extLst>
                <a:ext uri="{FF2B5EF4-FFF2-40B4-BE49-F238E27FC236}">
                  <a16:creationId xmlns:a16="http://schemas.microsoft.com/office/drawing/2014/main" id="{FD1F5BD1-D609-7F63-FCB7-95390E457A99}"/>
                </a:ext>
              </a:extLst>
            </p:cNvPr>
            <p:cNvCxnSpPr/>
            <p:nvPr/>
          </p:nvCxnSpPr>
          <p:spPr>
            <a:xfrm>
              <a:off x="8481394" y="2146599"/>
              <a:ext cx="3007800" cy="441900"/>
            </a:xfrm>
            <a:prstGeom prst="straightConnector1">
              <a:avLst/>
            </a:prstGeom>
            <a:noFill/>
            <a:ln w="19050" cap="flat" cmpd="sng">
              <a:solidFill>
                <a:srgbClr val="000000"/>
              </a:solidFill>
              <a:prstDash val="solid"/>
              <a:round/>
              <a:headEnd type="none" w="med" len="med"/>
              <a:tailEnd type="triangle" w="med" len="med"/>
            </a:ln>
          </p:spPr>
        </p:cxnSp>
        <p:grpSp>
          <p:nvGrpSpPr>
            <p:cNvPr id="20" name="Google Shape;503;p45">
              <a:extLst>
                <a:ext uri="{FF2B5EF4-FFF2-40B4-BE49-F238E27FC236}">
                  <a16:creationId xmlns:a16="http://schemas.microsoft.com/office/drawing/2014/main" id="{9F7A2E68-A93F-BB68-2E25-AB303E851068}"/>
                </a:ext>
              </a:extLst>
            </p:cNvPr>
            <p:cNvGrpSpPr/>
            <p:nvPr/>
          </p:nvGrpSpPr>
          <p:grpSpPr>
            <a:xfrm>
              <a:off x="10063622" y="2665023"/>
              <a:ext cx="1440000" cy="432898"/>
              <a:chOff x="4621728" y="2541698"/>
              <a:chExt cx="1440000" cy="432898"/>
            </a:xfrm>
          </p:grpSpPr>
          <p:cxnSp>
            <p:nvCxnSpPr>
              <p:cNvPr id="21" name="Google Shape;504;p45">
                <a:extLst>
                  <a:ext uri="{FF2B5EF4-FFF2-40B4-BE49-F238E27FC236}">
                    <a16:creationId xmlns:a16="http://schemas.microsoft.com/office/drawing/2014/main" id="{FBC9979A-07E0-2502-8BF9-6B4C231EF0C5}"/>
                  </a:ext>
                </a:extLst>
              </p:cNvPr>
              <p:cNvCxnSpPr/>
              <p:nvPr/>
            </p:nvCxnSpPr>
            <p:spPr>
              <a:xfrm flipH="1">
                <a:off x="4621728" y="2541698"/>
                <a:ext cx="1440000" cy="226500"/>
              </a:xfrm>
              <a:prstGeom prst="straightConnector1">
                <a:avLst/>
              </a:prstGeom>
              <a:noFill/>
              <a:ln w="19050" cap="flat" cmpd="sng">
                <a:solidFill>
                  <a:srgbClr val="6AA84F"/>
                </a:solidFill>
                <a:prstDash val="solid"/>
                <a:round/>
                <a:headEnd type="none" w="med" len="med"/>
                <a:tailEnd type="triangle" w="med" len="med"/>
              </a:ln>
            </p:spPr>
          </p:cxnSp>
          <p:sp>
            <p:nvSpPr>
              <p:cNvPr id="22" name="Google Shape;505;p45">
                <a:extLst>
                  <a:ext uri="{FF2B5EF4-FFF2-40B4-BE49-F238E27FC236}">
                    <a16:creationId xmlns:a16="http://schemas.microsoft.com/office/drawing/2014/main" id="{F637D2FF-B181-BAE3-2A97-45FC6D40922B}"/>
                  </a:ext>
                </a:extLst>
              </p:cNvPr>
              <p:cNvSpPr txBox="1"/>
              <p:nvPr/>
            </p:nvSpPr>
            <p:spPr>
              <a:xfrm rot="-510186">
                <a:off x="5168111" y="266013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sp>
          <p:nvSpPr>
            <p:cNvPr id="23" name="Google Shape;506;p45">
              <a:extLst>
                <a:ext uri="{FF2B5EF4-FFF2-40B4-BE49-F238E27FC236}">
                  <a16:creationId xmlns:a16="http://schemas.microsoft.com/office/drawing/2014/main" id="{C318CC43-1B81-62CE-374F-88D59E3264EC}"/>
                </a:ext>
              </a:extLst>
            </p:cNvPr>
            <p:cNvSpPr txBox="1"/>
            <p:nvPr/>
          </p:nvSpPr>
          <p:spPr>
            <a:xfrm>
              <a:off x="6577115" y="3402249"/>
              <a:ext cx="1587004"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5"/>
                  </a:solidFill>
                  <a:latin typeface="Roboto"/>
                  <a:ea typeface="Roboto"/>
                  <a:cs typeface="Roboto"/>
                  <a:sym typeface="Roboto"/>
                </a:rPr>
                <a:t>Restart timer</a:t>
              </a:r>
              <a:endParaRPr dirty="0">
                <a:solidFill>
                  <a:schemeClr val="accent5"/>
                </a:solidFill>
                <a:latin typeface="Roboto"/>
                <a:ea typeface="Roboto"/>
                <a:cs typeface="Roboto"/>
                <a:sym typeface="Roboto"/>
              </a:endParaRPr>
            </a:p>
          </p:txBody>
        </p:sp>
        <p:cxnSp>
          <p:nvCxnSpPr>
            <p:cNvPr id="24" name="Google Shape;507;p45">
              <a:extLst>
                <a:ext uri="{FF2B5EF4-FFF2-40B4-BE49-F238E27FC236}">
                  <a16:creationId xmlns:a16="http://schemas.microsoft.com/office/drawing/2014/main" id="{E7B439E5-EB8D-A72D-2462-A88CAC7DD8EB}"/>
                </a:ext>
              </a:extLst>
            </p:cNvPr>
            <p:cNvCxnSpPr>
              <a:cxnSpLocks/>
              <a:stCxn id="23" idx="3"/>
            </p:cNvCxnSpPr>
            <p:nvPr/>
          </p:nvCxnSpPr>
          <p:spPr>
            <a:xfrm flipV="1">
              <a:off x="8164119" y="3371200"/>
              <a:ext cx="262800" cy="197242"/>
            </a:xfrm>
            <a:prstGeom prst="straightConnector1">
              <a:avLst/>
            </a:prstGeom>
            <a:noFill/>
            <a:ln w="9525" cap="flat" cmpd="sng">
              <a:solidFill>
                <a:srgbClr val="6AA84F"/>
              </a:solidFill>
              <a:prstDash val="solid"/>
              <a:round/>
              <a:headEnd type="none" w="med" len="med"/>
              <a:tailEnd type="triangle" w="med" len="med"/>
            </a:ln>
          </p:spPr>
        </p:cxnSp>
      </p:grpSp>
    </p:spTree>
    <p:extLst>
      <p:ext uri="{BB962C8B-B14F-4D97-AF65-F5344CB8AC3E}">
        <p14:creationId xmlns:p14="http://schemas.microsoft.com/office/powerpoint/2010/main" val="2031399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074FC-3022-7858-05F2-BF36D3F9AB62}"/>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BD429B95-001F-5E29-D544-7EB703C4D68A}"/>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Designing Reliability for a Single Packet </a:t>
            </a:r>
          </a:p>
        </p:txBody>
      </p:sp>
      <p:sp>
        <p:nvSpPr>
          <p:cNvPr id="4" name="TextBox 3">
            <a:extLst>
              <a:ext uri="{FF2B5EF4-FFF2-40B4-BE49-F238E27FC236}">
                <a16:creationId xmlns:a16="http://schemas.microsoft.com/office/drawing/2014/main" id="{E95EBD26-45CD-79E2-5ED3-D00787262C8E}"/>
              </a:ext>
            </a:extLst>
          </p:cNvPr>
          <p:cNvSpPr txBox="1"/>
          <p:nvPr/>
        </p:nvSpPr>
        <p:spPr>
          <a:xfrm>
            <a:off x="167535" y="1676199"/>
            <a:ext cx="6060356" cy="4909036"/>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2 </a:t>
            </a:r>
            <a:r>
              <a:rPr lang="en-US" sz="2400" dirty="0"/>
              <a:t>-  Packets can be corrupted: </a:t>
            </a:r>
          </a:p>
          <a:p>
            <a:pPr marL="742950" lvl="1" indent="-285750">
              <a:spcAft>
                <a:spcPts val="600"/>
              </a:spcAft>
              <a:buFont typeface="Arial" panose="020B0604020202020204" pitchFamily="34" charset="0"/>
              <a:buChar char="•"/>
            </a:pPr>
            <a:r>
              <a:rPr lang="en-US" sz="2400" dirty="0"/>
              <a:t>The packet is sent. How does the sender know if it was received successfully?</a:t>
            </a:r>
          </a:p>
          <a:p>
            <a:pPr marL="285750" indent="-285750">
              <a:spcAft>
                <a:spcPts val="600"/>
              </a:spcAft>
              <a:buFont typeface="Arial" panose="020B0604020202020204" pitchFamily="34" charset="0"/>
              <a:buChar char="•"/>
            </a:pPr>
            <a:r>
              <a:rPr lang="en-US" sz="2400" b="1" dirty="0">
                <a:solidFill>
                  <a:srgbClr val="C00000"/>
                </a:solidFill>
              </a:rPr>
              <a:t>Solution</a:t>
            </a:r>
            <a:r>
              <a:rPr lang="en-US" sz="2400" dirty="0"/>
              <a:t>: The recipient calculates the checksum</a:t>
            </a:r>
          </a:p>
          <a:p>
            <a:pPr marL="742950" lvl="1" indent="-285750">
              <a:spcAft>
                <a:spcPts val="600"/>
              </a:spcAft>
              <a:buFont typeface="Arial" panose="020B0604020202020204" pitchFamily="34" charset="0"/>
              <a:buChar char="•"/>
            </a:pPr>
            <a:r>
              <a:rPr lang="en-US" sz="2400" dirty="0"/>
              <a:t>When you get a corrupt packet, ignore it (don't send the ack)</a:t>
            </a:r>
          </a:p>
          <a:p>
            <a:pPr marL="742950" lvl="1" indent="-285750">
              <a:spcAft>
                <a:spcPts val="600"/>
              </a:spcAft>
              <a:buFont typeface="Arial" panose="020B0604020202020204" pitchFamily="34" charset="0"/>
              <a:buChar char="•"/>
            </a:pPr>
            <a:r>
              <a:rPr lang="en" sz="2400" dirty="0"/>
              <a:t>Sender times out and resends </a:t>
            </a:r>
          </a:p>
          <a:p>
            <a:pPr marL="742950" lvl="1" indent="-285750">
              <a:spcAft>
                <a:spcPts val="600"/>
              </a:spcAft>
              <a:buFont typeface="Arial" panose="020B0604020202020204" pitchFamily="34" charset="0"/>
              <a:buChar char="•"/>
            </a:pPr>
            <a:r>
              <a:rPr lang="en-US" sz="2400" dirty="0"/>
              <a:t>Alternative solution: When you get a corrupt packet, send a negative acknowledgement (</a:t>
            </a:r>
            <a:r>
              <a:rPr lang="en-US" sz="2400" dirty="0" err="1"/>
              <a:t>nack</a:t>
            </a:r>
            <a:r>
              <a:rPr lang="en-US" sz="2400" dirty="0"/>
              <a:t>)</a:t>
            </a:r>
          </a:p>
        </p:txBody>
      </p:sp>
      <p:grpSp>
        <p:nvGrpSpPr>
          <p:cNvPr id="56" name="Group 55">
            <a:extLst>
              <a:ext uri="{FF2B5EF4-FFF2-40B4-BE49-F238E27FC236}">
                <a16:creationId xmlns:a16="http://schemas.microsoft.com/office/drawing/2014/main" id="{68568CAD-FEA8-0515-CE1F-2208D444A5F0}"/>
              </a:ext>
            </a:extLst>
          </p:cNvPr>
          <p:cNvGrpSpPr/>
          <p:nvPr/>
        </p:nvGrpSpPr>
        <p:grpSpPr>
          <a:xfrm>
            <a:off x="6096000" y="2410222"/>
            <a:ext cx="6336014" cy="3214300"/>
            <a:chOff x="5688434" y="2397696"/>
            <a:chExt cx="6336014" cy="3214300"/>
          </a:xfrm>
        </p:grpSpPr>
        <p:cxnSp>
          <p:nvCxnSpPr>
            <p:cNvPr id="41" name="Google Shape;539;p48">
              <a:extLst>
                <a:ext uri="{FF2B5EF4-FFF2-40B4-BE49-F238E27FC236}">
                  <a16:creationId xmlns:a16="http://schemas.microsoft.com/office/drawing/2014/main" id="{AB222E4F-7E10-F553-3082-87FC724F96FC}"/>
                </a:ext>
              </a:extLst>
            </p:cNvPr>
            <p:cNvCxnSpPr/>
            <p:nvPr/>
          </p:nvCxnSpPr>
          <p:spPr>
            <a:xfrm>
              <a:off x="7110459" y="2586946"/>
              <a:ext cx="3007800" cy="441900"/>
            </a:xfrm>
            <a:prstGeom prst="straightConnector1">
              <a:avLst/>
            </a:prstGeom>
            <a:noFill/>
            <a:ln w="19050" cap="flat" cmpd="sng">
              <a:solidFill>
                <a:srgbClr val="000000"/>
              </a:solidFill>
              <a:prstDash val="solid"/>
              <a:round/>
              <a:headEnd type="none" w="med" len="med"/>
              <a:tailEnd type="triangle" w="med" len="med"/>
            </a:ln>
          </p:spPr>
        </p:cxnSp>
        <p:grpSp>
          <p:nvGrpSpPr>
            <p:cNvPr id="42" name="Google Shape;540;p48">
              <a:extLst>
                <a:ext uri="{FF2B5EF4-FFF2-40B4-BE49-F238E27FC236}">
                  <a16:creationId xmlns:a16="http://schemas.microsoft.com/office/drawing/2014/main" id="{46D1C858-4E2F-445F-789F-84746F0D901E}"/>
                </a:ext>
              </a:extLst>
            </p:cNvPr>
            <p:cNvGrpSpPr/>
            <p:nvPr/>
          </p:nvGrpSpPr>
          <p:grpSpPr>
            <a:xfrm>
              <a:off x="7110434" y="4297472"/>
              <a:ext cx="3015000" cy="530546"/>
              <a:chOff x="3039475" y="2514600"/>
              <a:chExt cx="3015000" cy="530546"/>
            </a:xfrm>
          </p:grpSpPr>
          <p:cxnSp>
            <p:nvCxnSpPr>
              <p:cNvPr id="43" name="Google Shape;541;p48">
                <a:extLst>
                  <a:ext uri="{FF2B5EF4-FFF2-40B4-BE49-F238E27FC236}">
                    <a16:creationId xmlns:a16="http://schemas.microsoft.com/office/drawing/2014/main" id="{F9D5EF76-3834-884D-D683-4FA54556D45E}"/>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44" name="Google Shape;542;p48">
                <a:extLst>
                  <a:ext uri="{FF2B5EF4-FFF2-40B4-BE49-F238E27FC236}">
                    <a16:creationId xmlns:a16="http://schemas.microsoft.com/office/drawing/2014/main" id="{1E8260A9-CE49-04EE-87A2-58E6F2185F56}"/>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45" name="Google Shape;545;p48">
              <a:extLst>
                <a:ext uri="{FF2B5EF4-FFF2-40B4-BE49-F238E27FC236}">
                  <a16:creationId xmlns:a16="http://schemas.microsoft.com/office/drawing/2014/main" id="{855BA21A-53C5-23FD-562C-278AC48F01E3}"/>
                </a:ext>
              </a:extLst>
            </p:cNvPr>
            <p:cNvCxnSpPr/>
            <p:nvPr/>
          </p:nvCxnSpPr>
          <p:spPr>
            <a:xfrm>
              <a:off x="7108484" y="2397696"/>
              <a:ext cx="0" cy="2943300"/>
            </a:xfrm>
            <a:prstGeom prst="straightConnector1">
              <a:avLst/>
            </a:prstGeom>
            <a:noFill/>
            <a:ln w="19050" cap="flat" cmpd="sng">
              <a:solidFill>
                <a:schemeClr val="dk2"/>
              </a:solidFill>
              <a:prstDash val="solid"/>
              <a:round/>
              <a:headEnd type="none" w="med" len="med"/>
              <a:tailEnd type="none" w="med" len="med"/>
            </a:ln>
          </p:spPr>
        </p:cxnSp>
        <p:sp>
          <p:nvSpPr>
            <p:cNvPr id="46" name="Google Shape;546;p48">
              <a:extLst>
                <a:ext uri="{FF2B5EF4-FFF2-40B4-BE49-F238E27FC236}">
                  <a16:creationId xmlns:a16="http://schemas.microsoft.com/office/drawing/2014/main" id="{36B67B69-AA46-0DF4-2533-9B8591B3A0D9}"/>
                </a:ext>
              </a:extLst>
            </p:cNvPr>
            <p:cNvSpPr txBox="1"/>
            <p:nvPr/>
          </p:nvSpPr>
          <p:spPr>
            <a:xfrm>
              <a:off x="6556034" y="5341096"/>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cxnSp>
          <p:nvCxnSpPr>
            <p:cNvPr id="47" name="Google Shape;547;p48">
              <a:extLst>
                <a:ext uri="{FF2B5EF4-FFF2-40B4-BE49-F238E27FC236}">
                  <a16:creationId xmlns:a16="http://schemas.microsoft.com/office/drawing/2014/main" id="{4E08BCDE-B545-4A7B-CDAA-915B74CB6BA9}"/>
                </a:ext>
              </a:extLst>
            </p:cNvPr>
            <p:cNvCxnSpPr/>
            <p:nvPr/>
          </p:nvCxnSpPr>
          <p:spPr>
            <a:xfrm>
              <a:off x="10129884" y="2397696"/>
              <a:ext cx="0" cy="2943300"/>
            </a:xfrm>
            <a:prstGeom prst="straightConnector1">
              <a:avLst/>
            </a:prstGeom>
            <a:noFill/>
            <a:ln w="19050" cap="flat" cmpd="sng">
              <a:solidFill>
                <a:schemeClr val="dk2"/>
              </a:solidFill>
              <a:prstDash val="solid"/>
              <a:round/>
              <a:headEnd type="none" w="med" len="med"/>
              <a:tailEnd type="none" w="med" len="med"/>
            </a:ln>
          </p:spPr>
        </p:cxnSp>
        <p:sp>
          <p:nvSpPr>
            <p:cNvPr id="48" name="Google Shape;548;p48">
              <a:extLst>
                <a:ext uri="{FF2B5EF4-FFF2-40B4-BE49-F238E27FC236}">
                  <a16:creationId xmlns:a16="http://schemas.microsoft.com/office/drawing/2014/main" id="{1115853F-5002-4F0E-7EAE-11E801B30A31}"/>
                </a:ext>
              </a:extLst>
            </p:cNvPr>
            <p:cNvSpPr txBox="1"/>
            <p:nvPr/>
          </p:nvSpPr>
          <p:spPr>
            <a:xfrm>
              <a:off x="9529893" y="5341096"/>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cxnSp>
          <p:nvCxnSpPr>
            <p:cNvPr id="49" name="Google Shape;549;p48">
              <a:extLst>
                <a:ext uri="{FF2B5EF4-FFF2-40B4-BE49-F238E27FC236}">
                  <a16:creationId xmlns:a16="http://schemas.microsoft.com/office/drawing/2014/main" id="{6EDFFD37-E44C-866A-85BF-445907AA8D47}"/>
                </a:ext>
              </a:extLst>
            </p:cNvPr>
            <p:cNvCxnSpPr/>
            <p:nvPr/>
          </p:nvCxnSpPr>
          <p:spPr>
            <a:xfrm>
              <a:off x="7110459" y="3825196"/>
              <a:ext cx="3007800" cy="441900"/>
            </a:xfrm>
            <a:prstGeom prst="straightConnector1">
              <a:avLst/>
            </a:prstGeom>
            <a:noFill/>
            <a:ln w="19050" cap="flat" cmpd="sng">
              <a:solidFill>
                <a:srgbClr val="000000"/>
              </a:solidFill>
              <a:prstDash val="solid"/>
              <a:round/>
              <a:headEnd type="none" w="med" len="med"/>
              <a:tailEnd type="triangle" w="med" len="med"/>
            </a:ln>
          </p:spPr>
        </p:cxnSp>
        <p:sp>
          <p:nvSpPr>
            <p:cNvPr id="50" name="Google Shape;550;p48">
              <a:extLst>
                <a:ext uri="{FF2B5EF4-FFF2-40B4-BE49-F238E27FC236}">
                  <a16:creationId xmlns:a16="http://schemas.microsoft.com/office/drawing/2014/main" id="{DCEE0230-C985-5CAB-1D1E-AF9DF220FD2F}"/>
                </a:ext>
              </a:extLst>
            </p:cNvPr>
            <p:cNvSpPr txBox="1"/>
            <p:nvPr/>
          </p:nvSpPr>
          <p:spPr>
            <a:xfrm>
              <a:off x="10199433" y="2864522"/>
              <a:ext cx="1825015" cy="609383"/>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b="1" dirty="0">
                  <a:solidFill>
                    <a:schemeClr val="accent2"/>
                  </a:solidFill>
                  <a:latin typeface="Roboto"/>
                  <a:ea typeface="Roboto"/>
                  <a:cs typeface="Roboto"/>
                  <a:sym typeface="Roboto"/>
                </a:rPr>
                <a:t>✗     </a:t>
              </a:r>
              <a:r>
                <a:rPr lang="en" dirty="0">
                  <a:solidFill>
                    <a:schemeClr val="accent2"/>
                  </a:solidFill>
                  <a:latin typeface="Roboto"/>
                  <a:ea typeface="Roboto"/>
                  <a:cs typeface="Roboto"/>
                  <a:sym typeface="Roboto"/>
                </a:rPr>
                <a:t>Bad checksum</a:t>
              </a:r>
              <a:endParaRPr dirty="0">
                <a:solidFill>
                  <a:schemeClr val="accent2"/>
                </a:solidFill>
                <a:latin typeface="Roboto"/>
                <a:ea typeface="Roboto"/>
                <a:cs typeface="Roboto"/>
                <a:sym typeface="Roboto"/>
              </a:endParaRPr>
            </a:p>
          </p:txBody>
        </p:sp>
        <p:sp>
          <p:nvSpPr>
            <p:cNvPr id="51" name="Google Shape;551;p48">
              <a:extLst>
                <a:ext uri="{FF2B5EF4-FFF2-40B4-BE49-F238E27FC236}">
                  <a16:creationId xmlns:a16="http://schemas.microsoft.com/office/drawing/2014/main" id="{7E2CFDB2-7054-763F-9061-69BA21758FB9}"/>
                </a:ext>
              </a:extLst>
            </p:cNvPr>
            <p:cNvSpPr/>
            <p:nvPr/>
          </p:nvSpPr>
          <p:spPr>
            <a:xfrm rot="501261">
              <a:off x="8478716" y="2658191"/>
              <a:ext cx="216801" cy="289309"/>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52" name="Google Shape;552;p48">
              <a:extLst>
                <a:ext uri="{FF2B5EF4-FFF2-40B4-BE49-F238E27FC236}">
                  <a16:creationId xmlns:a16="http://schemas.microsoft.com/office/drawing/2014/main" id="{8A578337-6418-DB13-4D17-79346D007452}"/>
                </a:ext>
              </a:extLst>
            </p:cNvPr>
            <p:cNvSpPr/>
            <p:nvPr/>
          </p:nvSpPr>
          <p:spPr>
            <a:xfrm>
              <a:off x="8470434" y="2678639"/>
              <a:ext cx="233457" cy="239152"/>
            </a:xfrm>
            <a:custGeom>
              <a:avLst/>
              <a:gdLst/>
              <a:ahLst/>
              <a:cxnLst/>
              <a:rect l="l" t="t" r="r" b="b"/>
              <a:pathLst>
                <a:path w="8859" h="9239" extrusionOk="0">
                  <a:moveTo>
                    <a:pt x="0" y="4191"/>
                  </a:moveTo>
                  <a:lnTo>
                    <a:pt x="3810" y="0"/>
                  </a:lnTo>
                  <a:lnTo>
                    <a:pt x="6001" y="9239"/>
                  </a:lnTo>
                  <a:lnTo>
                    <a:pt x="8859" y="5429"/>
                  </a:lnTo>
                </a:path>
              </a:pathLst>
            </a:custGeom>
            <a:noFill/>
            <a:ln w="19050" cap="flat" cmpd="sng">
              <a:solidFill>
                <a:srgbClr val="000000"/>
              </a:solidFill>
              <a:prstDash val="solid"/>
              <a:round/>
              <a:headEnd type="none" w="med" len="med"/>
              <a:tailEnd type="none" w="med" len="med"/>
            </a:ln>
          </p:spPr>
          <p:txBody>
            <a:bodyPr/>
            <a:lstStyle/>
            <a:p>
              <a:endParaRPr lang="en-US"/>
            </a:p>
          </p:txBody>
        </p:sp>
        <p:sp>
          <p:nvSpPr>
            <p:cNvPr id="53" name="Google Shape;553;p48">
              <a:extLst>
                <a:ext uri="{FF2B5EF4-FFF2-40B4-BE49-F238E27FC236}">
                  <a16:creationId xmlns:a16="http://schemas.microsoft.com/office/drawing/2014/main" id="{22F39A03-E1A3-247F-0F37-D01E66D27DA8}"/>
                </a:ext>
              </a:extLst>
            </p:cNvPr>
            <p:cNvSpPr txBox="1"/>
            <p:nvPr/>
          </p:nvSpPr>
          <p:spPr>
            <a:xfrm>
              <a:off x="5688434" y="3690197"/>
              <a:ext cx="1104900"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Timeout!</a:t>
              </a:r>
              <a:endParaRPr dirty="0">
                <a:solidFill>
                  <a:schemeClr val="accent2"/>
                </a:solidFill>
                <a:latin typeface="Roboto"/>
                <a:ea typeface="Roboto"/>
                <a:cs typeface="Roboto"/>
                <a:sym typeface="Roboto"/>
              </a:endParaRPr>
            </a:p>
          </p:txBody>
        </p:sp>
        <p:cxnSp>
          <p:nvCxnSpPr>
            <p:cNvPr id="54" name="Google Shape;554;p48">
              <a:extLst>
                <a:ext uri="{FF2B5EF4-FFF2-40B4-BE49-F238E27FC236}">
                  <a16:creationId xmlns:a16="http://schemas.microsoft.com/office/drawing/2014/main" id="{00D3E8D5-FA9C-3B4B-CC35-8D58A05D7ADD}"/>
                </a:ext>
              </a:extLst>
            </p:cNvPr>
            <p:cNvCxnSpPr>
              <a:cxnSpLocks/>
              <a:stCxn id="53" idx="3"/>
            </p:cNvCxnSpPr>
            <p:nvPr/>
          </p:nvCxnSpPr>
          <p:spPr>
            <a:xfrm flipV="1">
              <a:off x="6793334" y="3825647"/>
              <a:ext cx="279000" cy="30743"/>
            </a:xfrm>
            <a:prstGeom prst="straightConnector1">
              <a:avLst/>
            </a:prstGeom>
            <a:noFill/>
            <a:ln w="9525" cap="flat" cmpd="sng">
              <a:solidFill>
                <a:schemeClr val="accent2"/>
              </a:solidFill>
              <a:prstDash val="solid"/>
              <a:round/>
              <a:headEnd type="none" w="med" len="med"/>
              <a:tailEnd type="triangle" w="med" len="med"/>
            </a:ln>
          </p:spPr>
        </p:cxnSp>
      </p:grpSp>
    </p:spTree>
    <p:extLst>
      <p:ext uri="{BB962C8B-B14F-4D97-AF65-F5344CB8AC3E}">
        <p14:creationId xmlns:p14="http://schemas.microsoft.com/office/powerpoint/2010/main" val="1136538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BE512-60E9-3EEA-B5F8-F0E2922F91DE}"/>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6049053B-484E-31E3-042E-ED5ADEA1998A}"/>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Designing Reliability for a Single Packet </a:t>
            </a:r>
          </a:p>
        </p:txBody>
      </p:sp>
      <p:sp>
        <p:nvSpPr>
          <p:cNvPr id="4" name="TextBox 3">
            <a:extLst>
              <a:ext uri="{FF2B5EF4-FFF2-40B4-BE49-F238E27FC236}">
                <a16:creationId xmlns:a16="http://schemas.microsoft.com/office/drawing/2014/main" id="{9DD81C3A-F667-3D39-A9EA-B4A6A5393F10}"/>
              </a:ext>
            </a:extLst>
          </p:cNvPr>
          <p:cNvSpPr txBox="1"/>
          <p:nvPr/>
        </p:nvSpPr>
        <p:spPr>
          <a:xfrm>
            <a:off x="167535" y="1676199"/>
            <a:ext cx="6060356" cy="1277273"/>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3 </a:t>
            </a:r>
            <a:r>
              <a:rPr lang="en-US" sz="2400" dirty="0"/>
              <a:t>-  Packets can be delayed: </a:t>
            </a:r>
          </a:p>
          <a:p>
            <a:pPr marL="742950" lvl="1" indent="-285750">
              <a:spcAft>
                <a:spcPts val="600"/>
              </a:spcAft>
              <a:buFont typeface="Arial" panose="020B0604020202020204" pitchFamily="34" charset="0"/>
              <a:buChar char="•"/>
            </a:pPr>
            <a:r>
              <a:rPr lang="en-US" sz="2400" dirty="0"/>
              <a:t>Minor delay: No problem. The ack still arrives before the timeout.</a:t>
            </a:r>
          </a:p>
        </p:txBody>
      </p:sp>
      <p:grpSp>
        <p:nvGrpSpPr>
          <p:cNvPr id="14" name="Group 13">
            <a:extLst>
              <a:ext uri="{FF2B5EF4-FFF2-40B4-BE49-F238E27FC236}">
                <a16:creationId xmlns:a16="http://schemas.microsoft.com/office/drawing/2014/main" id="{3A90EF3D-0453-715B-58AF-A9B0B58317AB}"/>
              </a:ext>
            </a:extLst>
          </p:cNvPr>
          <p:cNvGrpSpPr/>
          <p:nvPr/>
        </p:nvGrpSpPr>
        <p:grpSpPr>
          <a:xfrm>
            <a:off x="7204921" y="2120496"/>
            <a:ext cx="4173859" cy="3214300"/>
            <a:chOff x="7104713" y="2120496"/>
            <a:chExt cx="4173859" cy="3214300"/>
          </a:xfrm>
        </p:grpSpPr>
        <p:cxnSp>
          <p:nvCxnSpPr>
            <p:cNvPr id="3" name="Google Shape;559;p49">
              <a:extLst>
                <a:ext uri="{FF2B5EF4-FFF2-40B4-BE49-F238E27FC236}">
                  <a16:creationId xmlns:a16="http://schemas.microsoft.com/office/drawing/2014/main" id="{35A616EB-A3B6-FD37-3E88-A0F84EBEAA01}"/>
                </a:ext>
              </a:extLst>
            </p:cNvPr>
            <p:cNvCxnSpPr/>
            <p:nvPr/>
          </p:nvCxnSpPr>
          <p:spPr>
            <a:xfrm>
              <a:off x="9098038" y="2689172"/>
              <a:ext cx="1568700" cy="215100"/>
            </a:xfrm>
            <a:prstGeom prst="straightConnector1">
              <a:avLst/>
            </a:prstGeom>
            <a:noFill/>
            <a:ln w="19050" cap="flat" cmpd="sng">
              <a:solidFill>
                <a:srgbClr val="000000"/>
              </a:solidFill>
              <a:prstDash val="solid"/>
              <a:round/>
              <a:headEnd type="none" w="med" len="med"/>
              <a:tailEnd type="triangle" w="med" len="med"/>
            </a:ln>
          </p:spPr>
        </p:cxnSp>
        <p:grpSp>
          <p:nvGrpSpPr>
            <p:cNvPr id="5" name="Google Shape;560;p49">
              <a:extLst>
                <a:ext uri="{FF2B5EF4-FFF2-40B4-BE49-F238E27FC236}">
                  <a16:creationId xmlns:a16="http://schemas.microsoft.com/office/drawing/2014/main" id="{FE38E316-9515-8EC7-C42D-0279E1FA1AD2}"/>
                </a:ext>
              </a:extLst>
            </p:cNvPr>
            <p:cNvGrpSpPr/>
            <p:nvPr/>
          </p:nvGrpSpPr>
          <p:grpSpPr>
            <a:xfrm>
              <a:off x="7659113" y="2953472"/>
              <a:ext cx="3015000" cy="530546"/>
              <a:chOff x="3039475" y="2514600"/>
              <a:chExt cx="3015000" cy="530546"/>
            </a:xfrm>
          </p:grpSpPr>
          <p:cxnSp>
            <p:nvCxnSpPr>
              <p:cNvPr id="6" name="Google Shape;561;p49">
                <a:extLst>
                  <a:ext uri="{FF2B5EF4-FFF2-40B4-BE49-F238E27FC236}">
                    <a16:creationId xmlns:a16="http://schemas.microsoft.com/office/drawing/2014/main" id="{984F7936-B40E-37A4-8997-A666C74D8D5C}"/>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7" name="Google Shape;562;p49">
                <a:extLst>
                  <a:ext uri="{FF2B5EF4-FFF2-40B4-BE49-F238E27FC236}">
                    <a16:creationId xmlns:a16="http://schemas.microsoft.com/office/drawing/2014/main" id="{8A614ABE-666B-275D-28EC-CC0386BE8C8B}"/>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8" name="Google Shape;565;p49">
              <a:extLst>
                <a:ext uri="{FF2B5EF4-FFF2-40B4-BE49-F238E27FC236}">
                  <a16:creationId xmlns:a16="http://schemas.microsoft.com/office/drawing/2014/main" id="{9986E0D4-5AB7-2555-0CC2-3A23CBDF3C10}"/>
                </a:ext>
              </a:extLst>
            </p:cNvPr>
            <p:cNvCxnSpPr/>
            <p:nvPr/>
          </p:nvCxnSpPr>
          <p:spPr>
            <a:xfrm>
              <a:off x="7657163" y="2120496"/>
              <a:ext cx="0" cy="2943300"/>
            </a:xfrm>
            <a:prstGeom prst="straightConnector1">
              <a:avLst/>
            </a:prstGeom>
            <a:noFill/>
            <a:ln w="19050" cap="flat" cmpd="sng">
              <a:solidFill>
                <a:schemeClr val="dk2"/>
              </a:solidFill>
              <a:prstDash val="solid"/>
              <a:round/>
              <a:headEnd type="none" w="med" len="med"/>
              <a:tailEnd type="none" w="med" len="med"/>
            </a:ln>
          </p:spPr>
        </p:cxnSp>
        <p:sp>
          <p:nvSpPr>
            <p:cNvPr id="9" name="Google Shape;566;p49">
              <a:extLst>
                <a:ext uri="{FF2B5EF4-FFF2-40B4-BE49-F238E27FC236}">
                  <a16:creationId xmlns:a16="http://schemas.microsoft.com/office/drawing/2014/main" id="{9F4C097C-6119-2BA1-AFBE-BED623F26E89}"/>
                </a:ext>
              </a:extLst>
            </p:cNvPr>
            <p:cNvSpPr txBox="1"/>
            <p:nvPr/>
          </p:nvSpPr>
          <p:spPr>
            <a:xfrm>
              <a:off x="7104713" y="5063896"/>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cxnSp>
          <p:nvCxnSpPr>
            <p:cNvPr id="10" name="Google Shape;567;p49">
              <a:extLst>
                <a:ext uri="{FF2B5EF4-FFF2-40B4-BE49-F238E27FC236}">
                  <a16:creationId xmlns:a16="http://schemas.microsoft.com/office/drawing/2014/main" id="{13561FBD-D515-AB4D-B693-02D596A0EF5C}"/>
                </a:ext>
              </a:extLst>
            </p:cNvPr>
            <p:cNvCxnSpPr/>
            <p:nvPr/>
          </p:nvCxnSpPr>
          <p:spPr>
            <a:xfrm>
              <a:off x="10678563" y="2120496"/>
              <a:ext cx="0" cy="2943300"/>
            </a:xfrm>
            <a:prstGeom prst="straightConnector1">
              <a:avLst/>
            </a:prstGeom>
            <a:noFill/>
            <a:ln w="19050" cap="flat" cmpd="sng">
              <a:solidFill>
                <a:schemeClr val="dk2"/>
              </a:solidFill>
              <a:prstDash val="solid"/>
              <a:round/>
              <a:headEnd type="none" w="med" len="med"/>
              <a:tailEnd type="none" w="med" len="med"/>
            </a:ln>
          </p:spPr>
        </p:cxnSp>
        <p:sp>
          <p:nvSpPr>
            <p:cNvPr id="11" name="Google Shape;568;p49">
              <a:extLst>
                <a:ext uri="{FF2B5EF4-FFF2-40B4-BE49-F238E27FC236}">
                  <a16:creationId xmlns:a16="http://schemas.microsoft.com/office/drawing/2014/main" id="{853E8798-F738-70D1-C91C-4044EAB3384E}"/>
                </a:ext>
              </a:extLst>
            </p:cNvPr>
            <p:cNvSpPr txBox="1"/>
            <p:nvPr/>
          </p:nvSpPr>
          <p:spPr>
            <a:xfrm>
              <a:off x="10078572" y="5063896"/>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cxnSp>
          <p:nvCxnSpPr>
            <p:cNvPr id="12" name="Google Shape;569;p49">
              <a:extLst>
                <a:ext uri="{FF2B5EF4-FFF2-40B4-BE49-F238E27FC236}">
                  <a16:creationId xmlns:a16="http://schemas.microsoft.com/office/drawing/2014/main" id="{45068303-86E6-49B6-0D43-2FF9E2986143}"/>
                </a:ext>
              </a:extLst>
            </p:cNvPr>
            <p:cNvCxnSpPr/>
            <p:nvPr/>
          </p:nvCxnSpPr>
          <p:spPr>
            <a:xfrm>
              <a:off x="7659138" y="2309746"/>
              <a:ext cx="1440000" cy="226500"/>
            </a:xfrm>
            <a:prstGeom prst="straightConnector1">
              <a:avLst/>
            </a:prstGeom>
            <a:noFill/>
            <a:ln w="19050" cap="flat" cmpd="sng">
              <a:solidFill>
                <a:srgbClr val="000000"/>
              </a:solidFill>
              <a:prstDash val="solid"/>
              <a:round/>
              <a:headEnd type="none" w="med" len="med"/>
              <a:tailEnd type="none" w="med" len="med"/>
            </a:ln>
          </p:spPr>
        </p:cxnSp>
        <p:cxnSp>
          <p:nvCxnSpPr>
            <p:cNvPr id="13" name="Google Shape;570;p49">
              <a:extLst>
                <a:ext uri="{FF2B5EF4-FFF2-40B4-BE49-F238E27FC236}">
                  <a16:creationId xmlns:a16="http://schemas.microsoft.com/office/drawing/2014/main" id="{B5844887-8BAB-0896-3823-A94F9C0CB8BF}"/>
                </a:ext>
              </a:extLst>
            </p:cNvPr>
            <p:cNvCxnSpPr/>
            <p:nvPr/>
          </p:nvCxnSpPr>
          <p:spPr>
            <a:xfrm>
              <a:off x="9090569" y="2527784"/>
              <a:ext cx="0" cy="170700"/>
            </a:xfrm>
            <a:prstGeom prst="straightConnector1">
              <a:avLst/>
            </a:prstGeom>
            <a:noFill/>
            <a:ln w="19050" cap="flat" cmpd="sng">
              <a:solidFill>
                <a:srgbClr val="000000"/>
              </a:solidFill>
              <a:prstDash val="solid"/>
              <a:round/>
              <a:headEnd type="none" w="med" len="med"/>
              <a:tailEnd type="none" w="med" len="med"/>
            </a:ln>
          </p:spPr>
        </p:cxnSp>
      </p:grpSp>
    </p:spTree>
    <p:extLst>
      <p:ext uri="{BB962C8B-B14F-4D97-AF65-F5344CB8AC3E}">
        <p14:creationId xmlns:p14="http://schemas.microsoft.com/office/powerpoint/2010/main" val="3965814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F0925-2125-EE9A-684D-9AB865AE9A08}"/>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CA973C50-997C-A6B9-353B-1F3717DB9CD5}"/>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Designing Reliability for a Single Packet </a:t>
            </a:r>
          </a:p>
        </p:txBody>
      </p:sp>
      <p:sp>
        <p:nvSpPr>
          <p:cNvPr id="4" name="TextBox 3">
            <a:extLst>
              <a:ext uri="{FF2B5EF4-FFF2-40B4-BE49-F238E27FC236}">
                <a16:creationId xmlns:a16="http://schemas.microsoft.com/office/drawing/2014/main" id="{3F1DA1F3-2188-5FAA-BB0E-90B7E0C9B5DF}"/>
              </a:ext>
            </a:extLst>
          </p:cNvPr>
          <p:cNvSpPr txBox="1"/>
          <p:nvPr/>
        </p:nvSpPr>
        <p:spPr>
          <a:xfrm>
            <a:off x="167535" y="1676199"/>
            <a:ext cx="6060356" cy="3801041"/>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3 </a:t>
            </a:r>
            <a:r>
              <a:rPr lang="en-US" sz="2400" dirty="0"/>
              <a:t>-  Packets can be delayed: </a:t>
            </a:r>
          </a:p>
          <a:p>
            <a:pPr marL="742950" lvl="1" indent="-285750">
              <a:spcAft>
                <a:spcPts val="600"/>
              </a:spcAft>
              <a:buFont typeface="Arial" panose="020B0604020202020204" pitchFamily="34" charset="0"/>
              <a:buChar char="•"/>
            </a:pPr>
            <a:r>
              <a:rPr lang="en-US" sz="2400" dirty="0"/>
              <a:t>Longer delay: Sender times out and resends</a:t>
            </a:r>
          </a:p>
          <a:p>
            <a:pPr marL="742950" lvl="1" indent="-285750">
              <a:spcAft>
                <a:spcPts val="600"/>
              </a:spcAft>
              <a:buFont typeface="Arial" panose="020B0604020202020204" pitchFamily="34" charset="0"/>
              <a:buChar char="•"/>
            </a:pPr>
            <a:r>
              <a:rPr lang="en-US" sz="2400" dirty="0"/>
              <a:t>Aka, premature timeout</a:t>
            </a:r>
          </a:p>
          <a:p>
            <a:pPr marL="742950" lvl="1" indent="-285750">
              <a:spcAft>
                <a:spcPts val="600"/>
              </a:spcAft>
              <a:buFont typeface="Arial" panose="020B0604020202020204" pitchFamily="34" charset="0"/>
              <a:buChar char="•"/>
            </a:pPr>
            <a:r>
              <a:rPr lang="en-US" sz="2400" dirty="0"/>
              <a:t>The sender receives two acks. That's fine </a:t>
            </a:r>
            <a:r>
              <a:rPr lang="en-US" sz="2400" dirty="0">
                <a:sym typeface="Wingdings" panose="05000000000000000000" pitchFamily="2" charset="2"/>
              </a:rPr>
              <a:t> The recipient will handle duplicate packets</a:t>
            </a:r>
            <a:endParaRPr lang="en-US" sz="2400" dirty="0"/>
          </a:p>
          <a:p>
            <a:pPr marL="742950" lvl="1" indent="-285750">
              <a:spcAft>
                <a:spcPts val="600"/>
              </a:spcAft>
              <a:buFont typeface="Arial" panose="020B0604020202020204" pitchFamily="34" charset="0"/>
              <a:buChar char="•"/>
            </a:pPr>
            <a:endParaRPr lang="en-US" sz="2400" dirty="0"/>
          </a:p>
          <a:p>
            <a:pPr marL="742950" lvl="1" indent="-285750">
              <a:spcAft>
                <a:spcPts val="600"/>
              </a:spcAft>
              <a:buFont typeface="Arial" panose="020B0604020202020204" pitchFamily="34" charset="0"/>
              <a:buChar char="•"/>
            </a:pPr>
            <a:endParaRPr lang="en-US" sz="2400" dirty="0"/>
          </a:p>
        </p:txBody>
      </p:sp>
      <p:cxnSp>
        <p:nvCxnSpPr>
          <p:cNvPr id="50" name="Google Shape;576;p50">
            <a:extLst>
              <a:ext uri="{FF2B5EF4-FFF2-40B4-BE49-F238E27FC236}">
                <a16:creationId xmlns:a16="http://schemas.microsoft.com/office/drawing/2014/main" id="{B907CFD1-354A-4315-31C8-DC95EA5CE649}"/>
              </a:ext>
            </a:extLst>
          </p:cNvPr>
          <p:cNvCxnSpPr/>
          <p:nvPr/>
        </p:nvCxnSpPr>
        <p:spPr>
          <a:xfrm>
            <a:off x="9595866" y="3494900"/>
            <a:ext cx="1568700" cy="215100"/>
          </a:xfrm>
          <a:prstGeom prst="straightConnector1">
            <a:avLst/>
          </a:prstGeom>
          <a:noFill/>
          <a:ln w="19050" cap="flat" cmpd="sng">
            <a:solidFill>
              <a:srgbClr val="000000"/>
            </a:solidFill>
            <a:prstDash val="solid"/>
            <a:round/>
            <a:headEnd type="none" w="med" len="med"/>
            <a:tailEnd type="triangle" w="med" len="med"/>
          </a:ln>
        </p:spPr>
      </p:cxnSp>
      <p:grpSp>
        <p:nvGrpSpPr>
          <p:cNvPr id="51" name="Google Shape;577;p50">
            <a:extLst>
              <a:ext uri="{FF2B5EF4-FFF2-40B4-BE49-F238E27FC236}">
                <a16:creationId xmlns:a16="http://schemas.microsoft.com/office/drawing/2014/main" id="{2ED9E566-1A91-6E54-326E-BEF3AC54F972}"/>
              </a:ext>
            </a:extLst>
          </p:cNvPr>
          <p:cNvGrpSpPr/>
          <p:nvPr/>
        </p:nvGrpSpPr>
        <p:grpSpPr>
          <a:xfrm>
            <a:off x="8156941" y="3759200"/>
            <a:ext cx="3015000" cy="530546"/>
            <a:chOff x="3039475" y="2514600"/>
            <a:chExt cx="3015000" cy="530546"/>
          </a:xfrm>
        </p:grpSpPr>
        <p:cxnSp>
          <p:nvCxnSpPr>
            <p:cNvPr id="52" name="Google Shape;578;p50">
              <a:extLst>
                <a:ext uri="{FF2B5EF4-FFF2-40B4-BE49-F238E27FC236}">
                  <a16:creationId xmlns:a16="http://schemas.microsoft.com/office/drawing/2014/main" id="{CB5C4C16-2814-89A0-B4E0-CA9C4ECAF3A4}"/>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53" name="Google Shape;579;p50">
              <a:extLst>
                <a:ext uri="{FF2B5EF4-FFF2-40B4-BE49-F238E27FC236}">
                  <a16:creationId xmlns:a16="http://schemas.microsoft.com/office/drawing/2014/main" id="{DF5B2387-0044-6503-C462-41EB3B60266E}"/>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54" name="Google Shape;581;p50">
            <a:extLst>
              <a:ext uri="{FF2B5EF4-FFF2-40B4-BE49-F238E27FC236}">
                <a16:creationId xmlns:a16="http://schemas.microsoft.com/office/drawing/2014/main" id="{7BC53B74-1B44-DF57-1941-D1992B5CD10A}"/>
              </a:ext>
            </a:extLst>
          </p:cNvPr>
          <p:cNvCxnSpPr/>
          <p:nvPr/>
        </p:nvCxnSpPr>
        <p:spPr>
          <a:xfrm>
            <a:off x="8154991" y="2316624"/>
            <a:ext cx="0" cy="2943300"/>
          </a:xfrm>
          <a:prstGeom prst="straightConnector1">
            <a:avLst/>
          </a:prstGeom>
          <a:noFill/>
          <a:ln w="19050" cap="flat" cmpd="sng">
            <a:solidFill>
              <a:schemeClr val="dk2"/>
            </a:solidFill>
            <a:prstDash val="solid"/>
            <a:round/>
            <a:headEnd type="none" w="med" len="med"/>
            <a:tailEnd type="none" w="med" len="med"/>
          </a:ln>
        </p:spPr>
      </p:cxnSp>
      <p:sp>
        <p:nvSpPr>
          <p:cNvPr id="55" name="Google Shape;582;p50">
            <a:extLst>
              <a:ext uri="{FF2B5EF4-FFF2-40B4-BE49-F238E27FC236}">
                <a16:creationId xmlns:a16="http://schemas.microsoft.com/office/drawing/2014/main" id="{35B53675-195C-4267-A125-BDC40DCA6E00}"/>
              </a:ext>
            </a:extLst>
          </p:cNvPr>
          <p:cNvSpPr txBox="1"/>
          <p:nvPr/>
        </p:nvSpPr>
        <p:spPr>
          <a:xfrm>
            <a:off x="7602541" y="52600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cxnSp>
        <p:nvCxnSpPr>
          <p:cNvPr id="56" name="Google Shape;583;p50">
            <a:extLst>
              <a:ext uri="{FF2B5EF4-FFF2-40B4-BE49-F238E27FC236}">
                <a16:creationId xmlns:a16="http://schemas.microsoft.com/office/drawing/2014/main" id="{F89ECEAC-3F84-DCB0-807F-DD1930AB9CC7}"/>
              </a:ext>
            </a:extLst>
          </p:cNvPr>
          <p:cNvCxnSpPr/>
          <p:nvPr/>
        </p:nvCxnSpPr>
        <p:spPr>
          <a:xfrm>
            <a:off x="11176391" y="2316624"/>
            <a:ext cx="0" cy="2943300"/>
          </a:xfrm>
          <a:prstGeom prst="straightConnector1">
            <a:avLst/>
          </a:prstGeom>
          <a:noFill/>
          <a:ln w="19050" cap="flat" cmpd="sng">
            <a:solidFill>
              <a:schemeClr val="dk2"/>
            </a:solidFill>
            <a:prstDash val="solid"/>
            <a:round/>
            <a:headEnd type="none" w="med" len="med"/>
            <a:tailEnd type="none" w="med" len="med"/>
          </a:ln>
        </p:spPr>
      </p:cxnSp>
      <p:sp>
        <p:nvSpPr>
          <p:cNvPr id="57" name="Google Shape;584;p50">
            <a:extLst>
              <a:ext uri="{FF2B5EF4-FFF2-40B4-BE49-F238E27FC236}">
                <a16:creationId xmlns:a16="http://schemas.microsoft.com/office/drawing/2014/main" id="{CE830AAE-D2EF-39E2-D083-3EB67ED88DF7}"/>
              </a:ext>
            </a:extLst>
          </p:cNvPr>
          <p:cNvSpPr txBox="1"/>
          <p:nvPr/>
        </p:nvSpPr>
        <p:spPr>
          <a:xfrm>
            <a:off x="10576400" y="52600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cxnSp>
        <p:nvCxnSpPr>
          <p:cNvPr id="58" name="Google Shape;585;p50">
            <a:extLst>
              <a:ext uri="{FF2B5EF4-FFF2-40B4-BE49-F238E27FC236}">
                <a16:creationId xmlns:a16="http://schemas.microsoft.com/office/drawing/2014/main" id="{4BECFB84-2D6D-DF8C-D5B0-BAACB3005C77}"/>
              </a:ext>
            </a:extLst>
          </p:cNvPr>
          <p:cNvCxnSpPr/>
          <p:nvPr/>
        </p:nvCxnSpPr>
        <p:spPr>
          <a:xfrm>
            <a:off x="8156966" y="2505874"/>
            <a:ext cx="1440000" cy="226500"/>
          </a:xfrm>
          <a:prstGeom prst="straightConnector1">
            <a:avLst/>
          </a:prstGeom>
          <a:noFill/>
          <a:ln w="19050" cap="flat" cmpd="sng">
            <a:solidFill>
              <a:srgbClr val="000000"/>
            </a:solidFill>
            <a:prstDash val="solid"/>
            <a:round/>
            <a:headEnd type="none" w="med" len="med"/>
            <a:tailEnd type="none" w="med" len="med"/>
          </a:ln>
        </p:spPr>
      </p:cxnSp>
      <p:cxnSp>
        <p:nvCxnSpPr>
          <p:cNvPr id="59" name="Google Shape;586;p50">
            <a:extLst>
              <a:ext uri="{FF2B5EF4-FFF2-40B4-BE49-F238E27FC236}">
                <a16:creationId xmlns:a16="http://schemas.microsoft.com/office/drawing/2014/main" id="{CECFA2F6-22A7-A43C-FCBF-0C98A02ADD27}"/>
              </a:ext>
            </a:extLst>
          </p:cNvPr>
          <p:cNvCxnSpPr/>
          <p:nvPr/>
        </p:nvCxnSpPr>
        <p:spPr>
          <a:xfrm>
            <a:off x="9588397" y="2723912"/>
            <a:ext cx="0" cy="780900"/>
          </a:xfrm>
          <a:prstGeom prst="straightConnector1">
            <a:avLst/>
          </a:prstGeom>
          <a:noFill/>
          <a:ln w="19050" cap="flat" cmpd="sng">
            <a:solidFill>
              <a:srgbClr val="000000"/>
            </a:solidFill>
            <a:prstDash val="solid"/>
            <a:round/>
            <a:headEnd type="none" w="med" len="med"/>
            <a:tailEnd type="none" w="med" len="med"/>
          </a:ln>
        </p:spPr>
      </p:cxnSp>
      <p:sp>
        <p:nvSpPr>
          <p:cNvPr id="60" name="Google Shape;587;p50">
            <a:extLst>
              <a:ext uri="{FF2B5EF4-FFF2-40B4-BE49-F238E27FC236}">
                <a16:creationId xmlns:a16="http://schemas.microsoft.com/office/drawing/2014/main" id="{196A0C8E-E2EC-83AD-36F1-C14F12805FDA}"/>
              </a:ext>
            </a:extLst>
          </p:cNvPr>
          <p:cNvSpPr txBox="1"/>
          <p:nvPr/>
        </p:nvSpPr>
        <p:spPr>
          <a:xfrm>
            <a:off x="6714117" y="3504812"/>
            <a:ext cx="1125724"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Timeout!</a:t>
            </a:r>
            <a:endParaRPr dirty="0">
              <a:solidFill>
                <a:schemeClr val="accent2"/>
              </a:solidFill>
              <a:latin typeface="Roboto"/>
              <a:ea typeface="Roboto"/>
              <a:cs typeface="Roboto"/>
              <a:sym typeface="Roboto"/>
            </a:endParaRPr>
          </a:p>
        </p:txBody>
      </p:sp>
      <p:cxnSp>
        <p:nvCxnSpPr>
          <p:cNvPr id="61" name="Google Shape;588;p50">
            <a:extLst>
              <a:ext uri="{FF2B5EF4-FFF2-40B4-BE49-F238E27FC236}">
                <a16:creationId xmlns:a16="http://schemas.microsoft.com/office/drawing/2014/main" id="{696D4FB7-8266-D6FE-A533-E461D1799313}"/>
              </a:ext>
            </a:extLst>
          </p:cNvPr>
          <p:cNvCxnSpPr>
            <a:cxnSpLocks/>
            <a:stCxn id="60" idx="3"/>
          </p:cNvCxnSpPr>
          <p:nvPr/>
        </p:nvCxnSpPr>
        <p:spPr>
          <a:xfrm>
            <a:off x="7839841" y="3671005"/>
            <a:ext cx="303325" cy="0"/>
          </a:xfrm>
          <a:prstGeom prst="straightConnector1">
            <a:avLst/>
          </a:prstGeom>
          <a:noFill/>
          <a:ln w="9525" cap="flat" cmpd="sng">
            <a:solidFill>
              <a:schemeClr val="accent2"/>
            </a:solidFill>
            <a:prstDash val="solid"/>
            <a:round/>
            <a:headEnd type="none" w="med" len="med"/>
            <a:tailEnd type="triangle" w="med" len="med"/>
          </a:ln>
        </p:spPr>
      </p:cxnSp>
      <p:cxnSp>
        <p:nvCxnSpPr>
          <p:cNvPr id="62" name="Google Shape;589;p50">
            <a:extLst>
              <a:ext uri="{FF2B5EF4-FFF2-40B4-BE49-F238E27FC236}">
                <a16:creationId xmlns:a16="http://schemas.microsoft.com/office/drawing/2014/main" id="{E9D08DCB-14C4-121E-2FAA-9E0E3D96BB9E}"/>
              </a:ext>
            </a:extLst>
          </p:cNvPr>
          <p:cNvCxnSpPr/>
          <p:nvPr/>
        </p:nvCxnSpPr>
        <p:spPr>
          <a:xfrm>
            <a:off x="8156966" y="3667924"/>
            <a:ext cx="3007800" cy="441900"/>
          </a:xfrm>
          <a:prstGeom prst="straightConnector1">
            <a:avLst/>
          </a:prstGeom>
          <a:noFill/>
          <a:ln w="19050" cap="flat" cmpd="sng">
            <a:solidFill>
              <a:srgbClr val="000000"/>
            </a:solidFill>
            <a:prstDash val="solid"/>
            <a:round/>
            <a:headEnd type="none" w="med" len="med"/>
            <a:tailEnd type="triangle" w="med" len="med"/>
          </a:ln>
        </p:spPr>
      </p:cxnSp>
      <p:grpSp>
        <p:nvGrpSpPr>
          <p:cNvPr id="63" name="Google Shape;590;p50">
            <a:extLst>
              <a:ext uri="{FF2B5EF4-FFF2-40B4-BE49-F238E27FC236}">
                <a16:creationId xmlns:a16="http://schemas.microsoft.com/office/drawing/2014/main" id="{97E186E7-890D-602A-752B-DA2168991A0B}"/>
              </a:ext>
            </a:extLst>
          </p:cNvPr>
          <p:cNvGrpSpPr/>
          <p:nvPr/>
        </p:nvGrpSpPr>
        <p:grpSpPr>
          <a:xfrm>
            <a:off x="8156941" y="4173066"/>
            <a:ext cx="3015000" cy="530546"/>
            <a:chOff x="3039475" y="2514600"/>
            <a:chExt cx="3015000" cy="530546"/>
          </a:xfrm>
        </p:grpSpPr>
        <p:cxnSp>
          <p:nvCxnSpPr>
            <p:cNvPr id="64" name="Google Shape;591;p50">
              <a:extLst>
                <a:ext uri="{FF2B5EF4-FFF2-40B4-BE49-F238E27FC236}">
                  <a16:creationId xmlns:a16="http://schemas.microsoft.com/office/drawing/2014/main" id="{1E81A885-D494-8F05-6221-A8DF695F1911}"/>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65" name="Google Shape;592;p50">
              <a:extLst>
                <a:ext uri="{FF2B5EF4-FFF2-40B4-BE49-F238E27FC236}">
                  <a16:creationId xmlns:a16="http://schemas.microsoft.com/office/drawing/2014/main" id="{016FF178-D254-E680-EA05-74AB55FD2A33}"/>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spTree>
    <p:extLst>
      <p:ext uri="{BB962C8B-B14F-4D97-AF65-F5344CB8AC3E}">
        <p14:creationId xmlns:p14="http://schemas.microsoft.com/office/powerpoint/2010/main" val="3193393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5929E-C348-16D8-FF0C-0F01960F3910}"/>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B85351E0-769B-4C2A-E44E-EA5EFA6191E5}"/>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Designing Reliability for a Single Packet </a:t>
            </a:r>
          </a:p>
        </p:txBody>
      </p:sp>
      <p:sp>
        <p:nvSpPr>
          <p:cNvPr id="4" name="TextBox 3">
            <a:extLst>
              <a:ext uri="{FF2B5EF4-FFF2-40B4-BE49-F238E27FC236}">
                <a16:creationId xmlns:a16="http://schemas.microsoft.com/office/drawing/2014/main" id="{FEFEAD33-BEF9-5919-8ADF-22F4DC23F152}"/>
              </a:ext>
            </a:extLst>
          </p:cNvPr>
          <p:cNvSpPr txBox="1"/>
          <p:nvPr/>
        </p:nvSpPr>
        <p:spPr>
          <a:xfrm>
            <a:off x="167535" y="1676199"/>
            <a:ext cx="6060356" cy="4170372"/>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4 </a:t>
            </a:r>
            <a:r>
              <a:rPr lang="en-US" sz="2400" dirty="0"/>
              <a:t>-  Packets can be duplicated: </a:t>
            </a:r>
          </a:p>
          <a:p>
            <a:pPr marL="742950" lvl="1" indent="-285750">
              <a:spcAft>
                <a:spcPts val="600"/>
              </a:spcAft>
              <a:buFont typeface="Arial" panose="020B0604020202020204" pitchFamily="34" charset="0"/>
              <a:buChar char="•"/>
            </a:pPr>
            <a:r>
              <a:rPr lang="en-US" sz="2400" dirty="0"/>
              <a:t>The recipient gets the packet twice, and the sender receives two acks</a:t>
            </a:r>
          </a:p>
          <a:p>
            <a:pPr marL="742950" lvl="1" indent="-285750">
              <a:spcAft>
                <a:spcPts val="600"/>
              </a:spcAft>
              <a:buFont typeface="Arial" panose="020B0604020202020204" pitchFamily="34" charset="0"/>
              <a:buChar char="•"/>
            </a:pPr>
            <a:r>
              <a:rPr lang="en-US" sz="2400" dirty="0"/>
              <a:t>Why would the network even duplicate a packet? Usually, because of link-level reliability gone wrong (very rare)</a:t>
            </a:r>
          </a:p>
          <a:p>
            <a:pPr marL="742950" lvl="1" indent="-285750">
              <a:spcAft>
                <a:spcPts val="600"/>
              </a:spcAft>
              <a:buFont typeface="Arial" panose="020B0604020202020204" pitchFamily="34" charset="0"/>
              <a:buChar char="•"/>
            </a:pPr>
            <a:r>
              <a:rPr lang="en-US" sz="2400" dirty="0">
                <a:sym typeface="Wingdings" panose="05000000000000000000" pitchFamily="2" charset="2"/>
              </a:rPr>
              <a:t>The recipient will handle duplicate packets</a:t>
            </a:r>
            <a:endParaRPr lang="en-US" sz="2400" dirty="0"/>
          </a:p>
          <a:p>
            <a:pPr marL="742950" lvl="1" indent="-285750">
              <a:spcAft>
                <a:spcPts val="600"/>
              </a:spcAft>
              <a:buFont typeface="Arial" panose="020B0604020202020204" pitchFamily="34" charset="0"/>
              <a:buChar char="•"/>
            </a:pPr>
            <a:endParaRPr lang="en-US" sz="2400" dirty="0"/>
          </a:p>
          <a:p>
            <a:pPr marL="742950" lvl="1" indent="-285750">
              <a:spcAft>
                <a:spcPts val="600"/>
              </a:spcAft>
              <a:buFont typeface="Arial" panose="020B0604020202020204" pitchFamily="34" charset="0"/>
              <a:buChar char="•"/>
            </a:pPr>
            <a:endParaRPr lang="en-US" sz="2400" dirty="0"/>
          </a:p>
        </p:txBody>
      </p:sp>
      <p:grpSp>
        <p:nvGrpSpPr>
          <p:cNvPr id="49" name="Group 48">
            <a:extLst>
              <a:ext uri="{FF2B5EF4-FFF2-40B4-BE49-F238E27FC236}">
                <a16:creationId xmlns:a16="http://schemas.microsoft.com/office/drawing/2014/main" id="{97180355-2928-F96B-9B81-953081BC8E27}"/>
              </a:ext>
            </a:extLst>
          </p:cNvPr>
          <p:cNvGrpSpPr/>
          <p:nvPr/>
        </p:nvGrpSpPr>
        <p:grpSpPr>
          <a:xfrm>
            <a:off x="7234875" y="2227724"/>
            <a:ext cx="4173859" cy="3214300"/>
            <a:chOff x="7234875" y="2227724"/>
            <a:chExt cx="4173859" cy="3214300"/>
          </a:xfrm>
        </p:grpSpPr>
        <p:grpSp>
          <p:nvGrpSpPr>
            <p:cNvPr id="36" name="Google Shape;598;p51">
              <a:extLst>
                <a:ext uri="{FF2B5EF4-FFF2-40B4-BE49-F238E27FC236}">
                  <a16:creationId xmlns:a16="http://schemas.microsoft.com/office/drawing/2014/main" id="{DE94E3EC-2099-4EFA-2C76-6EFE444FFC90}"/>
                </a:ext>
              </a:extLst>
            </p:cNvPr>
            <p:cNvGrpSpPr/>
            <p:nvPr/>
          </p:nvGrpSpPr>
          <p:grpSpPr>
            <a:xfrm>
              <a:off x="7789275" y="2908300"/>
              <a:ext cx="3015000" cy="530546"/>
              <a:chOff x="3039475" y="2514600"/>
              <a:chExt cx="3015000" cy="530546"/>
            </a:xfrm>
          </p:grpSpPr>
          <p:cxnSp>
            <p:nvCxnSpPr>
              <p:cNvPr id="37" name="Google Shape;599;p51">
                <a:extLst>
                  <a:ext uri="{FF2B5EF4-FFF2-40B4-BE49-F238E27FC236}">
                    <a16:creationId xmlns:a16="http://schemas.microsoft.com/office/drawing/2014/main" id="{6CC43E6F-95FE-656C-1C08-6D0DFA20CD61}"/>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38" name="Google Shape;600;p51">
                <a:extLst>
                  <a:ext uri="{FF2B5EF4-FFF2-40B4-BE49-F238E27FC236}">
                    <a16:creationId xmlns:a16="http://schemas.microsoft.com/office/drawing/2014/main" id="{FE5A7BDA-B24F-8F53-D2D8-3FB028889D49}"/>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39" name="Google Shape;602;p51">
              <a:extLst>
                <a:ext uri="{FF2B5EF4-FFF2-40B4-BE49-F238E27FC236}">
                  <a16:creationId xmlns:a16="http://schemas.microsoft.com/office/drawing/2014/main" id="{E2C6AACB-84DE-24D9-9B20-734058913551}"/>
                </a:ext>
              </a:extLst>
            </p:cNvPr>
            <p:cNvCxnSpPr/>
            <p:nvPr/>
          </p:nvCxnSpPr>
          <p:spPr>
            <a:xfrm>
              <a:off x="7787325" y="2227724"/>
              <a:ext cx="0" cy="2943300"/>
            </a:xfrm>
            <a:prstGeom prst="straightConnector1">
              <a:avLst/>
            </a:prstGeom>
            <a:noFill/>
            <a:ln w="19050" cap="flat" cmpd="sng">
              <a:solidFill>
                <a:schemeClr val="dk2"/>
              </a:solidFill>
              <a:prstDash val="solid"/>
              <a:round/>
              <a:headEnd type="none" w="med" len="med"/>
              <a:tailEnd type="none" w="med" len="med"/>
            </a:ln>
          </p:spPr>
        </p:cxnSp>
        <p:sp>
          <p:nvSpPr>
            <p:cNvPr id="40" name="Google Shape;603;p51">
              <a:extLst>
                <a:ext uri="{FF2B5EF4-FFF2-40B4-BE49-F238E27FC236}">
                  <a16:creationId xmlns:a16="http://schemas.microsoft.com/office/drawing/2014/main" id="{1BC3065C-3357-1AB7-2382-99BB2F225D6B}"/>
                </a:ext>
              </a:extLst>
            </p:cNvPr>
            <p:cNvSpPr txBox="1"/>
            <p:nvPr/>
          </p:nvSpPr>
          <p:spPr>
            <a:xfrm>
              <a:off x="7234875" y="51711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cxnSp>
          <p:nvCxnSpPr>
            <p:cNvPr id="41" name="Google Shape;604;p51">
              <a:extLst>
                <a:ext uri="{FF2B5EF4-FFF2-40B4-BE49-F238E27FC236}">
                  <a16:creationId xmlns:a16="http://schemas.microsoft.com/office/drawing/2014/main" id="{C3C4E9D4-EF93-E644-FB14-FE1C654604C8}"/>
                </a:ext>
              </a:extLst>
            </p:cNvPr>
            <p:cNvCxnSpPr/>
            <p:nvPr/>
          </p:nvCxnSpPr>
          <p:spPr>
            <a:xfrm>
              <a:off x="10808725" y="2227724"/>
              <a:ext cx="0" cy="2943300"/>
            </a:xfrm>
            <a:prstGeom prst="straightConnector1">
              <a:avLst/>
            </a:prstGeom>
            <a:noFill/>
            <a:ln w="19050" cap="flat" cmpd="sng">
              <a:solidFill>
                <a:schemeClr val="dk2"/>
              </a:solidFill>
              <a:prstDash val="solid"/>
              <a:round/>
              <a:headEnd type="none" w="med" len="med"/>
              <a:tailEnd type="none" w="med" len="med"/>
            </a:ln>
          </p:spPr>
        </p:cxnSp>
        <p:sp>
          <p:nvSpPr>
            <p:cNvPr id="42" name="Google Shape;605;p51">
              <a:extLst>
                <a:ext uri="{FF2B5EF4-FFF2-40B4-BE49-F238E27FC236}">
                  <a16:creationId xmlns:a16="http://schemas.microsoft.com/office/drawing/2014/main" id="{0AB63B9E-9F34-509A-F321-2E1CC5E27894}"/>
                </a:ext>
              </a:extLst>
            </p:cNvPr>
            <p:cNvSpPr txBox="1"/>
            <p:nvPr/>
          </p:nvSpPr>
          <p:spPr>
            <a:xfrm>
              <a:off x="10208734" y="51711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grpSp>
          <p:nvGrpSpPr>
            <p:cNvPr id="43" name="Google Shape;606;p51">
              <a:extLst>
                <a:ext uri="{FF2B5EF4-FFF2-40B4-BE49-F238E27FC236}">
                  <a16:creationId xmlns:a16="http://schemas.microsoft.com/office/drawing/2014/main" id="{3FE85403-17C9-EE8F-6006-A9C5414A8111}"/>
                </a:ext>
              </a:extLst>
            </p:cNvPr>
            <p:cNvGrpSpPr/>
            <p:nvPr/>
          </p:nvGrpSpPr>
          <p:grpSpPr>
            <a:xfrm>
              <a:off x="7789275" y="3245966"/>
              <a:ext cx="3015000" cy="530546"/>
              <a:chOff x="3039475" y="2514600"/>
              <a:chExt cx="3015000" cy="530546"/>
            </a:xfrm>
          </p:grpSpPr>
          <p:cxnSp>
            <p:nvCxnSpPr>
              <p:cNvPr id="44" name="Google Shape;607;p51">
                <a:extLst>
                  <a:ext uri="{FF2B5EF4-FFF2-40B4-BE49-F238E27FC236}">
                    <a16:creationId xmlns:a16="http://schemas.microsoft.com/office/drawing/2014/main" id="{3F27ABB4-C901-07E0-8C83-CC5DD4698212}"/>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45" name="Google Shape;608;p51">
                <a:extLst>
                  <a:ext uri="{FF2B5EF4-FFF2-40B4-BE49-F238E27FC236}">
                    <a16:creationId xmlns:a16="http://schemas.microsoft.com/office/drawing/2014/main" id="{2FB504F4-4D0F-6612-F02C-1381D260797F}"/>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46" name="Google Shape;609;p51">
              <a:extLst>
                <a:ext uri="{FF2B5EF4-FFF2-40B4-BE49-F238E27FC236}">
                  <a16:creationId xmlns:a16="http://schemas.microsoft.com/office/drawing/2014/main" id="{5B7E28D9-33B5-760F-CF38-8EB3D3FD2268}"/>
                </a:ext>
              </a:extLst>
            </p:cNvPr>
            <p:cNvCxnSpPr/>
            <p:nvPr/>
          </p:nvCxnSpPr>
          <p:spPr>
            <a:xfrm>
              <a:off x="7789300" y="2416974"/>
              <a:ext cx="3007800" cy="441900"/>
            </a:xfrm>
            <a:prstGeom prst="straightConnector1">
              <a:avLst/>
            </a:prstGeom>
            <a:noFill/>
            <a:ln w="19050" cap="flat" cmpd="sng">
              <a:solidFill>
                <a:srgbClr val="000000"/>
              </a:solidFill>
              <a:prstDash val="solid"/>
              <a:round/>
              <a:headEnd type="none" w="med" len="med"/>
              <a:tailEnd type="triangle" w="med" len="med"/>
            </a:ln>
          </p:spPr>
        </p:cxnSp>
        <p:cxnSp>
          <p:nvCxnSpPr>
            <p:cNvPr id="47" name="Google Shape;610;p51">
              <a:extLst>
                <a:ext uri="{FF2B5EF4-FFF2-40B4-BE49-F238E27FC236}">
                  <a16:creationId xmlns:a16="http://schemas.microsoft.com/office/drawing/2014/main" id="{D77917FA-E914-1BAC-7024-14EE130FBCC9}"/>
                </a:ext>
              </a:extLst>
            </p:cNvPr>
            <p:cNvCxnSpPr/>
            <p:nvPr/>
          </p:nvCxnSpPr>
          <p:spPr>
            <a:xfrm>
              <a:off x="9228200" y="2987739"/>
              <a:ext cx="1568700" cy="215100"/>
            </a:xfrm>
            <a:prstGeom prst="straightConnector1">
              <a:avLst/>
            </a:prstGeom>
            <a:noFill/>
            <a:ln w="19050" cap="flat" cmpd="sng">
              <a:solidFill>
                <a:srgbClr val="000000"/>
              </a:solidFill>
              <a:prstDash val="solid"/>
              <a:round/>
              <a:headEnd type="none" w="med" len="med"/>
              <a:tailEnd type="triangle" w="med" len="med"/>
            </a:ln>
          </p:spPr>
        </p:cxnSp>
        <p:cxnSp>
          <p:nvCxnSpPr>
            <p:cNvPr id="48" name="Google Shape;611;p51">
              <a:extLst>
                <a:ext uri="{FF2B5EF4-FFF2-40B4-BE49-F238E27FC236}">
                  <a16:creationId xmlns:a16="http://schemas.microsoft.com/office/drawing/2014/main" id="{B89A5FE0-3816-B5A2-D5FA-19B0043FC4E6}"/>
                </a:ext>
              </a:extLst>
            </p:cNvPr>
            <p:cNvCxnSpPr/>
            <p:nvPr/>
          </p:nvCxnSpPr>
          <p:spPr>
            <a:xfrm>
              <a:off x="9234150" y="2628820"/>
              <a:ext cx="0" cy="369000"/>
            </a:xfrm>
            <a:prstGeom prst="straightConnector1">
              <a:avLst/>
            </a:prstGeom>
            <a:noFill/>
            <a:ln w="19050" cap="flat" cmpd="sng">
              <a:solidFill>
                <a:srgbClr val="000000"/>
              </a:solidFill>
              <a:prstDash val="solid"/>
              <a:round/>
              <a:headEnd type="none" w="med" len="med"/>
              <a:tailEnd type="none" w="med" len="med"/>
            </a:ln>
          </p:spPr>
        </p:cxnSp>
      </p:grpSp>
    </p:spTree>
    <p:extLst>
      <p:ext uri="{BB962C8B-B14F-4D97-AF65-F5344CB8AC3E}">
        <p14:creationId xmlns:p14="http://schemas.microsoft.com/office/powerpoint/2010/main" val="22695194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950B6C-10CE-7934-F6AD-ECB771D2FA06}"/>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7F54EF39-0A91-CD40-D152-919578515FBA}"/>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Designing Reliability for Multiple Packets </a:t>
            </a:r>
          </a:p>
        </p:txBody>
      </p:sp>
      <p:sp>
        <p:nvSpPr>
          <p:cNvPr id="4" name="TextBox 3">
            <a:extLst>
              <a:ext uri="{FF2B5EF4-FFF2-40B4-BE49-F238E27FC236}">
                <a16:creationId xmlns:a16="http://schemas.microsoft.com/office/drawing/2014/main" id="{5FC40764-E968-DEA5-527B-6D5C02C6C4D6}"/>
              </a:ext>
            </a:extLst>
          </p:cNvPr>
          <p:cNvSpPr txBox="1"/>
          <p:nvPr/>
        </p:nvSpPr>
        <p:spPr>
          <a:xfrm>
            <a:off x="541049" y="1060010"/>
            <a:ext cx="10471890" cy="3262432"/>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5 </a:t>
            </a:r>
            <a:r>
              <a:rPr lang="en-US" sz="2400" dirty="0"/>
              <a:t>-  Packets can be reordered (</a:t>
            </a:r>
            <a:r>
              <a:rPr lang="en" sz="2400" dirty="0"/>
              <a:t>not relevant in single-packet case):</a:t>
            </a:r>
          </a:p>
          <a:p>
            <a:pPr marL="742950" lvl="1" indent="-285750">
              <a:spcAft>
                <a:spcPts val="600"/>
              </a:spcAft>
              <a:buFont typeface="Arial" panose="020B0604020202020204" pitchFamily="34" charset="0"/>
              <a:buChar char="•"/>
            </a:pPr>
            <a:r>
              <a:rPr lang="en" sz="2400" dirty="0"/>
              <a:t>For problem 1 to 4: We can use the single-packet solution repeatedly to support sending multiple packets</a:t>
            </a:r>
            <a:endParaRPr lang="en-US" sz="2400" dirty="0"/>
          </a:p>
          <a:p>
            <a:pPr marL="742950" lvl="1" indent="-285750">
              <a:spcAft>
                <a:spcPts val="600"/>
              </a:spcAft>
              <a:buFont typeface="Arial" panose="020B0604020202020204" pitchFamily="34" charset="0"/>
              <a:buChar char="•"/>
            </a:pPr>
            <a:r>
              <a:rPr lang="en-US" sz="2400" dirty="0"/>
              <a:t>One extra design component: </a:t>
            </a:r>
            <a:r>
              <a:rPr lang="en-US" sz="2400" b="1" dirty="0">
                <a:solidFill>
                  <a:srgbClr val="C00000"/>
                </a:solidFill>
              </a:rPr>
              <a:t>sequence numbers</a:t>
            </a:r>
          </a:p>
          <a:p>
            <a:pPr marL="1200150" lvl="2" indent="-285750">
              <a:spcAft>
                <a:spcPts val="600"/>
              </a:spcAft>
              <a:buFont typeface="Arial" panose="020B0604020202020204" pitchFamily="34" charset="0"/>
              <a:buChar char="•"/>
            </a:pPr>
            <a:r>
              <a:rPr lang="en-US" sz="2000" dirty="0"/>
              <a:t>Label each packet with a unique, increasing number</a:t>
            </a:r>
          </a:p>
          <a:p>
            <a:pPr marL="1200150" lvl="2" indent="-285750">
              <a:spcAft>
                <a:spcPts val="600"/>
              </a:spcAft>
              <a:buFont typeface="Arial" panose="020B0604020202020204" pitchFamily="34" charset="0"/>
              <a:buChar char="•"/>
            </a:pPr>
            <a:r>
              <a:rPr lang="en-US" sz="2000" dirty="0"/>
              <a:t>Label each ack with which numbered packet is being acked</a:t>
            </a:r>
          </a:p>
          <a:p>
            <a:pPr marL="1200150" lvl="2" indent="-285750">
              <a:spcAft>
                <a:spcPts val="600"/>
              </a:spcAft>
              <a:buFont typeface="Arial" panose="020B0604020202020204" pitchFamily="34" charset="0"/>
              <a:buChar char="•"/>
            </a:pPr>
            <a:r>
              <a:rPr lang="en-US" sz="2000" dirty="0"/>
              <a:t>Solve reordering – use numbers to reorder packets</a:t>
            </a:r>
          </a:p>
          <a:p>
            <a:pPr marL="1200150" lvl="2" indent="-285750">
              <a:spcAft>
                <a:spcPts val="600"/>
              </a:spcAft>
              <a:buFont typeface="Arial" panose="020B0604020202020204" pitchFamily="34" charset="0"/>
              <a:buChar char="•"/>
            </a:pPr>
            <a:r>
              <a:rPr lang="en-US" sz="2000" b="1" dirty="0">
                <a:solidFill>
                  <a:srgbClr val="C00000"/>
                </a:solidFill>
              </a:rPr>
              <a:t>Solve duplication – use numbers to identify duplicate packets</a:t>
            </a:r>
          </a:p>
        </p:txBody>
      </p:sp>
      <p:grpSp>
        <p:nvGrpSpPr>
          <p:cNvPr id="31" name="Group 30">
            <a:extLst>
              <a:ext uri="{FF2B5EF4-FFF2-40B4-BE49-F238E27FC236}">
                <a16:creationId xmlns:a16="http://schemas.microsoft.com/office/drawing/2014/main" id="{ACCAC6E1-76F9-2631-9172-049BB0038356}"/>
              </a:ext>
            </a:extLst>
          </p:cNvPr>
          <p:cNvGrpSpPr/>
          <p:nvPr/>
        </p:nvGrpSpPr>
        <p:grpSpPr>
          <a:xfrm>
            <a:off x="1485575" y="4541968"/>
            <a:ext cx="9220850" cy="2231447"/>
            <a:chOff x="1528175" y="4122387"/>
            <a:chExt cx="9220850" cy="2231447"/>
          </a:xfrm>
        </p:grpSpPr>
        <p:sp>
          <p:nvSpPr>
            <p:cNvPr id="3" name="Google Shape;637;p55">
              <a:extLst>
                <a:ext uri="{FF2B5EF4-FFF2-40B4-BE49-F238E27FC236}">
                  <a16:creationId xmlns:a16="http://schemas.microsoft.com/office/drawing/2014/main" id="{F5D26CA6-6296-B093-2933-AEF4E72F0ABF}"/>
                </a:ext>
              </a:extLst>
            </p:cNvPr>
            <p:cNvSpPr/>
            <p:nvPr/>
          </p:nvSpPr>
          <p:spPr>
            <a:xfrm>
              <a:off x="1528175" y="4449734"/>
              <a:ext cx="1371600" cy="1904100"/>
            </a:xfrm>
            <a:prstGeom prst="rect">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Sender</a:t>
              </a:r>
              <a:endParaRPr dirty="0">
                <a:latin typeface="Roboto"/>
                <a:ea typeface="Roboto"/>
                <a:cs typeface="Roboto"/>
                <a:sym typeface="Roboto"/>
              </a:endParaRPr>
            </a:p>
            <a:p>
              <a:pPr marL="0" lvl="0" indent="0" algn="ctr" rtl="0">
                <a:spcBef>
                  <a:spcPts val="0"/>
                </a:spcBef>
                <a:spcAft>
                  <a:spcPts val="0"/>
                </a:spcAft>
                <a:buNone/>
              </a:pPr>
              <a:r>
                <a:rPr lang="en" dirty="0">
                  <a:latin typeface="Roboto"/>
                  <a:ea typeface="Roboto"/>
                  <a:cs typeface="Roboto"/>
                  <a:sym typeface="Roboto"/>
                </a:rPr>
                <a:t>Application</a:t>
              </a:r>
              <a:endParaRPr dirty="0">
                <a:latin typeface="Roboto"/>
                <a:ea typeface="Roboto"/>
                <a:cs typeface="Roboto"/>
                <a:sym typeface="Roboto"/>
              </a:endParaRPr>
            </a:p>
          </p:txBody>
        </p:sp>
        <p:sp>
          <p:nvSpPr>
            <p:cNvPr id="5" name="Google Shape;638;p55">
              <a:extLst>
                <a:ext uri="{FF2B5EF4-FFF2-40B4-BE49-F238E27FC236}">
                  <a16:creationId xmlns:a16="http://schemas.microsoft.com/office/drawing/2014/main" id="{27692E61-4E04-EE3E-E38B-467F3EE092C5}"/>
                </a:ext>
              </a:extLst>
            </p:cNvPr>
            <p:cNvSpPr/>
            <p:nvPr/>
          </p:nvSpPr>
          <p:spPr>
            <a:xfrm>
              <a:off x="9377425" y="4427187"/>
              <a:ext cx="1371600" cy="1904100"/>
            </a:xfrm>
            <a:prstGeom prst="rect">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lvl="0" algn="ctr"/>
              <a:r>
                <a:rPr lang="en" dirty="0">
                  <a:latin typeface="Roboto"/>
                  <a:ea typeface="Roboto"/>
                  <a:cs typeface="Roboto"/>
                  <a:sym typeface="Roboto"/>
                </a:rPr>
                <a:t>Recipient</a:t>
              </a:r>
              <a:endParaRPr dirty="0">
                <a:latin typeface="Roboto"/>
                <a:ea typeface="Roboto"/>
                <a:cs typeface="Roboto"/>
                <a:sym typeface="Roboto"/>
              </a:endParaRPr>
            </a:p>
            <a:p>
              <a:pPr marL="0" lvl="0" indent="0" algn="ctr" rtl="0">
                <a:spcBef>
                  <a:spcPts val="0"/>
                </a:spcBef>
                <a:spcAft>
                  <a:spcPts val="0"/>
                </a:spcAft>
                <a:buNone/>
              </a:pPr>
              <a:r>
                <a:rPr lang="en" dirty="0">
                  <a:latin typeface="Roboto"/>
                  <a:ea typeface="Roboto"/>
                  <a:cs typeface="Roboto"/>
                  <a:sym typeface="Roboto"/>
                </a:rPr>
                <a:t>Application</a:t>
              </a:r>
              <a:endParaRPr dirty="0">
                <a:latin typeface="Roboto"/>
                <a:ea typeface="Roboto"/>
                <a:cs typeface="Roboto"/>
                <a:sym typeface="Roboto"/>
              </a:endParaRPr>
            </a:p>
          </p:txBody>
        </p:sp>
        <p:sp>
          <p:nvSpPr>
            <p:cNvPr id="9" name="Google Shape;642;p55">
              <a:extLst>
                <a:ext uri="{FF2B5EF4-FFF2-40B4-BE49-F238E27FC236}">
                  <a16:creationId xmlns:a16="http://schemas.microsoft.com/office/drawing/2014/main" id="{802FFC12-DF4C-08DD-D7D8-D7AB31E65C61}"/>
                </a:ext>
              </a:extLst>
            </p:cNvPr>
            <p:cNvSpPr/>
            <p:nvPr/>
          </p:nvSpPr>
          <p:spPr>
            <a:xfrm>
              <a:off x="3769174" y="5836599"/>
              <a:ext cx="1849005" cy="4572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4. was the style</a:t>
              </a:r>
              <a:endParaRPr>
                <a:latin typeface="Roboto"/>
                <a:ea typeface="Roboto"/>
                <a:cs typeface="Roboto"/>
                <a:sym typeface="Roboto"/>
              </a:endParaRPr>
            </a:p>
          </p:txBody>
        </p:sp>
        <p:sp>
          <p:nvSpPr>
            <p:cNvPr id="10" name="Google Shape;643;p55">
              <a:extLst>
                <a:ext uri="{FF2B5EF4-FFF2-40B4-BE49-F238E27FC236}">
                  <a16:creationId xmlns:a16="http://schemas.microsoft.com/office/drawing/2014/main" id="{C9B9EC84-2A56-2546-7834-C3F1DB457753}"/>
                </a:ext>
              </a:extLst>
            </p:cNvPr>
            <p:cNvSpPr/>
            <p:nvPr/>
          </p:nvSpPr>
          <p:spPr>
            <a:xfrm>
              <a:off x="3010990" y="4745431"/>
              <a:ext cx="1645920" cy="4572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5. at the time</a:t>
              </a:r>
              <a:endParaRPr>
                <a:latin typeface="Roboto"/>
                <a:ea typeface="Roboto"/>
                <a:cs typeface="Roboto"/>
                <a:sym typeface="Roboto"/>
              </a:endParaRPr>
            </a:p>
          </p:txBody>
        </p:sp>
        <p:grpSp>
          <p:nvGrpSpPr>
            <p:cNvPr id="25" name="Group 24">
              <a:extLst>
                <a:ext uri="{FF2B5EF4-FFF2-40B4-BE49-F238E27FC236}">
                  <a16:creationId xmlns:a16="http://schemas.microsoft.com/office/drawing/2014/main" id="{8781A9F8-575B-2CAD-7D4B-B326AF4D3927}"/>
                </a:ext>
              </a:extLst>
            </p:cNvPr>
            <p:cNvGrpSpPr/>
            <p:nvPr/>
          </p:nvGrpSpPr>
          <p:grpSpPr>
            <a:xfrm>
              <a:off x="4693676" y="4122387"/>
              <a:ext cx="2788305" cy="1556188"/>
              <a:chOff x="4693676" y="4122387"/>
              <a:chExt cx="2788305" cy="1556188"/>
            </a:xfrm>
          </p:grpSpPr>
          <p:sp>
            <p:nvSpPr>
              <p:cNvPr id="7" name="Google Shape;640;p55">
                <a:extLst>
                  <a:ext uri="{FF2B5EF4-FFF2-40B4-BE49-F238E27FC236}">
                    <a16:creationId xmlns:a16="http://schemas.microsoft.com/office/drawing/2014/main" id="{F5C12C61-E5F2-D503-D5D9-C41DEE256A94}"/>
                  </a:ext>
                </a:extLst>
              </p:cNvPr>
              <p:cNvSpPr/>
              <p:nvPr/>
            </p:nvSpPr>
            <p:spPr>
              <a:xfrm>
                <a:off x="4693676" y="5221375"/>
                <a:ext cx="1849005" cy="4572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2. onion to my</a:t>
                </a:r>
                <a:endParaRPr dirty="0">
                  <a:latin typeface="Roboto"/>
                  <a:ea typeface="Roboto"/>
                  <a:cs typeface="Roboto"/>
                  <a:sym typeface="Roboto"/>
                </a:endParaRPr>
              </a:p>
            </p:txBody>
          </p:sp>
          <p:sp>
            <p:nvSpPr>
              <p:cNvPr id="8" name="Google Shape;641;p55">
                <a:extLst>
                  <a:ext uri="{FF2B5EF4-FFF2-40B4-BE49-F238E27FC236}">
                    <a16:creationId xmlns:a16="http://schemas.microsoft.com/office/drawing/2014/main" id="{B1C7554C-B114-356F-EA93-DE58EDA1EF9E}"/>
                  </a:ext>
                </a:extLst>
              </p:cNvPr>
              <p:cNvSpPr/>
              <p:nvPr/>
            </p:nvSpPr>
            <p:spPr>
              <a:xfrm>
                <a:off x="5836061" y="4596755"/>
                <a:ext cx="1645920" cy="4572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3. belt, which</a:t>
                </a:r>
                <a:endParaRPr>
                  <a:latin typeface="Roboto"/>
                  <a:ea typeface="Roboto"/>
                  <a:cs typeface="Roboto"/>
                  <a:sym typeface="Roboto"/>
                </a:endParaRPr>
              </a:p>
            </p:txBody>
          </p:sp>
          <p:sp>
            <p:nvSpPr>
              <p:cNvPr id="14" name="Google Shape;647;p55">
                <a:extLst>
                  <a:ext uri="{FF2B5EF4-FFF2-40B4-BE49-F238E27FC236}">
                    <a16:creationId xmlns:a16="http://schemas.microsoft.com/office/drawing/2014/main" id="{7C50375A-9697-6452-3973-B04F0191D347}"/>
                  </a:ext>
                </a:extLst>
              </p:cNvPr>
              <p:cNvSpPr txBox="1"/>
              <p:nvPr/>
            </p:nvSpPr>
            <p:spPr>
              <a:xfrm>
                <a:off x="4906825" y="4122387"/>
                <a:ext cx="1019100" cy="6096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sz="1200">
                    <a:solidFill>
                      <a:schemeClr val="accent2"/>
                    </a:solidFill>
                    <a:latin typeface="Roboto"/>
                    <a:ea typeface="Roboto"/>
                    <a:cs typeface="Roboto"/>
                    <a:sym typeface="Roboto"/>
                  </a:rPr>
                  <a:t>Out of order. Use numbers to rearrange.</a:t>
                </a:r>
                <a:endParaRPr sz="1200">
                  <a:solidFill>
                    <a:schemeClr val="accent2"/>
                  </a:solidFill>
                  <a:latin typeface="Roboto"/>
                  <a:ea typeface="Roboto"/>
                  <a:cs typeface="Roboto"/>
                  <a:sym typeface="Roboto"/>
                </a:endParaRPr>
              </a:p>
            </p:txBody>
          </p:sp>
          <p:cxnSp>
            <p:nvCxnSpPr>
              <p:cNvPr id="15" name="Google Shape;648;p55">
                <a:extLst>
                  <a:ext uri="{FF2B5EF4-FFF2-40B4-BE49-F238E27FC236}">
                    <a16:creationId xmlns:a16="http://schemas.microsoft.com/office/drawing/2014/main" id="{3CC2FCE2-F423-240F-67A6-C5C4FF9D3217}"/>
                  </a:ext>
                </a:extLst>
              </p:cNvPr>
              <p:cNvCxnSpPr>
                <a:cxnSpLocks/>
                <a:stCxn id="14" idx="3"/>
                <a:endCxn id="8" idx="0"/>
              </p:cNvCxnSpPr>
              <p:nvPr/>
            </p:nvCxnSpPr>
            <p:spPr>
              <a:xfrm>
                <a:off x="5925925" y="4427187"/>
                <a:ext cx="733096" cy="169568"/>
              </a:xfrm>
              <a:prstGeom prst="straightConnector1">
                <a:avLst/>
              </a:prstGeom>
              <a:noFill/>
              <a:ln w="9525" cap="flat" cmpd="sng">
                <a:solidFill>
                  <a:schemeClr val="accent2"/>
                </a:solidFill>
                <a:prstDash val="solid"/>
                <a:round/>
                <a:headEnd type="none" w="med" len="med"/>
                <a:tailEnd type="triangle" w="med" len="med"/>
              </a:ln>
            </p:spPr>
          </p:cxnSp>
          <p:cxnSp>
            <p:nvCxnSpPr>
              <p:cNvPr id="16" name="Google Shape;649;p55">
                <a:extLst>
                  <a:ext uri="{FF2B5EF4-FFF2-40B4-BE49-F238E27FC236}">
                    <a16:creationId xmlns:a16="http://schemas.microsoft.com/office/drawing/2014/main" id="{EA973417-1AE2-894B-9300-E7EE03F763D7}"/>
                  </a:ext>
                </a:extLst>
              </p:cNvPr>
              <p:cNvCxnSpPr>
                <a:cxnSpLocks/>
                <a:stCxn id="14" idx="2"/>
                <a:endCxn id="7" idx="0"/>
              </p:cNvCxnSpPr>
              <p:nvPr/>
            </p:nvCxnSpPr>
            <p:spPr>
              <a:xfrm>
                <a:off x="5416375" y="4731987"/>
                <a:ext cx="201804" cy="489388"/>
              </a:xfrm>
              <a:prstGeom prst="straightConnector1">
                <a:avLst/>
              </a:prstGeom>
              <a:noFill/>
              <a:ln w="9525" cap="flat" cmpd="sng">
                <a:solidFill>
                  <a:schemeClr val="accent2"/>
                </a:solidFill>
                <a:prstDash val="solid"/>
                <a:round/>
                <a:headEnd type="none" w="med" len="med"/>
                <a:tailEnd type="triangle" w="med" len="med"/>
              </a:ln>
            </p:spPr>
          </p:cxnSp>
        </p:grpSp>
        <p:grpSp>
          <p:nvGrpSpPr>
            <p:cNvPr id="24" name="Group 23">
              <a:extLst>
                <a:ext uri="{FF2B5EF4-FFF2-40B4-BE49-F238E27FC236}">
                  <a16:creationId xmlns:a16="http://schemas.microsoft.com/office/drawing/2014/main" id="{51A788C0-3577-CF79-1447-39AF9DD3DBA4}"/>
                </a:ext>
              </a:extLst>
            </p:cNvPr>
            <p:cNvGrpSpPr/>
            <p:nvPr/>
          </p:nvGrpSpPr>
          <p:grpSpPr>
            <a:xfrm>
              <a:off x="7571845" y="4449734"/>
              <a:ext cx="1645920" cy="1778850"/>
              <a:chOff x="3226750" y="4688787"/>
              <a:chExt cx="1645920" cy="1778850"/>
            </a:xfrm>
          </p:grpSpPr>
          <p:sp>
            <p:nvSpPr>
              <p:cNvPr id="6" name="Google Shape;639;p55">
                <a:extLst>
                  <a:ext uri="{FF2B5EF4-FFF2-40B4-BE49-F238E27FC236}">
                    <a16:creationId xmlns:a16="http://schemas.microsoft.com/office/drawing/2014/main" id="{91812A69-D8E9-57BC-5D58-F2327BCDBB8E}"/>
                  </a:ext>
                </a:extLst>
              </p:cNvPr>
              <p:cNvSpPr/>
              <p:nvPr/>
            </p:nvSpPr>
            <p:spPr>
              <a:xfrm>
                <a:off x="3226750" y="4688787"/>
                <a:ext cx="1645920" cy="4604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1. So I tied an</a:t>
                </a:r>
                <a:endParaRPr dirty="0">
                  <a:latin typeface="Roboto"/>
                  <a:ea typeface="Roboto"/>
                  <a:cs typeface="Roboto"/>
                  <a:sym typeface="Roboto"/>
                </a:endParaRPr>
              </a:p>
            </p:txBody>
          </p:sp>
          <p:sp>
            <p:nvSpPr>
              <p:cNvPr id="11" name="Google Shape;644;p55">
                <a:extLst>
                  <a:ext uri="{FF2B5EF4-FFF2-40B4-BE49-F238E27FC236}">
                    <a16:creationId xmlns:a16="http://schemas.microsoft.com/office/drawing/2014/main" id="{2E17EB5A-DD35-9B3A-693E-C0E0048B895C}"/>
                  </a:ext>
                </a:extLst>
              </p:cNvPr>
              <p:cNvSpPr/>
              <p:nvPr/>
            </p:nvSpPr>
            <p:spPr>
              <a:xfrm>
                <a:off x="3226750" y="6010437"/>
                <a:ext cx="1645920" cy="457200"/>
              </a:xfrm>
              <a:prstGeom prst="roundRect">
                <a:avLst>
                  <a:gd name="adj" fmla="val 16667"/>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Roboto"/>
                    <a:ea typeface="Roboto"/>
                    <a:cs typeface="Roboto"/>
                    <a:sym typeface="Roboto"/>
                  </a:rPr>
                  <a:t>1. So I tied an</a:t>
                </a:r>
                <a:endParaRPr dirty="0">
                  <a:latin typeface="Roboto"/>
                  <a:ea typeface="Roboto"/>
                  <a:cs typeface="Roboto"/>
                  <a:sym typeface="Roboto"/>
                </a:endParaRPr>
              </a:p>
            </p:txBody>
          </p:sp>
          <p:sp>
            <p:nvSpPr>
              <p:cNvPr id="12" name="Google Shape;645;p55">
                <a:extLst>
                  <a:ext uri="{FF2B5EF4-FFF2-40B4-BE49-F238E27FC236}">
                    <a16:creationId xmlns:a16="http://schemas.microsoft.com/office/drawing/2014/main" id="{380AF479-2F18-D26C-AD88-A43F3D1C7FA3}"/>
                  </a:ext>
                </a:extLst>
              </p:cNvPr>
              <p:cNvSpPr txBox="1"/>
              <p:nvPr/>
            </p:nvSpPr>
            <p:spPr>
              <a:xfrm>
                <a:off x="3488381" y="5372699"/>
                <a:ext cx="1115100" cy="424800"/>
              </a:xfrm>
              <a:prstGeom prst="rect">
                <a:avLst/>
              </a:prstGeom>
              <a:noFill/>
              <a:ln>
                <a:noFill/>
              </a:ln>
            </p:spPr>
            <p:txBody>
              <a:bodyPr spcFirstLastPara="1" wrap="square" lIns="27425" tIns="27425" rIns="27425" bIns="27425" anchor="t" anchorCtr="0">
                <a:spAutoFit/>
              </a:bodyPr>
              <a:lstStyle/>
              <a:p>
                <a:pPr marL="0" lvl="0" indent="0" algn="ctr" rtl="0">
                  <a:spcBef>
                    <a:spcPts val="0"/>
                  </a:spcBef>
                  <a:spcAft>
                    <a:spcPts val="0"/>
                  </a:spcAft>
                  <a:buNone/>
                </a:pPr>
                <a:r>
                  <a:rPr lang="en" sz="1200" b="1" dirty="0">
                    <a:solidFill>
                      <a:schemeClr val="accent2"/>
                    </a:solidFill>
                    <a:latin typeface="Roboto"/>
                    <a:ea typeface="Roboto"/>
                    <a:cs typeface="Roboto"/>
                    <a:sym typeface="Roboto"/>
                  </a:rPr>
                  <a:t>Duplicates Same number</a:t>
                </a:r>
                <a:endParaRPr sz="1200" b="1" dirty="0">
                  <a:solidFill>
                    <a:schemeClr val="accent2"/>
                  </a:solidFill>
                  <a:latin typeface="Roboto"/>
                  <a:ea typeface="Roboto"/>
                  <a:cs typeface="Roboto"/>
                  <a:sym typeface="Roboto"/>
                </a:endParaRPr>
              </a:p>
            </p:txBody>
          </p:sp>
          <p:cxnSp>
            <p:nvCxnSpPr>
              <p:cNvPr id="13" name="Google Shape;646;p55">
                <a:extLst>
                  <a:ext uri="{FF2B5EF4-FFF2-40B4-BE49-F238E27FC236}">
                    <a16:creationId xmlns:a16="http://schemas.microsoft.com/office/drawing/2014/main" id="{24B799C1-F768-E72F-8FC3-32F48224008B}"/>
                  </a:ext>
                </a:extLst>
              </p:cNvPr>
              <p:cNvCxnSpPr>
                <a:cxnSpLocks/>
                <a:stCxn id="12" idx="0"/>
                <a:endCxn id="6" idx="2"/>
              </p:cNvCxnSpPr>
              <p:nvPr/>
            </p:nvCxnSpPr>
            <p:spPr>
              <a:xfrm flipV="1">
                <a:off x="4045931" y="5149187"/>
                <a:ext cx="3779" cy="223512"/>
              </a:xfrm>
              <a:prstGeom prst="straightConnector1">
                <a:avLst/>
              </a:prstGeom>
              <a:noFill/>
              <a:ln w="9525" cap="flat" cmpd="sng">
                <a:solidFill>
                  <a:schemeClr val="accent2"/>
                </a:solidFill>
                <a:prstDash val="solid"/>
                <a:round/>
                <a:headEnd type="none" w="med" len="med"/>
                <a:tailEnd type="triangle" w="med" len="med"/>
              </a:ln>
            </p:spPr>
          </p:cxnSp>
          <p:cxnSp>
            <p:nvCxnSpPr>
              <p:cNvPr id="17" name="Google Shape;650;p55">
                <a:extLst>
                  <a:ext uri="{FF2B5EF4-FFF2-40B4-BE49-F238E27FC236}">
                    <a16:creationId xmlns:a16="http://schemas.microsoft.com/office/drawing/2014/main" id="{843CF1C9-1BF8-68A6-C9A0-C4863846DFFA}"/>
                  </a:ext>
                </a:extLst>
              </p:cNvPr>
              <p:cNvCxnSpPr>
                <a:stCxn id="12" idx="2"/>
                <a:endCxn id="11" idx="0"/>
              </p:cNvCxnSpPr>
              <p:nvPr/>
            </p:nvCxnSpPr>
            <p:spPr>
              <a:xfrm>
                <a:off x="4045931" y="5797499"/>
                <a:ext cx="3779" cy="212938"/>
              </a:xfrm>
              <a:prstGeom prst="straightConnector1">
                <a:avLst/>
              </a:prstGeom>
              <a:noFill/>
              <a:ln w="9525" cap="flat" cmpd="sng">
                <a:solidFill>
                  <a:schemeClr val="accent2"/>
                </a:solidFill>
                <a:prstDash val="solid"/>
                <a:round/>
                <a:headEnd type="none" w="med" len="med"/>
                <a:tailEnd type="triangle" w="med" len="med"/>
              </a:ln>
            </p:spPr>
          </p:cxnSp>
        </p:grpSp>
      </p:grpSp>
    </p:spTree>
    <p:extLst>
      <p:ext uri="{BB962C8B-B14F-4D97-AF65-F5344CB8AC3E}">
        <p14:creationId xmlns:p14="http://schemas.microsoft.com/office/powerpoint/2010/main" val="17652660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8A501-8CFC-6C46-F672-024887CA9B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8F1FB3-475D-E69F-2321-DC02B6842433}"/>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509A835B-7167-F8E3-3734-0629DF302DEF}"/>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Reliable data transmission</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TCP implementation: TCP connection setup</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RTT estimation</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Byte notation, segments, sequence numbers &amp; ACK number</a:t>
            </a:r>
          </a:p>
          <a:p>
            <a:pPr marL="117475" indent="0">
              <a:spcBef>
                <a:spcPts val="800"/>
              </a:spcBef>
              <a:spcAft>
                <a:spcPts val="600"/>
              </a:spcAft>
              <a:buClr>
                <a:schemeClr val="bg1">
                  <a:lumMod val="85000"/>
                </a:schemeClr>
              </a:buClr>
              <a:buNone/>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3950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406;p39">
            <a:extLst>
              <a:ext uri="{FF2B5EF4-FFF2-40B4-BE49-F238E27FC236}">
                <a16:creationId xmlns:a16="http://schemas.microsoft.com/office/drawing/2014/main" id="{F9032149-74CF-8E15-3595-E75705F6CA48}"/>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TCP State</a:t>
            </a:r>
          </a:p>
        </p:txBody>
      </p:sp>
      <p:sp>
        <p:nvSpPr>
          <p:cNvPr id="3" name="Google Shape;793;p36">
            <a:extLst>
              <a:ext uri="{FF2B5EF4-FFF2-40B4-BE49-F238E27FC236}">
                <a16:creationId xmlns:a16="http://schemas.microsoft.com/office/drawing/2014/main" id="{601AB254-5306-ABB9-12F0-63BE27DA1FA8}"/>
              </a:ext>
            </a:extLst>
          </p:cNvPr>
          <p:cNvSpPr txBox="1">
            <a:spLocks/>
          </p:cNvSpPr>
          <p:nvPr/>
        </p:nvSpPr>
        <p:spPr>
          <a:xfrm>
            <a:off x="415599" y="1068948"/>
            <a:ext cx="11360799" cy="559489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i="1" dirty="0">
                <a:solidFill>
                  <a:srgbClr val="C00000"/>
                </a:solidFill>
              </a:rPr>
              <a:t>Reliability requires maintaining state at the end hosts</a:t>
            </a:r>
          </a:p>
          <a:p>
            <a:pPr>
              <a:spcBef>
                <a:spcPts val="600"/>
              </a:spcBef>
              <a:spcAft>
                <a:spcPts val="600"/>
              </a:spcAft>
            </a:pPr>
            <a:r>
              <a:rPr lang="en-US" sz="2400" b="1" dirty="0"/>
              <a:t>Sender</a:t>
            </a:r>
            <a:r>
              <a:rPr lang="en-US" sz="2400" dirty="0"/>
              <a:t> has to remember:</a:t>
            </a:r>
          </a:p>
          <a:p>
            <a:pPr lvl="1">
              <a:spcBef>
                <a:spcPts val="600"/>
              </a:spcBef>
              <a:spcAft>
                <a:spcPts val="600"/>
              </a:spcAft>
            </a:pPr>
            <a:r>
              <a:rPr lang="en-US" dirty="0"/>
              <a:t>Which packets have been sent and not acked?</a:t>
            </a:r>
          </a:p>
          <a:p>
            <a:pPr lvl="1">
              <a:spcBef>
                <a:spcPts val="600"/>
              </a:spcBef>
              <a:spcAft>
                <a:spcPts val="600"/>
              </a:spcAft>
            </a:pPr>
            <a:r>
              <a:rPr lang="en-US" dirty="0"/>
              <a:t>How much longer on the timer before I resend a packet?</a:t>
            </a:r>
          </a:p>
          <a:p>
            <a:pPr>
              <a:spcBef>
                <a:spcPts val="600"/>
              </a:spcBef>
              <a:spcAft>
                <a:spcPts val="600"/>
              </a:spcAft>
            </a:pPr>
            <a:r>
              <a:rPr lang="en-US" sz="2400" b="1" dirty="0"/>
              <a:t>Receiver</a:t>
            </a:r>
            <a:r>
              <a:rPr lang="en-US" sz="2400" dirty="0"/>
              <a:t> has to buffer the out-of-order packets</a:t>
            </a:r>
          </a:p>
          <a:p>
            <a:pPr marL="0" indent="0">
              <a:spcBef>
                <a:spcPts val="600"/>
              </a:spcBef>
              <a:spcAft>
                <a:spcPts val="600"/>
              </a:spcAft>
              <a:buNone/>
            </a:pPr>
            <a:endParaRPr lang="en-US" dirty="0"/>
          </a:p>
          <a:p>
            <a:pPr marL="0" indent="0">
              <a:spcBef>
                <a:spcPts val="600"/>
              </a:spcBef>
              <a:spcAft>
                <a:spcPts val="600"/>
              </a:spcAft>
              <a:buNone/>
            </a:pPr>
            <a:r>
              <a:rPr lang="en-US" sz="2400" i="1" dirty="0">
                <a:solidFill>
                  <a:srgbClr val="C00000"/>
                </a:solidFill>
              </a:rPr>
              <a:t>State is maintained at the end hosts (sender and receiver), not in the network</a:t>
            </a:r>
          </a:p>
          <a:p>
            <a:pPr>
              <a:spcBef>
                <a:spcPts val="600"/>
              </a:spcBef>
              <a:spcAft>
                <a:spcPts val="600"/>
              </a:spcAft>
            </a:pPr>
            <a:r>
              <a:rPr lang="en-US" sz="2400" dirty="0"/>
              <a:t>In each separate connection, both end hosts need to maintain state</a:t>
            </a:r>
          </a:p>
          <a:p>
            <a:pPr>
              <a:spcBef>
                <a:spcPts val="600"/>
              </a:spcBef>
              <a:spcAft>
                <a:spcPts val="600"/>
              </a:spcAft>
            </a:pPr>
            <a:r>
              <a:rPr lang="en-US" sz="2400" dirty="0"/>
              <a:t>How to build a connection?</a:t>
            </a:r>
          </a:p>
          <a:p>
            <a:pPr lvl="1">
              <a:spcBef>
                <a:spcPts val="600"/>
              </a:spcBef>
              <a:spcAft>
                <a:spcPts val="600"/>
              </a:spcAft>
            </a:pPr>
            <a:r>
              <a:rPr lang="en-US" dirty="0">
                <a:solidFill>
                  <a:srgbClr val="C00000"/>
                </a:solidFill>
              </a:rPr>
              <a:t>TCP 3-way handshake</a:t>
            </a:r>
          </a:p>
        </p:txBody>
      </p:sp>
    </p:spTree>
    <p:extLst>
      <p:ext uri="{BB962C8B-B14F-4D97-AF65-F5344CB8AC3E}">
        <p14:creationId xmlns:p14="http://schemas.microsoft.com/office/powerpoint/2010/main" val="13014743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99345" y="268136"/>
            <a:ext cx="11393310" cy="894622"/>
          </a:xfrm>
        </p:spPr>
        <p:txBody>
          <a:bodyPr>
            <a:normAutofit fontScale="90000"/>
          </a:bodyPr>
          <a:lstStyle/>
          <a:p>
            <a:r>
              <a:rPr lang="en-US" sz="4800" dirty="0"/>
              <a:t>TCP Connection Setup: Three-Way Handshake</a:t>
            </a:r>
            <a:endParaRPr lang="en-US" sz="4400" b="0" dirty="0"/>
          </a:p>
        </p:txBody>
      </p:sp>
      <p:sp>
        <p:nvSpPr>
          <p:cNvPr id="31" name="Rectangle 5">
            <a:extLst>
              <a:ext uri="{FF2B5EF4-FFF2-40B4-BE49-F238E27FC236}">
                <a16:creationId xmlns:a16="http://schemas.microsoft.com/office/drawing/2014/main" id="{9C578410-CCAC-A940-BEC5-74269A538606}"/>
              </a:ext>
            </a:extLst>
          </p:cNvPr>
          <p:cNvSpPr txBox="1">
            <a:spLocks noChangeArrowheads="1"/>
          </p:cNvSpPr>
          <p:nvPr/>
        </p:nvSpPr>
        <p:spPr>
          <a:xfrm>
            <a:off x="785243" y="1329399"/>
            <a:ext cx="11329310" cy="2187575"/>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marR="0" lvl="0" indent="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Before exchanging data, sender/receiver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handshake”:</a:t>
            </a:r>
          </a:p>
          <a:p>
            <a:pPr marR="0" lvl="0" algn="l" defTabSz="914400" rtl="0" eaLnBrk="1" fontAlgn="auto" latinLnBrk="0" hangingPunct="1">
              <a:lnSpc>
                <a:spcPct val="90000"/>
              </a:lnSpc>
              <a:spcBef>
                <a:spcPts val="4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Agree to establish connection (each knowing the other willing to establish connection)</a:t>
            </a:r>
          </a:p>
          <a:p>
            <a:pPr marR="0" lvl="0" algn="l" defTabSz="914400" rtl="0" eaLnBrk="1" fontAlgn="auto" latinLnBrk="0" hangingPunct="1">
              <a:lnSpc>
                <a:spcPct val="90000"/>
              </a:lnSpc>
              <a:spcBef>
                <a:spcPts val="400"/>
              </a:spcBef>
              <a:spcAft>
                <a:spcPts val="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Agree on connection parameters (e.g., initial sequence number</a:t>
            </a:r>
            <a:r>
              <a:rPr lang="en-US" altLang="en-US" sz="2400" dirty="0">
                <a:solidFill>
                  <a:prstClr val="black"/>
                </a:solidFill>
                <a:latin typeface="Calibri" panose="020F0502020204030204"/>
                <a:ea typeface="ＭＳ Ｐゴシック" panose="020B0600070205080204" pitchFamily="34" charset="-128"/>
              </a:rPr>
              <a:t> (ISN)</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p>
        </p:txBody>
      </p:sp>
      <p:sp>
        <p:nvSpPr>
          <p:cNvPr id="129" name="Rectangle 62">
            <a:extLst>
              <a:ext uri="{FF2B5EF4-FFF2-40B4-BE49-F238E27FC236}">
                <a16:creationId xmlns:a16="http://schemas.microsoft.com/office/drawing/2014/main" id="{C5E2ED2D-96E6-7640-B8B9-2E97B87686AF}"/>
              </a:ext>
            </a:extLst>
          </p:cNvPr>
          <p:cNvSpPr>
            <a:spLocks noChangeArrowheads="1"/>
          </p:cNvSpPr>
          <p:nvPr/>
        </p:nvSpPr>
        <p:spPr bwMode="auto">
          <a:xfrm>
            <a:off x="3138677" y="2935290"/>
            <a:ext cx="2279650" cy="2414588"/>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30" name="Rectangle 45">
            <a:extLst>
              <a:ext uri="{FF2B5EF4-FFF2-40B4-BE49-F238E27FC236}">
                <a16:creationId xmlns:a16="http://schemas.microsoft.com/office/drawing/2014/main" id="{E1C433CA-144F-FE40-9939-574216DE0F50}"/>
              </a:ext>
            </a:extLst>
          </p:cNvPr>
          <p:cNvSpPr>
            <a:spLocks noChangeArrowheads="1"/>
          </p:cNvSpPr>
          <p:nvPr/>
        </p:nvSpPr>
        <p:spPr bwMode="auto">
          <a:xfrm>
            <a:off x="3098989" y="2989265"/>
            <a:ext cx="2270125" cy="24717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Line 55">
            <a:extLst>
              <a:ext uri="{FF2B5EF4-FFF2-40B4-BE49-F238E27FC236}">
                <a16:creationId xmlns:a16="http://schemas.microsoft.com/office/drawing/2014/main" id="{B5AF7973-E361-6A42-9B3B-A8AD0E9C7140}"/>
              </a:ext>
            </a:extLst>
          </p:cNvPr>
          <p:cNvSpPr>
            <a:spLocks noChangeShapeType="1"/>
          </p:cNvSpPr>
          <p:nvPr/>
        </p:nvSpPr>
        <p:spPr bwMode="auto">
          <a:xfrm>
            <a:off x="3098989" y="3430590"/>
            <a:ext cx="22701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Text Box 6">
            <a:extLst>
              <a:ext uri="{FF2B5EF4-FFF2-40B4-BE49-F238E27FC236}">
                <a16:creationId xmlns:a16="http://schemas.microsoft.com/office/drawing/2014/main" id="{F4060720-F3C5-A543-A168-90183A3F78EB}"/>
              </a:ext>
            </a:extLst>
          </p:cNvPr>
          <p:cNvSpPr txBox="1">
            <a:spLocks noChangeArrowheads="1"/>
          </p:cNvSpPr>
          <p:nvPr/>
        </p:nvSpPr>
        <p:spPr bwMode="auto">
          <a:xfrm>
            <a:off x="3113277" y="3543303"/>
            <a:ext cx="2335212" cy="1600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state: ESTAB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variables:</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ahoma" charset="0"/>
                <a:ea typeface="ＭＳ Ｐゴシック" charset="0"/>
                <a:cs typeface="+mn-cs"/>
              </a:rPr>
              <a:t>seq #</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client-to-server</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server-to-client</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Courier New" charset="0"/>
                <a:ea typeface="ＭＳ Ｐゴシック" charset="0"/>
                <a:cs typeface="+mn-cs"/>
              </a:rPr>
              <a:t>rcvBuffer</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size</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server,client </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p:txBody>
      </p:sp>
      <p:grpSp>
        <p:nvGrpSpPr>
          <p:cNvPr id="133" name="Group 46">
            <a:extLst>
              <a:ext uri="{FF2B5EF4-FFF2-40B4-BE49-F238E27FC236}">
                <a16:creationId xmlns:a16="http://schemas.microsoft.com/office/drawing/2014/main" id="{B33AB7A5-CCC5-254C-8A3A-759B759D5041}"/>
              </a:ext>
            </a:extLst>
          </p:cNvPr>
          <p:cNvGrpSpPr>
            <a:grpSpLocks/>
          </p:cNvGrpSpPr>
          <p:nvPr/>
        </p:nvGrpSpPr>
        <p:grpSpPr bwMode="auto">
          <a:xfrm>
            <a:off x="3979492" y="3344865"/>
            <a:ext cx="438150" cy="206375"/>
            <a:chOff x="344" y="1846"/>
            <a:chExt cx="336" cy="130"/>
          </a:xfrm>
        </p:grpSpPr>
        <p:sp>
          <p:nvSpPr>
            <p:cNvPr id="134" name="Rectangle 47">
              <a:extLst>
                <a:ext uri="{FF2B5EF4-FFF2-40B4-BE49-F238E27FC236}">
                  <a16:creationId xmlns:a16="http://schemas.microsoft.com/office/drawing/2014/main" id="{6C823A22-D6EB-C649-B7E4-0B164EE814C3}"/>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5" name="Rectangle 48">
              <a:extLst>
                <a:ext uri="{FF2B5EF4-FFF2-40B4-BE49-F238E27FC236}">
                  <a16:creationId xmlns:a16="http://schemas.microsoft.com/office/drawing/2014/main" id="{A8BB07C4-6AD0-A344-8975-A5BF33372416}"/>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6" name="Rectangle 49">
              <a:extLst>
                <a:ext uri="{FF2B5EF4-FFF2-40B4-BE49-F238E27FC236}">
                  <a16:creationId xmlns:a16="http://schemas.microsoft.com/office/drawing/2014/main" id="{2CA09AF3-81EA-B643-82AA-454FD210EE48}"/>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7" name="Rectangle 50">
              <a:extLst>
                <a:ext uri="{FF2B5EF4-FFF2-40B4-BE49-F238E27FC236}">
                  <a16:creationId xmlns:a16="http://schemas.microsoft.com/office/drawing/2014/main" id="{467634F2-41DA-0748-9C1A-D08864A76A2F}"/>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38" name="Text Box 54">
            <a:extLst>
              <a:ext uri="{FF2B5EF4-FFF2-40B4-BE49-F238E27FC236}">
                <a16:creationId xmlns:a16="http://schemas.microsoft.com/office/drawing/2014/main" id="{A9AEB3C4-6978-5E48-B717-A659B5C3B9DD}"/>
              </a:ext>
            </a:extLst>
          </p:cNvPr>
          <p:cNvSpPr txBox="1">
            <a:spLocks noChangeArrowheads="1"/>
          </p:cNvSpPr>
          <p:nvPr/>
        </p:nvSpPr>
        <p:spPr bwMode="auto">
          <a:xfrm>
            <a:off x="3617081" y="3006443"/>
            <a:ext cx="11461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p:txBody>
      </p:sp>
      <p:sp>
        <p:nvSpPr>
          <p:cNvPr id="139" name="Line 56">
            <a:extLst>
              <a:ext uri="{FF2B5EF4-FFF2-40B4-BE49-F238E27FC236}">
                <a16:creationId xmlns:a16="http://schemas.microsoft.com/office/drawing/2014/main" id="{D326D2D6-0DA1-914C-9073-3ECFE526F8CC}"/>
              </a:ext>
            </a:extLst>
          </p:cNvPr>
          <p:cNvSpPr>
            <a:spLocks noChangeShapeType="1"/>
          </p:cNvSpPr>
          <p:nvPr/>
        </p:nvSpPr>
        <p:spPr bwMode="auto">
          <a:xfrm>
            <a:off x="3105339" y="4926015"/>
            <a:ext cx="2268538"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0" name="Text Box 57">
            <a:extLst>
              <a:ext uri="{FF2B5EF4-FFF2-40B4-BE49-F238E27FC236}">
                <a16:creationId xmlns:a16="http://schemas.microsoft.com/office/drawing/2014/main" id="{E4C0EAD6-0908-3C42-9A10-A6AAF94515B4}"/>
              </a:ext>
            </a:extLst>
          </p:cNvPr>
          <p:cNvSpPr txBox="1">
            <a:spLocks noChangeArrowheads="1"/>
          </p:cNvSpPr>
          <p:nvPr/>
        </p:nvSpPr>
        <p:spPr bwMode="auto">
          <a:xfrm>
            <a:off x="3623658" y="5021176"/>
            <a:ext cx="9080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network</a:t>
            </a:r>
          </a:p>
        </p:txBody>
      </p:sp>
      <p:sp>
        <p:nvSpPr>
          <p:cNvPr id="141" name="Rectangle 58">
            <a:extLst>
              <a:ext uri="{FF2B5EF4-FFF2-40B4-BE49-F238E27FC236}">
                <a16:creationId xmlns:a16="http://schemas.microsoft.com/office/drawing/2014/main" id="{1CB6C439-3E38-7043-B2E4-E0EA4F390BE5}"/>
              </a:ext>
            </a:extLst>
          </p:cNvPr>
          <p:cNvSpPr>
            <a:spLocks noChangeArrowheads="1"/>
          </p:cNvSpPr>
          <p:nvPr/>
        </p:nvSpPr>
        <p:spPr bwMode="auto">
          <a:xfrm>
            <a:off x="3070414" y="5348290"/>
            <a:ext cx="2335213" cy="1809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2" name="Line 59">
            <a:extLst>
              <a:ext uri="{FF2B5EF4-FFF2-40B4-BE49-F238E27FC236}">
                <a16:creationId xmlns:a16="http://schemas.microsoft.com/office/drawing/2014/main" id="{D8BBE84F-BCD3-BB4A-9FD3-757AFB3C13AA}"/>
              </a:ext>
            </a:extLst>
          </p:cNvPr>
          <p:cNvSpPr>
            <a:spLocks noChangeShapeType="1"/>
          </p:cNvSpPr>
          <p:nvPr/>
        </p:nvSpPr>
        <p:spPr bwMode="auto">
          <a:xfrm>
            <a:off x="3098989" y="5337178"/>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3" name="Line 60">
            <a:extLst>
              <a:ext uri="{FF2B5EF4-FFF2-40B4-BE49-F238E27FC236}">
                <a16:creationId xmlns:a16="http://schemas.microsoft.com/office/drawing/2014/main" id="{F862C10B-983A-F94D-A269-24CE747FC5AA}"/>
              </a:ext>
            </a:extLst>
          </p:cNvPr>
          <p:cNvSpPr>
            <a:spLocks noChangeShapeType="1"/>
          </p:cNvSpPr>
          <p:nvPr/>
        </p:nvSpPr>
        <p:spPr bwMode="auto">
          <a:xfrm>
            <a:off x="5362764" y="5308603"/>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4" name="Freeform 8">
            <a:extLst>
              <a:ext uri="{FF2B5EF4-FFF2-40B4-BE49-F238E27FC236}">
                <a16:creationId xmlns:a16="http://schemas.microsoft.com/office/drawing/2014/main" id="{DF364C08-2C0C-EE4E-8664-EDA4833FE296}"/>
              </a:ext>
            </a:extLst>
          </p:cNvPr>
          <p:cNvSpPr>
            <a:spLocks/>
          </p:cNvSpPr>
          <p:nvPr/>
        </p:nvSpPr>
        <p:spPr bwMode="auto">
          <a:xfrm flipH="1">
            <a:off x="2625914" y="2992440"/>
            <a:ext cx="468313" cy="249078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45" name="Rectangle 63">
            <a:extLst>
              <a:ext uri="{FF2B5EF4-FFF2-40B4-BE49-F238E27FC236}">
                <a16:creationId xmlns:a16="http://schemas.microsoft.com/office/drawing/2014/main" id="{0F4E1AF7-DE3A-2541-818F-C54CEC430AE0}"/>
              </a:ext>
            </a:extLst>
          </p:cNvPr>
          <p:cNvSpPr>
            <a:spLocks noChangeArrowheads="1"/>
          </p:cNvSpPr>
          <p:nvPr/>
        </p:nvSpPr>
        <p:spPr bwMode="auto">
          <a:xfrm>
            <a:off x="7440802" y="2941640"/>
            <a:ext cx="2279650" cy="2414588"/>
          </a:xfrm>
          <a:prstGeom prst="rect">
            <a:avLst/>
          </a:prstGeom>
          <a:solidFill>
            <a:srgbClr val="000099"/>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Rectangle 64">
            <a:extLst>
              <a:ext uri="{FF2B5EF4-FFF2-40B4-BE49-F238E27FC236}">
                <a16:creationId xmlns:a16="http://schemas.microsoft.com/office/drawing/2014/main" id="{5B961E58-331E-B748-A80F-3B7778F1C486}"/>
              </a:ext>
            </a:extLst>
          </p:cNvPr>
          <p:cNvSpPr>
            <a:spLocks noChangeArrowheads="1"/>
          </p:cNvSpPr>
          <p:nvPr/>
        </p:nvSpPr>
        <p:spPr bwMode="auto">
          <a:xfrm>
            <a:off x="7401114" y="2995615"/>
            <a:ext cx="2270125" cy="2471738"/>
          </a:xfrm>
          <a:prstGeom prst="rect">
            <a:avLst/>
          </a:prstGeom>
          <a:solidFill>
            <a:srgbClr val="FFFFFF"/>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7" name="Line 65">
            <a:extLst>
              <a:ext uri="{FF2B5EF4-FFF2-40B4-BE49-F238E27FC236}">
                <a16:creationId xmlns:a16="http://schemas.microsoft.com/office/drawing/2014/main" id="{83696C28-A57C-AC46-B97E-048E3D615664}"/>
              </a:ext>
            </a:extLst>
          </p:cNvPr>
          <p:cNvSpPr>
            <a:spLocks noChangeShapeType="1"/>
          </p:cNvSpPr>
          <p:nvPr/>
        </p:nvSpPr>
        <p:spPr bwMode="auto">
          <a:xfrm>
            <a:off x="7401114" y="3436940"/>
            <a:ext cx="2270125"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8" name="Text Box 66">
            <a:extLst>
              <a:ext uri="{FF2B5EF4-FFF2-40B4-BE49-F238E27FC236}">
                <a16:creationId xmlns:a16="http://schemas.microsoft.com/office/drawing/2014/main" id="{3C17C23B-2BF5-5B4E-BB33-288C1922406B}"/>
              </a:ext>
            </a:extLst>
          </p:cNvPr>
          <p:cNvSpPr txBox="1">
            <a:spLocks noChangeArrowheads="1"/>
          </p:cNvSpPr>
          <p:nvPr/>
        </p:nvSpPr>
        <p:spPr bwMode="auto">
          <a:xfrm>
            <a:off x="7415402" y="3549653"/>
            <a:ext cx="2335212" cy="1600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230188">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state: ESTAB</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connection Variables:</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Tahoma" charset="0"/>
                <a:ea typeface="ＭＳ Ｐゴシック" charset="0"/>
                <a:cs typeface="+mn-cs"/>
              </a:rPr>
              <a:t>seq #</a:t>
            </a:r>
            <a:r>
              <a:rPr kumimoji="0" lang="en-US" sz="1400" b="1" i="0" u="none" strike="noStrike" kern="0" cap="none" spc="0" normalizeH="0" baseline="0" noProof="0" dirty="0">
                <a:ln>
                  <a:noFill/>
                </a:ln>
                <a:solidFill>
                  <a:srgbClr val="000000"/>
                </a:solidFill>
                <a:effectLst/>
                <a:uLnTx/>
                <a:uFillTx/>
                <a:latin typeface="Tahoma" charset="0"/>
                <a:ea typeface="ＭＳ Ｐゴシック" charset="0"/>
                <a:cs typeface="+mn-cs"/>
              </a:rPr>
              <a:t> </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client-to-server</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server-to-client</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1" i="0" u="none" strike="noStrike" kern="0" cap="none" spc="0" normalizeH="0" baseline="0" noProof="0" dirty="0">
                <a:ln>
                  <a:noFill/>
                </a:ln>
                <a:solidFill>
                  <a:srgbClr val="C00000"/>
                </a:solidFill>
                <a:effectLst/>
                <a:uLnTx/>
                <a:uFillTx/>
                <a:latin typeface="Courier New" charset="0"/>
                <a:ea typeface="ＭＳ Ｐゴシック" charset="0"/>
                <a:cs typeface="+mn-cs"/>
              </a:rPr>
              <a:t>rcvBuffer</a:t>
            </a: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size</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server,client </a:t>
            </a:r>
          </a:p>
          <a:p>
            <a:pPr marL="230188" marR="0" lvl="1"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           </a:t>
            </a:r>
          </a:p>
        </p:txBody>
      </p:sp>
      <p:grpSp>
        <p:nvGrpSpPr>
          <p:cNvPr id="149" name="Group 67">
            <a:extLst>
              <a:ext uri="{FF2B5EF4-FFF2-40B4-BE49-F238E27FC236}">
                <a16:creationId xmlns:a16="http://schemas.microsoft.com/office/drawing/2014/main" id="{A3675259-9C7A-1740-AEED-A90AD2D0AE87}"/>
              </a:ext>
            </a:extLst>
          </p:cNvPr>
          <p:cNvGrpSpPr>
            <a:grpSpLocks/>
          </p:cNvGrpSpPr>
          <p:nvPr/>
        </p:nvGrpSpPr>
        <p:grpSpPr bwMode="auto">
          <a:xfrm>
            <a:off x="8308511" y="3351215"/>
            <a:ext cx="438150" cy="206375"/>
            <a:chOff x="344" y="1846"/>
            <a:chExt cx="336" cy="130"/>
          </a:xfrm>
        </p:grpSpPr>
        <p:sp>
          <p:nvSpPr>
            <p:cNvPr id="150" name="Rectangle 68">
              <a:extLst>
                <a:ext uri="{FF2B5EF4-FFF2-40B4-BE49-F238E27FC236}">
                  <a16:creationId xmlns:a16="http://schemas.microsoft.com/office/drawing/2014/main" id="{4B4BD261-01C7-494F-8D01-68B19AA4B9AC}"/>
                </a:ext>
              </a:extLst>
            </p:cNvPr>
            <p:cNvSpPr>
              <a:spLocks noChangeArrowheads="1"/>
            </p:cNvSpPr>
            <p:nvPr/>
          </p:nvSpPr>
          <p:spPr bwMode="auto">
            <a:xfrm>
              <a:off x="344" y="1846"/>
              <a:ext cx="336" cy="130"/>
            </a:xfrm>
            <a:prstGeom prst="rect">
              <a:avLst/>
            </a:prstGeom>
            <a:solidFill>
              <a:srgbClr val="FFFF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1" name="Rectangle 69">
              <a:extLst>
                <a:ext uri="{FF2B5EF4-FFF2-40B4-BE49-F238E27FC236}">
                  <a16:creationId xmlns:a16="http://schemas.microsoft.com/office/drawing/2014/main" id="{4E7628F3-86B5-E44C-8195-D9FF1BBA53D4}"/>
                </a:ext>
              </a:extLst>
            </p:cNvPr>
            <p:cNvSpPr>
              <a:spLocks noChangeArrowheads="1"/>
            </p:cNvSpPr>
            <p:nvPr/>
          </p:nvSpPr>
          <p:spPr bwMode="auto">
            <a:xfrm>
              <a:off x="454" y="1863"/>
              <a:ext cx="112" cy="99"/>
            </a:xfrm>
            <a:prstGeom prst="rect">
              <a:avLst/>
            </a:prstGeom>
            <a:solidFill>
              <a:srgbClr val="FFFFFF"/>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2" name="Rectangle 70">
              <a:extLst>
                <a:ext uri="{FF2B5EF4-FFF2-40B4-BE49-F238E27FC236}">
                  <a16:creationId xmlns:a16="http://schemas.microsoft.com/office/drawing/2014/main" id="{BE5565DB-C659-5048-B6BD-16420D5CE92C}"/>
                </a:ext>
              </a:extLst>
            </p:cNvPr>
            <p:cNvSpPr>
              <a:spLocks noChangeArrowheads="1"/>
            </p:cNvSpPr>
            <p:nvPr/>
          </p:nvSpPr>
          <p:spPr bwMode="auto">
            <a:xfrm>
              <a:off x="578" y="1921"/>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3" name="Rectangle 71">
              <a:extLst>
                <a:ext uri="{FF2B5EF4-FFF2-40B4-BE49-F238E27FC236}">
                  <a16:creationId xmlns:a16="http://schemas.microsoft.com/office/drawing/2014/main" id="{720A74F5-E1C3-FF45-B800-884CFBB24D0A}"/>
                </a:ext>
              </a:extLst>
            </p:cNvPr>
            <p:cNvSpPr>
              <a:spLocks noChangeArrowheads="1"/>
            </p:cNvSpPr>
            <p:nvPr/>
          </p:nvSpPr>
          <p:spPr bwMode="auto">
            <a:xfrm>
              <a:off x="407" y="1922"/>
              <a:ext cx="29" cy="35"/>
            </a:xfrm>
            <a:prstGeom prst="rect">
              <a:avLst/>
            </a:prstGeom>
            <a:solidFill>
              <a:srgbClr val="CC9900"/>
            </a:solidFill>
            <a:ln w="9525">
              <a:solidFill>
                <a:srgbClr val="CC99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54" name="Text Box 72">
            <a:extLst>
              <a:ext uri="{FF2B5EF4-FFF2-40B4-BE49-F238E27FC236}">
                <a16:creationId xmlns:a16="http://schemas.microsoft.com/office/drawing/2014/main" id="{48C5FBCA-1883-5B46-BC6B-BD218B24C18D}"/>
              </a:ext>
            </a:extLst>
          </p:cNvPr>
          <p:cNvSpPr txBox="1">
            <a:spLocks noChangeArrowheads="1"/>
          </p:cNvSpPr>
          <p:nvPr/>
        </p:nvSpPr>
        <p:spPr bwMode="auto">
          <a:xfrm>
            <a:off x="7943246" y="3024051"/>
            <a:ext cx="11461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application</a:t>
            </a:r>
          </a:p>
        </p:txBody>
      </p:sp>
      <p:sp>
        <p:nvSpPr>
          <p:cNvPr id="155" name="Line 73">
            <a:extLst>
              <a:ext uri="{FF2B5EF4-FFF2-40B4-BE49-F238E27FC236}">
                <a16:creationId xmlns:a16="http://schemas.microsoft.com/office/drawing/2014/main" id="{C7D010E1-FDC8-B843-B502-33120A86EB14}"/>
              </a:ext>
            </a:extLst>
          </p:cNvPr>
          <p:cNvSpPr>
            <a:spLocks noChangeShapeType="1"/>
          </p:cNvSpPr>
          <p:nvPr/>
        </p:nvSpPr>
        <p:spPr bwMode="auto">
          <a:xfrm>
            <a:off x="7407464" y="4932365"/>
            <a:ext cx="2268538" cy="0"/>
          </a:xfrm>
          <a:prstGeom prst="line">
            <a:avLst/>
          </a:prstGeom>
          <a:noFill/>
          <a:ln w="9525">
            <a:solidFill>
              <a:srgbClr val="00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6" name="Text Box 74">
            <a:extLst>
              <a:ext uri="{FF2B5EF4-FFF2-40B4-BE49-F238E27FC236}">
                <a16:creationId xmlns:a16="http://schemas.microsoft.com/office/drawing/2014/main" id="{46053DCC-44E5-2C43-B37B-8DA921C733B2}"/>
              </a:ext>
            </a:extLst>
          </p:cNvPr>
          <p:cNvSpPr txBox="1">
            <a:spLocks noChangeArrowheads="1"/>
          </p:cNvSpPr>
          <p:nvPr/>
        </p:nvSpPr>
        <p:spPr bwMode="auto">
          <a:xfrm>
            <a:off x="8070953" y="5013813"/>
            <a:ext cx="9080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network</a:t>
            </a:r>
          </a:p>
        </p:txBody>
      </p:sp>
      <p:sp>
        <p:nvSpPr>
          <p:cNvPr id="157" name="Rectangle 75">
            <a:extLst>
              <a:ext uri="{FF2B5EF4-FFF2-40B4-BE49-F238E27FC236}">
                <a16:creationId xmlns:a16="http://schemas.microsoft.com/office/drawing/2014/main" id="{2794759F-1BDF-124F-8990-F97B9E3FFDCA}"/>
              </a:ext>
            </a:extLst>
          </p:cNvPr>
          <p:cNvSpPr>
            <a:spLocks noChangeArrowheads="1"/>
          </p:cNvSpPr>
          <p:nvPr/>
        </p:nvSpPr>
        <p:spPr bwMode="auto">
          <a:xfrm>
            <a:off x="7372539" y="5354640"/>
            <a:ext cx="2335213" cy="18097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8" name="Line 76">
            <a:extLst>
              <a:ext uri="{FF2B5EF4-FFF2-40B4-BE49-F238E27FC236}">
                <a16:creationId xmlns:a16="http://schemas.microsoft.com/office/drawing/2014/main" id="{AA62258B-6959-8646-9E2E-9B0097512BD1}"/>
              </a:ext>
            </a:extLst>
          </p:cNvPr>
          <p:cNvSpPr>
            <a:spLocks noChangeShapeType="1"/>
          </p:cNvSpPr>
          <p:nvPr/>
        </p:nvSpPr>
        <p:spPr bwMode="auto">
          <a:xfrm>
            <a:off x="7401114" y="5343528"/>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9" name="Line 77">
            <a:extLst>
              <a:ext uri="{FF2B5EF4-FFF2-40B4-BE49-F238E27FC236}">
                <a16:creationId xmlns:a16="http://schemas.microsoft.com/office/drawing/2014/main" id="{B39909BE-5B6C-6F46-8749-CE29AEAB2CB2}"/>
              </a:ext>
            </a:extLst>
          </p:cNvPr>
          <p:cNvSpPr>
            <a:spLocks noChangeShapeType="1"/>
          </p:cNvSpPr>
          <p:nvPr/>
        </p:nvSpPr>
        <p:spPr bwMode="auto">
          <a:xfrm>
            <a:off x="9664889" y="5314953"/>
            <a:ext cx="0" cy="236537"/>
          </a:xfrm>
          <a:prstGeom prst="line">
            <a:avLst/>
          </a:prstGeom>
          <a:noFill/>
          <a:ln w="9525">
            <a:solidFill>
              <a:srgbClr val="000000"/>
            </a:solidFill>
            <a:prstDash val="dash"/>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0" name="Freeform 78">
            <a:extLst>
              <a:ext uri="{FF2B5EF4-FFF2-40B4-BE49-F238E27FC236}">
                <a16:creationId xmlns:a16="http://schemas.microsoft.com/office/drawing/2014/main" id="{830D21F8-79F0-0E4D-A9EF-3C8300C80D17}"/>
              </a:ext>
            </a:extLst>
          </p:cNvPr>
          <p:cNvSpPr>
            <a:spLocks/>
          </p:cNvSpPr>
          <p:nvPr/>
        </p:nvSpPr>
        <p:spPr bwMode="auto">
          <a:xfrm>
            <a:off x="9682352" y="2932115"/>
            <a:ext cx="468312" cy="2490788"/>
          </a:xfrm>
          <a:custGeom>
            <a:avLst/>
            <a:gdLst>
              <a:gd name="T0" fmla="*/ 2147483647 w 366"/>
              <a:gd name="T1" fmla="*/ 2147483647 h 1284"/>
              <a:gd name="T2" fmla="*/ 2147483647 w 366"/>
              <a:gd name="T3" fmla="*/ 0 h 1284"/>
              <a:gd name="T4" fmla="*/ 0 w 366"/>
              <a:gd name="T5" fmla="*/ 2147483647 h 1284"/>
              <a:gd name="T6" fmla="*/ 2147483647 w 366"/>
              <a:gd name="T7" fmla="*/ 2147483647 h 1284"/>
              <a:gd name="T8" fmla="*/ 2147483647 w 366"/>
              <a:gd name="T9" fmla="*/ 2147483647 h 12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6" h="1284">
                <a:moveTo>
                  <a:pt x="366" y="1278"/>
                </a:moveTo>
                <a:lnTo>
                  <a:pt x="12" y="0"/>
                </a:lnTo>
                <a:lnTo>
                  <a:pt x="0" y="1224"/>
                </a:lnTo>
                <a:lnTo>
                  <a:pt x="186" y="1284"/>
                </a:lnTo>
                <a:lnTo>
                  <a:pt x="366" y="1278"/>
                </a:lnTo>
                <a:close/>
              </a:path>
            </a:pathLst>
          </a:custGeom>
          <a:gradFill rotWithShape="1">
            <a:gsLst>
              <a:gs pos="0">
                <a:srgbClr val="B2B2B2"/>
              </a:gs>
              <a:gs pos="100000">
                <a:srgbClr val="FFFFFF"/>
              </a:gs>
            </a:gsLst>
            <a:lin ang="0" scaled="1"/>
          </a:gradFill>
          <a:ln w="9525">
            <a:solidFill>
              <a:srgbClr val="DDDDDD"/>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1" name="Text Box 83">
            <a:extLst>
              <a:ext uri="{FF2B5EF4-FFF2-40B4-BE49-F238E27FC236}">
                <a16:creationId xmlns:a16="http://schemas.microsoft.com/office/drawing/2014/main" id="{E97571FE-EF31-0544-985B-906D8CF8F351}"/>
              </a:ext>
            </a:extLst>
          </p:cNvPr>
          <p:cNvSpPr txBox="1">
            <a:spLocks noChangeArrowheads="1"/>
          </p:cNvSpPr>
          <p:nvPr/>
        </p:nvSpPr>
        <p:spPr bwMode="auto">
          <a:xfrm>
            <a:off x="996046" y="5759648"/>
            <a:ext cx="5633357"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Socket clientSocket =   </a:t>
            </a:r>
          </a:p>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  newSocket("hostname","port number");</a:t>
            </a:r>
          </a:p>
        </p:txBody>
      </p:sp>
      <p:sp>
        <p:nvSpPr>
          <p:cNvPr id="162" name="Text Box 85">
            <a:extLst>
              <a:ext uri="{FF2B5EF4-FFF2-40B4-BE49-F238E27FC236}">
                <a16:creationId xmlns:a16="http://schemas.microsoft.com/office/drawing/2014/main" id="{C80EBC7F-DBC0-BD40-9507-82100813B9B7}"/>
              </a:ext>
            </a:extLst>
          </p:cNvPr>
          <p:cNvSpPr txBox="1">
            <a:spLocks noChangeArrowheads="1"/>
          </p:cNvSpPr>
          <p:nvPr/>
        </p:nvSpPr>
        <p:spPr bwMode="auto">
          <a:xfrm>
            <a:off x="7021795" y="5773144"/>
            <a:ext cx="4159599"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lvl1pPr marL="231775" indent="-231775">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231775" marR="0" lvl="0" indent="-231775" algn="l" defTabSz="914400" rtl="0" eaLnBrk="0" fontAlgn="base" latinLnBrk="0" hangingPunct="0">
              <a:lnSpc>
                <a:spcPct val="100000"/>
              </a:lnSpc>
              <a:spcBef>
                <a:spcPct val="0"/>
              </a:spcBef>
              <a:spcAft>
                <a:spcPct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Courier New" charset="0"/>
                <a:ea typeface="ＭＳ Ｐゴシック" charset="0"/>
                <a:cs typeface="+mn-cs"/>
              </a:rPr>
              <a:t>Socket connectionSocket = welcomeSocket.accept();</a:t>
            </a:r>
          </a:p>
        </p:txBody>
      </p:sp>
      <p:grpSp>
        <p:nvGrpSpPr>
          <p:cNvPr id="163" name="Group 89">
            <a:extLst>
              <a:ext uri="{FF2B5EF4-FFF2-40B4-BE49-F238E27FC236}">
                <a16:creationId xmlns:a16="http://schemas.microsoft.com/office/drawing/2014/main" id="{DB71F8E2-0EB4-2A4E-B4C5-3DC2955DEDE8}"/>
              </a:ext>
            </a:extLst>
          </p:cNvPr>
          <p:cNvGrpSpPr>
            <a:grpSpLocks/>
          </p:cNvGrpSpPr>
          <p:nvPr/>
        </p:nvGrpSpPr>
        <p:grpSpPr bwMode="auto">
          <a:xfrm>
            <a:off x="2149664" y="5024440"/>
            <a:ext cx="698500" cy="612775"/>
            <a:chOff x="-44" y="1473"/>
            <a:chExt cx="981" cy="1105"/>
          </a:xfrm>
        </p:grpSpPr>
        <p:pic>
          <p:nvPicPr>
            <p:cNvPr id="164" name="Picture 90" descr="desktop_computer_stylized_medium">
              <a:extLst>
                <a:ext uri="{FF2B5EF4-FFF2-40B4-BE49-F238E27FC236}">
                  <a16:creationId xmlns:a16="http://schemas.microsoft.com/office/drawing/2014/main" id="{C631DB34-DA41-694E-BA26-57FDF68E68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5" name="Freeform 91">
              <a:extLst>
                <a:ext uri="{FF2B5EF4-FFF2-40B4-BE49-F238E27FC236}">
                  <a16:creationId xmlns:a16="http://schemas.microsoft.com/office/drawing/2014/main" id="{BEF55614-0BD4-8249-9822-CEE59DA9A93D}"/>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66" name="Group 92">
            <a:extLst>
              <a:ext uri="{FF2B5EF4-FFF2-40B4-BE49-F238E27FC236}">
                <a16:creationId xmlns:a16="http://schemas.microsoft.com/office/drawing/2014/main" id="{F06A1B16-A85F-394E-802F-0E5CD7D943D6}"/>
              </a:ext>
            </a:extLst>
          </p:cNvPr>
          <p:cNvGrpSpPr>
            <a:grpSpLocks/>
          </p:cNvGrpSpPr>
          <p:nvPr/>
        </p:nvGrpSpPr>
        <p:grpSpPr bwMode="auto">
          <a:xfrm>
            <a:off x="9964927" y="4922840"/>
            <a:ext cx="415925" cy="627063"/>
            <a:chOff x="4140" y="429"/>
            <a:chExt cx="1425" cy="2396"/>
          </a:xfrm>
        </p:grpSpPr>
        <p:sp>
          <p:nvSpPr>
            <p:cNvPr id="167" name="Freeform 93">
              <a:extLst>
                <a:ext uri="{FF2B5EF4-FFF2-40B4-BE49-F238E27FC236}">
                  <a16:creationId xmlns:a16="http://schemas.microsoft.com/office/drawing/2014/main" id="{0B18D7B8-4C19-6A48-9356-0BDC63F4B19E}"/>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68" name="Rectangle 94">
              <a:extLst>
                <a:ext uri="{FF2B5EF4-FFF2-40B4-BE49-F238E27FC236}">
                  <a16:creationId xmlns:a16="http://schemas.microsoft.com/office/drawing/2014/main" id="{83F51854-758D-F348-B0AE-4C8BBF01B327}"/>
                </a:ext>
              </a:extLst>
            </p:cNvPr>
            <p:cNvSpPr>
              <a:spLocks noChangeArrowheads="1"/>
            </p:cNvSpPr>
            <p:nvPr/>
          </p:nvSpPr>
          <p:spPr bwMode="auto">
            <a:xfrm>
              <a:off x="4205" y="429"/>
              <a:ext cx="1050" cy="2287"/>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69" name="Freeform 95">
              <a:extLst>
                <a:ext uri="{FF2B5EF4-FFF2-40B4-BE49-F238E27FC236}">
                  <a16:creationId xmlns:a16="http://schemas.microsoft.com/office/drawing/2014/main" id="{BCB6E605-7A9B-CA4D-855C-288812DAAB0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0" name="Freeform 96">
              <a:extLst>
                <a:ext uri="{FF2B5EF4-FFF2-40B4-BE49-F238E27FC236}">
                  <a16:creationId xmlns:a16="http://schemas.microsoft.com/office/drawing/2014/main" id="{010D7A25-5C86-B443-B0F4-6A6735092E34}"/>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71" name="Rectangle 97">
              <a:extLst>
                <a:ext uri="{FF2B5EF4-FFF2-40B4-BE49-F238E27FC236}">
                  <a16:creationId xmlns:a16="http://schemas.microsoft.com/office/drawing/2014/main" id="{6B6FDD4A-AD55-9345-AF53-BC625746DD19}"/>
                </a:ext>
              </a:extLst>
            </p:cNvPr>
            <p:cNvSpPr>
              <a:spLocks noChangeArrowheads="1"/>
            </p:cNvSpPr>
            <p:nvPr/>
          </p:nvSpPr>
          <p:spPr bwMode="auto">
            <a:xfrm>
              <a:off x="4211" y="696"/>
              <a:ext cx="598" cy="4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2" name="Group 98">
              <a:extLst>
                <a:ext uri="{FF2B5EF4-FFF2-40B4-BE49-F238E27FC236}">
                  <a16:creationId xmlns:a16="http://schemas.microsoft.com/office/drawing/2014/main" id="{A97FBBEC-0302-FA4C-A3B9-B0FD424712B4}"/>
                </a:ext>
              </a:extLst>
            </p:cNvPr>
            <p:cNvGrpSpPr>
              <a:grpSpLocks/>
            </p:cNvGrpSpPr>
            <p:nvPr/>
          </p:nvGrpSpPr>
          <p:grpSpPr bwMode="auto">
            <a:xfrm>
              <a:off x="4749" y="668"/>
              <a:ext cx="581" cy="145"/>
              <a:chOff x="614" y="2568"/>
              <a:chExt cx="725" cy="139"/>
            </a:xfrm>
          </p:grpSpPr>
          <p:sp>
            <p:nvSpPr>
              <p:cNvPr id="197" name="AutoShape 99">
                <a:extLst>
                  <a:ext uri="{FF2B5EF4-FFF2-40B4-BE49-F238E27FC236}">
                    <a16:creationId xmlns:a16="http://schemas.microsoft.com/office/drawing/2014/main" id="{C21CB491-D46B-EE41-AA0F-DE79A218D55A}"/>
                  </a:ext>
                </a:extLst>
              </p:cNvPr>
              <p:cNvSpPr>
                <a:spLocks noChangeArrowheads="1"/>
              </p:cNvSpPr>
              <p:nvPr/>
            </p:nvSpPr>
            <p:spPr bwMode="auto">
              <a:xfrm>
                <a:off x="614" y="2566"/>
                <a:ext cx="726"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AutoShape 100">
                <a:extLst>
                  <a:ext uri="{FF2B5EF4-FFF2-40B4-BE49-F238E27FC236}">
                    <a16:creationId xmlns:a16="http://schemas.microsoft.com/office/drawing/2014/main" id="{1FC5D9EE-EAE0-7E4E-B85F-6FC8DE4DEE26}"/>
                  </a:ext>
                </a:extLst>
              </p:cNvPr>
              <p:cNvSpPr>
                <a:spLocks noChangeArrowheads="1"/>
              </p:cNvSpPr>
              <p:nvPr/>
            </p:nvSpPr>
            <p:spPr bwMode="auto">
              <a:xfrm>
                <a:off x="628" y="2583"/>
                <a:ext cx="692" cy="105"/>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3" name="Rectangle 101">
              <a:extLst>
                <a:ext uri="{FF2B5EF4-FFF2-40B4-BE49-F238E27FC236}">
                  <a16:creationId xmlns:a16="http://schemas.microsoft.com/office/drawing/2014/main" id="{8F3C4297-FFD3-D843-98B6-43C61A7317BF}"/>
                </a:ext>
              </a:extLst>
            </p:cNvPr>
            <p:cNvSpPr>
              <a:spLocks noChangeArrowheads="1"/>
            </p:cNvSpPr>
            <p:nvPr/>
          </p:nvSpPr>
          <p:spPr bwMode="auto">
            <a:xfrm>
              <a:off x="4222" y="101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4" name="Group 102">
              <a:extLst>
                <a:ext uri="{FF2B5EF4-FFF2-40B4-BE49-F238E27FC236}">
                  <a16:creationId xmlns:a16="http://schemas.microsoft.com/office/drawing/2014/main" id="{21DC2796-CCBB-6A4F-838F-49A2C67C0E64}"/>
                </a:ext>
              </a:extLst>
            </p:cNvPr>
            <p:cNvGrpSpPr>
              <a:grpSpLocks/>
            </p:cNvGrpSpPr>
            <p:nvPr/>
          </p:nvGrpSpPr>
          <p:grpSpPr bwMode="auto">
            <a:xfrm>
              <a:off x="4747" y="994"/>
              <a:ext cx="581" cy="134"/>
              <a:chOff x="614" y="2568"/>
              <a:chExt cx="725" cy="139"/>
            </a:xfrm>
          </p:grpSpPr>
          <p:sp>
            <p:nvSpPr>
              <p:cNvPr id="195" name="AutoShape 103">
                <a:extLst>
                  <a:ext uri="{FF2B5EF4-FFF2-40B4-BE49-F238E27FC236}">
                    <a16:creationId xmlns:a16="http://schemas.microsoft.com/office/drawing/2014/main" id="{969D7B41-0DC1-4440-AFDE-248D9CDB66EB}"/>
                  </a:ext>
                </a:extLst>
              </p:cNvPr>
              <p:cNvSpPr>
                <a:spLocks noChangeArrowheads="1"/>
              </p:cNvSpPr>
              <p:nvPr/>
            </p:nvSpPr>
            <p:spPr bwMode="auto">
              <a:xfrm>
                <a:off x="617" y="2567"/>
                <a:ext cx="719" cy="138"/>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6" name="AutoShape 104">
                <a:extLst>
                  <a:ext uri="{FF2B5EF4-FFF2-40B4-BE49-F238E27FC236}">
                    <a16:creationId xmlns:a16="http://schemas.microsoft.com/office/drawing/2014/main" id="{B3EC6575-CF4C-6246-8181-ED39D289D214}"/>
                  </a:ext>
                </a:extLst>
              </p:cNvPr>
              <p:cNvSpPr>
                <a:spLocks noChangeArrowheads="1"/>
              </p:cNvSpPr>
              <p:nvPr/>
            </p:nvSpPr>
            <p:spPr bwMode="auto">
              <a:xfrm>
                <a:off x="630" y="2586"/>
                <a:ext cx="679"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5" name="Rectangle 105">
              <a:extLst>
                <a:ext uri="{FF2B5EF4-FFF2-40B4-BE49-F238E27FC236}">
                  <a16:creationId xmlns:a16="http://schemas.microsoft.com/office/drawing/2014/main" id="{E4C8EF29-9693-8843-BE99-DFF7EF55F859}"/>
                </a:ext>
              </a:extLst>
            </p:cNvPr>
            <p:cNvSpPr>
              <a:spLocks noChangeArrowheads="1"/>
            </p:cNvSpPr>
            <p:nvPr/>
          </p:nvSpPr>
          <p:spPr bwMode="auto">
            <a:xfrm>
              <a:off x="4216" y="1357"/>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Rectangle 106">
              <a:extLst>
                <a:ext uri="{FF2B5EF4-FFF2-40B4-BE49-F238E27FC236}">
                  <a16:creationId xmlns:a16="http://schemas.microsoft.com/office/drawing/2014/main" id="{444A4DA4-95C5-7247-8CDB-5D7AF6D3A816}"/>
                </a:ext>
              </a:extLst>
            </p:cNvPr>
            <p:cNvSpPr>
              <a:spLocks noChangeArrowheads="1"/>
            </p:cNvSpPr>
            <p:nvPr/>
          </p:nvSpPr>
          <p:spPr bwMode="auto">
            <a:xfrm>
              <a:off x="4227" y="1654"/>
              <a:ext cx="598" cy="49"/>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77" name="Group 107">
              <a:extLst>
                <a:ext uri="{FF2B5EF4-FFF2-40B4-BE49-F238E27FC236}">
                  <a16:creationId xmlns:a16="http://schemas.microsoft.com/office/drawing/2014/main" id="{E95F09FB-35B3-984D-8B07-8ED352E49862}"/>
                </a:ext>
              </a:extLst>
            </p:cNvPr>
            <p:cNvGrpSpPr>
              <a:grpSpLocks/>
            </p:cNvGrpSpPr>
            <p:nvPr/>
          </p:nvGrpSpPr>
          <p:grpSpPr bwMode="auto">
            <a:xfrm>
              <a:off x="4735" y="1627"/>
              <a:ext cx="582" cy="151"/>
              <a:chOff x="614" y="2568"/>
              <a:chExt cx="725" cy="139"/>
            </a:xfrm>
          </p:grpSpPr>
          <p:sp>
            <p:nvSpPr>
              <p:cNvPr id="193" name="AutoShape 108">
                <a:extLst>
                  <a:ext uri="{FF2B5EF4-FFF2-40B4-BE49-F238E27FC236}">
                    <a16:creationId xmlns:a16="http://schemas.microsoft.com/office/drawing/2014/main" id="{0D8F2BD6-B00B-A145-9FAD-DEBB9A14C761}"/>
                  </a:ext>
                </a:extLst>
              </p:cNvPr>
              <p:cNvSpPr>
                <a:spLocks noChangeArrowheads="1"/>
              </p:cNvSpPr>
              <p:nvPr/>
            </p:nvSpPr>
            <p:spPr bwMode="auto">
              <a:xfrm>
                <a:off x="611" y="2576"/>
                <a:ext cx="725" cy="123"/>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4" name="AutoShape 109">
                <a:extLst>
                  <a:ext uri="{FF2B5EF4-FFF2-40B4-BE49-F238E27FC236}">
                    <a16:creationId xmlns:a16="http://schemas.microsoft.com/office/drawing/2014/main" id="{FBEB72B8-9464-2649-9EA1-03257A809BD1}"/>
                  </a:ext>
                </a:extLst>
              </p:cNvPr>
              <p:cNvSpPr>
                <a:spLocks noChangeArrowheads="1"/>
              </p:cNvSpPr>
              <p:nvPr/>
            </p:nvSpPr>
            <p:spPr bwMode="auto">
              <a:xfrm>
                <a:off x="625" y="2588"/>
                <a:ext cx="691" cy="10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78" name="Freeform 110">
              <a:extLst>
                <a:ext uri="{FF2B5EF4-FFF2-40B4-BE49-F238E27FC236}">
                  <a16:creationId xmlns:a16="http://schemas.microsoft.com/office/drawing/2014/main" id="{69825DF1-2B01-DB4D-AD1A-63C84CD16387}"/>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179" name="Group 111">
              <a:extLst>
                <a:ext uri="{FF2B5EF4-FFF2-40B4-BE49-F238E27FC236}">
                  <a16:creationId xmlns:a16="http://schemas.microsoft.com/office/drawing/2014/main" id="{77E8896E-C175-9440-8F1C-C0DAB898AF9D}"/>
                </a:ext>
              </a:extLst>
            </p:cNvPr>
            <p:cNvGrpSpPr>
              <a:grpSpLocks/>
            </p:cNvGrpSpPr>
            <p:nvPr/>
          </p:nvGrpSpPr>
          <p:grpSpPr bwMode="auto">
            <a:xfrm>
              <a:off x="4739" y="1327"/>
              <a:ext cx="582" cy="139"/>
              <a:chOff x="614" y="2568"/>
              <a:chExt cx="725" cy="139"/>
            </a:xfrm>
          </p:grpSpPr>
          <p:sp>
            <p:nvSpPr>
              <p:cNvPr id="191" name="AutoShape 112">
                <a:extLst>
                  <a:ext uri="{FF2B5EF4-FFF2-40B4-BE49-F238E27FC236}">
                    <a16:creationId xmlns:a16="http://schemas.microsoft.com/office/drawing/2014/main" id="{207BBBCB-E17B-0743-A1A2-C4D7DD812519}"/>
                  </a:ext>
                </a:extLst>
              </p:cNvPr>
              <p:cNvSpPr>
                <a:spLocks noChangeArrowheads="1"/>
              </p:cNvSpPr>
              <p:nvPr/>
            </p:nvSpPr>
            <p:spPr bwMode="auto">
              <a:xfrm>
                <a:off x="613" y="2568"/>
                <a:ext cx="725" cy="140"/>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2" name="AutoShape 113">
                <a:extLst>
                  <a:ext uri="{FF2B5EF4-FFF2-40B4-BE49-F238E27FC236}">
                    <a16:creationId xmlns:a16="http://schemas.microsoft.com/office/drawing/2014/main" id="{28DD6B35-219B-6B45-BF21-71B299ABB40C}"/>
                  </a:ext>
                </a:extLst>
              </p:cNvPr>
              <p:cNvSpPr>
                <a:spLocks noChangeArrowheads="1"/>
              </p:cNvSpPr>
              <p:nvPr/>
            </p:nvSpPr>
            <p:spPr bwMode="auto">
              <a:xfrm>
                <a:off x="627" y="2586"/>
                <a:ext cx="691"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180" name="Rectangle 114">
              <a:extLst>
                <a:ext uri="{FF2B5EF4-FFF2-40B4-BE49-F238E27FC236}">
                  <a16:creationId xmlns:a16="http://schemas.microsoft.com/office/drawing/2014/main" id="{CD269004-8DB5-4549-A4AF-499B61683FB8}"/>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Freeform 115">
              <a:extLst>
                <a:ext uri="{FF2B5EF4-FFF2-40B4-BE49-F238E27FC236}">
                  <a16:creationId xmlns:a16="http://schemas.microsoft.com/office/drawing/2014/main" id="{8AAFEB73-B442-224B-96A6-63129BA97E10}"/>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2" name="Freeform 116">
              <a:extLst>
                <a:ext uri="{FF2B5EF4-FFF2-40B4-BE49-F238E27FC236}">
                  <a16:creationId xmlns:a16="http://schemas.microsoft.com/office/drawing/2014/main" id="{E0880A41-79A8-9248-8678-A4C1ACE4B8B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3" name="Oval 117">
              <a:extLst>
                <a:ext uri="{FF2B5EF4-FFF2-40B4-BE49-F238E27FC236}">
                  <a16:creationId xmlns:a16="http://schemas.microsoft.com/office/drawing/2014/main" id="{11D25FBB-2A67-A949-8638-6A82B88E1AEE}"/>
                </a:ext>
              </a:extLst>
            </p:cNvPr>
            <p:cNvSpPr>
              <a:spLocks noChangeArrowheads="1"/>
            </p:cNvSpPr>
            <p:nvPr/>
          </p:nvSpPr>
          <p:spPr bwMode="auto">
            <a:xfrm>
              <a:off x="5516" y="2613"/>
              <a:ext cx="49" cy="97"/>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4" name="Freeform 118">
              <a:extLst>
                <a:ext uri="{FF2B5EF4-FFF2-40B4-BE49-F238E27FC236}">
                  <a16:creationId xmlns:a16="http://schemas.microsoft.com/office/drawing/2014/main" id="{9FEB11C7-9DF6-A746-9A7F-CE68217C13B7}"/>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185" name="AutoShape 119">
              <a:extLst>
                <a:ext uri="{FF2B5EF4-FFF2-40B4-BE49-F238E27FC236}">
                  <a16:creationId xmlns:a16="http://schemas.microsoft.com/office/drawing/2014/main" id="{D279A648-2B84-1346-BF0F-DB65CFB075C7}"/>
                </a:ext>
              </a:extLst>
            </p:cNvPr>
            <p:cNvSpPr>
              <a:spLocks noChangeArrowheads="1"/>
            </p:cNvSpPr>
            <p:nvPr/>
          </p:nvSpPr>
          <p:spPr bwMode="auto">
            <a:xfrm>
              <a:off x="4140" y="2679"/>
              <a:ext cx="1197" cy="146"/>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6" name="AutoShape 120">
              <a:extLst>
                <a:ext uri="{FF2B5EF4-FFF2-40B4-BE49-F238E27FC236}">
                  <a16:creationId xmlns:a16="http://schemas.microsoft.com/office/drawing/2014/main" id="{0EDBF10F-D10C-CA46-A0A9-1ACE621AD066}"/>
                </a:ext>
              </a:extLst>
            </p:cNvPr>
            <p:cNvSpPr>
              <a:spLocks noChangeArrowheads="1"/>
            </p:cNvSpPr>
            <p:nvPr/>
          </p:nvSpPr>
          <p:spPr bwMode="auto">
            <a:xfrm>
              <a:off x="4205" y="2710"/>
              <a:ext cx="1071" cy="85"/>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7" name="Oval 121">
              <a:extLst>
                <a:ext uri="{FF2B5EF4-FFF2-40B4-BE49-F238E27FC236}">
                  <a16:creationId xmlns:a16="http://schemas.microsoft.com/office/drawing/2014/main" id="{E4E41E31-C9C4-AF4E-A419-E8421CCEF424}"/>
                </a:ext>
              </a:extLst>
            </p:cNvPr>
            <p:cNvSpPr>
              <a:spLocks noChangeArrowheads="1"/>
            </p:cNvSpPr>
            <p:nvPr/>
          </p:nvSpPr>
          <p:spPr bwMode="auto">
            <a:xfrm>
              <a:off x="4309" y="2382"/>
              <a:ext cx="158" cy="146"/>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8" name="Oval 122">
              <a:extLst>
                <a:ext uri="{FF2B5EF4-FFF2-40B4-BE49-F238E27FC236}">
                  <a16:creationId xmlns:a16="http://schemas.microsoft.com/office/drawing/2014/main" id="{2C59CE5F-437A-C441-8354-6530041056CC}"/>
                </a:ext>
              </a:extLst>
            </p:cNvPr>
            <p:cNvSpPr>
              <a:spLocks noChangeArrowheads="1"/>
            </p:cNvSpPr>
            <p:nvPr/>
          </p:nvSpPr>
          <p:spPr bwMode="auto">
            <a:xfrm>
              <a:off x="4488" y="2382"/>
              <a:ext cx="158" cy="146"/>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189" name="Oval 123">
              <a:extLst>
                <a:ext uri="{FF2B5EF4-FFF2-40B4-BE49-F238E27FC236}">
                  <a16:creationId xmlns:a16="http://schemas.microsoft.com/office/drawing/2014/main" id="{E077C775-39FA-824B-8701-FA02EBEDC5FF}"/>
                </a:ext>
              </a:extLst>
            </p:cNvPr>
            <p:cNvSpPr>
              <a:spLocks noChangeArrowheads="1"/>
            </p:cNvSpPr>
            <p:nvPr/>
          </p:nvSpPr>
          <p:spPr bwMode="auto">
            <a:xfrm>
              <a:off x="4662" y="2382"/>
              <a:ext cx="158" cy="140"/>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Rectangle 124">
              <a:extLst>
                <a:ext uri="{FF2B5EF4-FFF2-40B4-BE49-F238E27FC236}">
                  <a16:creationId xmlns:a16="http://schemas.microsoft.com/office/drawing/2014/main" id="{858DFD8B-E1AF-0646-911F-639730691009}"/>
                </a:ext>
              </a:extLst>
            </p:cNvPr>
            <p:cNvSpPr>
              <a:spLocks noChangeArrowheads="1"/>
            </p:cNvSpPr>
            <p:nvPr/>
          </p:nvSpPr>
          <p:spPr bwMode="auto">
            <a:xfrm>
              <a:off x="5065" y="1836"/>
              <a:ext cx="82" cy="758"/>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Tree>
    <p:extLst>
      <p:ext uri="{BB962C8B-B14F-4D97-AF65-F5344CB8AC3E}">
        <p14:creationId xmlns:p14="http://schemas.microsoft.com/office/powerpoint/2010/main" val="3838170414"/>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6EBCF-1FC4-EBA7-BC1B-46273D055BF4}"/>
              </a:ext>
            </a:extLst>
          </p:cNvPr>
          <p:cNvSpPr txBox="1">
            <a:spLocks/>
          </p:cNvSpPr>
          <p:nvPr/>
        </p:nvSpPr>
        <p:spPr>
          <a:xfrm>
            <a:off x="399345" y="268136"/>
            <a:ext cx="11393310" cy="894622"/>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TCP Connection Setup: Three-Way Handshake</a:t>
            </a:r>
            <a:endParaRPr lang="en-US" dirty="0"/>
          </a:p>
        </p:txBody>
      </p:sp>
      <p:sp>
        <p:nvSpPr>
          <p:cNvPr id="3" name="Google Shape;828;p39">
            <a:extLst>
              <a:ext uri="{FF2B5EF4-FFF2-40B4-BE49-F238E27FC236}">
                <a16:creationId xmlns:a16="http://schemas.microsoft.com/office/drawing/2014/main" id="{A8CA3682-8B94-155D-BFB3-563317C09FAF}"/>
              </a:ext>
            </a:extLst>
          </p:cNvPr>
          <p:cNvSpPr txBox="1">
            <a:spLocks/>
          </p:cNvSpPr>
          <p:nvPr/>
        </p:nvSpPr>
        <p:spPr>
          <a:xfrm>
            <a:off x="418901" y="925645"/>
            <a:ext cx="7231136" cy="5785873"/>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dirty="0"/>
              <a:t>Goal: Each host tells its ISN to the other host</a:t>
            </a:r>
          </a:p>
          <a:p>
            <a:pPr marL="628650" indent="-514350">
              <a:spcBef>
                <a:spcPts val="600"/>
              </a:spcBef>
              <a:spcAft>
                <a:spcPts val="600"/>
              </a:spcAft>
              <a:buSzPts val="1800"/>
              <a:buFont typeface="+mj-lt"/>
              <a:buAutoNum type="arabicPeriod"/>
            </a:pPr>
            <a:r>
              <a:rPr lang="en-US" dirty="0">
                <a:solidFill>
                  <a:srgbClr val="0000FF"/>
                </a:solidFill>
              </a:rPr>
              <a:t>SYN.</a:t>
            </a:r>
            <a:r>
              <a:rPr lang="en-US" dirty="0"/>
              <a:t> Client says: "My ISN is </a:t>
            </a:r>
            <a:r>
              <a:rPr lang="en-US" i="1" dirty="0"/>
              <a:t>x</a:t>
            </a:r>
            <a:r>
              <a:rPr lang="en-US" dirty="0"/>
              <a:t>."</a:t>
            </a:r>
          </a:p>
          <a:p>
            <a:pPr marL="628650" indent="-514350">
              <a:spcBef>
                <a:spcPts val="0"/>
              </a:spcBef>
              <a:spcAft>
                <a:spcPts val="600"/>
              </a:spcAft>
              <a:buSzPts val="1800"/>
              <a:buFont typeface="+mj-lt"/>
              <a:buAutoNum type="arabicPeriod"/>
            </a:pPr>
            <a:r>
              <a:rPr lang="en-US" dirty="0">
                <a:solidFill>
                  <a:schemeClr val="accent2"/>
                </a:solidFill>
              </a:rPr>
              <a:t>SYN-ACK.</a:t>
            </a:r>
            <a:r>
              <a:rPr lang="en-US" dirty="0"/>
              <a:t> Server says</a:t>
            </a:r>
            <a:r>
              <a:rPr lang="en-US"/>
              <a:t>: “I </a:t>
            </a:r>
            <a:r>
              <a:rPr lang="en-US" dirty="0"/>
              <a:t>received </a:t>
            </a:r>
            <a:r>
              <a:rPr lang="en-US" i="1" dirty="0"/>
              <a:t>x</a:t>
            </a:r>
            <a:r>
              <a:rPr lang="en-US" dirty="0"/>
              <a:t> (expecting </a:t>
            </a:r>
            <a:r>
              <a:rPr lang="en-US" i="1" dirty="0"/>
              <a:t>x</a:t>
            </a:r>
            <a:r>
              <a:rPr lang="en-US" dirty="0"/>
              <a:t>+1 next). Also, </a:t>
            </a:r>
            <a:r>
              <a:rPr lang="en-US" b="1" dirty="0"/>
              <a:t>my ISN is </a:t>
            </a:r>
            <a:r>
              <a:rPr lang="en-US" b="1" i="1" dirty="0"/>
              <a:t>y</a:t>
            </a:r>
            <a:r>
              <a:rPr lang="en-US" dirty="0"/>
              <a:t>.”</a:t>
            </a:r>
          </a:p>
          <a:p>
            <a:pPr marL="0" lvl="0" indent="0">
              <a:spcBef>
                <a:spcPts val="600"/>
              </a:spcBef>
              <a:spcAft>
                <a:spcPts val="600"/>
              </a:spcAft>
              <a:buNone/>
            </a:pPr>
            <a:r>
              <a:rPr lang="en-US" dirty="0"/>
              <a:t>         </a:t>
            </a:r>
            <a:r>
              <a:rPr lang="en-US" dirty="0">
                <a:solidFill>
                  <a:srgbClr val="C00000"/>
                </a:solidFill>
              </a:rPr>
              <a:t>Connections in TCP are </a:t>
            </a:r>
            <a:r>
              <a:rPr lang="en-US" b="1" dirty="0">
                <a:solidFill>
                  <a:srgbClr val="C00000"/>
                </a:solidFill>
              </a:rPr>
              <a:t>full-duplex</a:t>
            </a:r>
            <a:r>
              <a:rPr lang="en-US" dirty="0">
                <a:solidFill>
                  <a:srgbClr val="C00000"/>
                </a:solidFill>
              </a:rPr>
              <a:t>:</a:t>
            </a:r>
            <a:endParaRPr lang="en-US" dirty="0"/>
          </a:p>
          <a:p>
            <a:pPr marL="914400" lvl="1" indent="-342900">
              <a:spcBef>
                <a:spcPts val="600"/>
              </a:spcBef>
              <a:spcAft>
                <a:spcPts val="600"/>
              </a:spcAft>
              <a:buSzPts val="1800"/>
              <a:buChar char="●"/>
            </a:pPr>
            <a:r>
              <a:rPr lang="en-US" dirty="0"/>
              <a:t>Both hosts can send data, and both hosts can receive data</a:t>
            </a:r>
          </a:p>
          <a:p>
            <a:pPr marL="914400" lvl="1" indent="-342900">
              <a:spcBef>
                <a:spcPts val="0"/>
              </a:spcBef>
              <a:spcAft>
                <a:spcPts val="600"/>
              </a:spcAft>
              <a:buSzPts val="1800"/>
              <a:buChar char="●"/>
            </a:pPr>
            <a:r>
              <a:rPr lang="en-US" dirty="0"/>
              <a:t>A can send to B, and B can send to A, simultaneously, in the same connection</a:t>
            </a:r>
          </a:p>
          <a:p>
            <a:pPr marL="628650" indent="-514350">
              <a:spcBef>
                <a:spcPts val="0"/>
              </a:spcBef>
              <a:spcAft>
                <a:spcPts val="600"/>
              </a:spcAft>
              <a:buSzPts val="1800"/>
              <a:buFont typeface="+mj-lt"/>
              <a:buAutoNum type="arabicPeriod"/>
            </a:pPr>
            <a:r>
              <a:rPr lang="en-US" dirty="0">
                <a:solidFill>
                  <a:srgbClr val="0000FF"/>
                </a:solidFill>
              </a:rPr>
              <a:t>ACK</a:t>
            </a:r>
            <a:r>
              <a:rPr lang="en-US" dirty="0"/>
              <a:t>. Client says: "I received </a:t>
            </a:r>
            <a:r>
              <a:rPr lang="en-US" i="1" dirty="0"/>
              <a:t>y</a:t>
            </a:r>
            <a:r>
              <a:rPr lang="en-US" dirty="0"/>
              <a:t> (expecting </a:t>
            </a:r>
            <a:r>
              <a:rPr lang="en-US" i="1" dirty="0"/>
              <a:t>y</a:t>
            </a:r>
            <a:r>
              <a:rPr lang="en-US" dirty="0"/>
              <a:t>+1 next)."</a:t>
            </a:r>
          </a:p>
          <a:p>
            <a:pPr marL="0" indent="0">
              <a:spcBef>
                <a:spcPts val="600"/>
              </a:spcBef>
              <a:spcAft>
                <a:spcPts val="600"/>
              </a:spcAft>
              <a:buFont typeface="Arial" panose="020B0604020202020204" pitchFamily="34" charset="0"/>
              <a:buNone/>
            </a:pPr>
            <a:r>
              <a:rPr lang="en-US" dirty="0"/>
              <a:t>After the three-way handshake, both sides can start sending data</a:t>
            </a:r>
          </a:p>
        </p:txBody>
      </p:sp>
      <p:grpSp>
        <p:nvGrpSpPr>
          <p:cNvPr id="17" name="Group 16">
            <a:extLst>
              <a:ext uri="{FF2B5EF4-FFF2-40B4-BE49-F238E27FC236}">
                <a16:creationId xmlns:a16="http://schemas.microsoft.com/office/drawing/2014/main" id="{BC86A6E2-E88F-7A3B-FAA1-ABB527C8E91E}"/>
              </a:ext>
            </a:extLst>
          </p:cNvPr>
          <p:cNvGrpSpPr/>
          <p:nvPr/>
        </p:nvGrpSpPr>
        <p:grpSpPr>
          <a:xfrm>
            <a:off x="7164281" y="2347039"/>
            <a:ext cx="5359830" cy="2943083"/>
            <a:chOff x="3961450" y="4388115"/>
            <a:chExt cx="4173859" cy="2201749"/>
          </a:xfrm>
        </p:grpSpPr>
        <p:grpSp>
          <p:nvGrpSpPr>
            <p:cNvPr id="4" name="Google Shape;829;p39">
              <a:extLst>
                <a:ext uri="{FF2B5EF4-FFF2-40B4-BE49-F238E27FC236}">
                  <a16:creationId xmlns:a16="http://schemas.microsoft.com/office/drawing/2014/main" id="{EEC0AF68-DB9C-8540-0C67-279B4262480F}"/>
                </a:ext>
              </a:extLst>
            </p:cNvPr>
            <p:cNvGrpSpPr/>
            <p:nvPr/>
          </p:nvGrpSpPr>
          <p:grpSpPr>
            <a:xfrm>
              <a:off x="4515850" y="4864087"/>
              <a:ext cx="3015000" cy="708253"/>
              <a:chOff x="3039475" y="3322547"/>
              <a:chExt cx="3015000" cy="708253"/>
            </a:xfrm>
          </p:grpSpPr>
          <p:cxnSp>
            <p:nvCxnSpPr>
              <p:cNvPr id="5" name="Google Shape;830;p39">
                <a:extLst>
                  <a:ext uri="{FF2B5EF4-FFF2-40B4-BE49-F238E27FC236}">
                    <a16:creationId xmlns:a16="http://schemas.microsoft.com/office/drawing/2014/main" id="{C6922E87-24F3-7373-9BB1-C5ACB4B0049D}"/>
                  </a:ext>
                </a:extLst>
              </p:cNvPr>
              <p:cNvCxnSpPr/>
              <p:nvPr/>
            </p:nvCxnSpPr>
            <p:spPr>
              <a:xfrm flipH="1">
                <a:off x="3039475" y="35814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6" name="Google Shape;831;p39">
                <a:extLst>
                  <a:ext uri="{FF2B5EF4-FFF2-40B4-BE49-F238E27FC236}">
                    <a16:creationId xmlns:a16="http://schemas.microsoft.com/office/drawing/2014/main" id="{A0528B65-869C-9816-5369-D5F1A9D56ED4}"/>
                  </a:ext>
                </a:extLst>
              </p:cNvPr>
              <p:cNvSpPr txBox="1"/>
              <p:nvPr/>
            </p:nvSpPr>
            <p:spPr>
              <a:xfrm rot="-511597">
                <a:off x="3051494" y="3533687"/>
                <a:ext cx="286911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dirty="0">
                    <a:solidFill>
                      <a:schemeClr val="accent2"/>
                    </a:solidFill>
                    <a:latin typeface="Roboto"/>
                    <a:ea typeface="Roboto"/>
                    <a:cs typeface="Roboto"/>
                    <a:sym typeface="Roboto"/>
                  </a:rPr>
                  <a:t>SYN-ACK. </a:t>
                </a:r>
                <a:r>
                  <a:rPr lang="en" b="1" dirty="0">
                    <a:solidFill>
                      <a:schemeClr val="accent2"/>
                    </a:solidFill>
                    <a:latin typeface="Roboto"/>
                    <a:ea typeface="Roboto"/>
                    <a:cs typeface="Roboto"/>
                    <a:sym typeface="Roboto"/>
                  </a:rPr>
                  <a:t>seq=</a:t>
                </a:r>
                <a:r>
                  <a:rPr lang="en" b="1" i="1" dirty="0">
                    <a:solidFill>
                      <a:schemeClr val="accent2"/>
                    </a:solidFill>
                    <a:latin typeface="Roboto"/>
                    <a:ea typeface="Roboto"/>
                    <a:cs typeface="Roboto"/>
                    <a:sym typeface="Roboto"/>
                  </a:rPr>
                  <a:t>y</a:t>
                </a:r>
                <a:r>
                  <a:rPr lang="en" dirty="0">
                    <a:solidFill>
                      <a:schemeClr val="accent2"/>
                    </a:solidFill>
                    <a:latin typeface="Roboto"/>
                    <a:ea typeface="Roboto"/>
                    <a:cs typeface="Roboto"/>
                    <a:sym typeface="Roboto"/>
                  </a:rPr>
                  <a:t>, ack=</a:t>
                </a:r>
                <a:r>
                  <a:rPr lang="en" i="1" dirty="0">
                    <a:solidFill>
                      <a:schemeClr val="accent2"/>
                    </a:solidFill>
                    <a:latin typeface="Roboto"/>
                    <a:ea typeface="Roboto"/>
                    <a:cs typeface="Roboto"/>
                    <a:sym typeface="Roboto"/>
                  </a:rPr>
                  <a:t>x</a:t>
                </a:r>
                <a:r>
                  <a:rPr lang="en" dirty="0">
                    <a:solidFill>
                      <a:schemeClr val="accent2"/>
                    </a:solidFill>
                    <a:latin typeface="Roboto"/>
                    <a:ea typeface="Roboto"/>
                    <a:cs typeface="Roboto"/>
                    <a:sym typeface="Roboto"/>
                  </a:rPr>
                  <a:t>+1</a:t>
                </a:r>
                <a:endParaRPr dirty="0">
                  <a:solidFill>
                    <a:schemeClr val="accent2"/>
                  </a:solidFill>
                  <a:latin typeface="Roboto"/>
                  <a:ea typeface="Roboto"/>
                  <a:cs typeface="Roboto"/>
                  <a:sym typeface="Roboto"/>
                </a:endParaRPr>
              </a:p>
            </p:txBody>
          </p:sp>
        </p:grpSp>
        <p:cxnSp>
          <p:nvCxnSpPr>
            <p:cNvPr id="7" name="Google Shape;832;p39">
              <a:extLst>
                <a:ext uri="{FF2B5EF4-FFF2-40B4-BE49-F238E27FC236}">
                  <a16:creationId xmlns:a16="http://schemas.microsoft.com/office/drawing/2014/main" id="{A9DD11F8-3106-E875-A592-951853993713}"/>
                </a:ext>
              </a:extLst>
            </p:cNvPr>
            <p:cNvCxnSpPr/>
            <p:nvPr/>
          </p:nvCxnSpPr>
          <p:spPr>
            <a:xfrm>
              <a:off x="4513900" y="4388115"/>
              <a:ext cx="0" cy="1930800"/>
            </a:xfrm>
            <a:prstGeom prst="straightConnector1">
              <a:avLst/>
            </a:prstGeom>
            <a:noFill/>
            <a:ln w="19050" cap="flat" cmpd="sng">
              <a:solidFill>
                <a:srgbClr val="0000FF"/>
              </a:solidFill>
              <a:prstDash val="solid"/>
              <a:round/>
              <a:headEnd type="none" w="med" len="med"/>
              <a:tailEnd type="none" w="med" len="med"/>
            </a:ln>
          </p:spPr>
        </p:cxnSp>
        <p:sp>
          <p:nvSpPr>
            <p:cNvPr id="8" name="Google Shape;833;p39">
              <a:extLst>
                <a:ext uri="{FF2B5EF4-FFF2-40B4-BE49-F238E27FC236}">
                  <a16:creationId xmlns:a16="http://schemas.microsoft.com/office/drawing/2014/main" id="{5BB6462A-BEFE-1571-3D7C-CFEEB67066AB}"/>
                </a:ext>
              </a:extLst>
            </p:cNvPr>
            <p:cNvSpPr txBox="1"/>
            <p:nvPr/>
          </p:nvSpPr>
          <p:spPr>
            <a:xfrm>
              <a:off x="3961450" y="631896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9" name="Google Shape;834;p39">
              <a:extLst>
                <a:ext uri="{FF2B5EF4-FFF2-40B4-BE49-F238E27FC236}">
                  <a16:creationId xmlns:a16="http://schemas.microsoft.com/office/drawing/2014/main" id="{238A2679-94D6-BF37-59F1-E33EE4CBA396}"/>
                </a:ext>
              </a:extLst>
            </p:cNvPr>
            <p:cNvCxnSpPr/>
            <p:nvPr/>
          </p:nvCxnSpPr>
          <p:spPr>
            <a:xfrm>
              <a:off x="7535300" y="4388115"/>
              <a:ext cx="0" cy="1930800"/>
            </a:xfrm>
            <a:prstGeom prst="straightConnector1">
              <a:avLst/>
            </a:prstGeom>
            <a:noFill/>
            <a:ln w="19050" cap="flat" cmpd="sng">
              <a:solidFill>
                <a:schemeClr val="accent2"/>
              </a:solidFill>
              <a:prstDash val="solid"/>
              <a:round/>
              <a:headEnd type="none" w="med" len="med"/>
              <a:tailEnd type="none" w="med" len="med"/>
            </a:ln>
          </p:spPr>
        </p:cxnSp>
        <p:sp>
          <p:nvSpPr>
            <p:cNvPr id="10" name="Google Shape;835;p39">
              <a:extLst>
                <a:ext uri="{FF2B5EF4-FFF2-40B4-BE49-F238E27FC236}">
                  <a16:creationId xmlns:a16="http://schemas.microsoft.com/office/drawing/2014/main" id="{AC576A9D-F839-A971-4004-64F4C15FF0CC}"/>
                </a:ext>
              </a:extLst>
            </p:cNvPr>
            <p:cNvSpPr txBox="1"/>
            <p:nvPr/>
          </p:nvSpPr>
          <p:spPr>
            <a:xfrm>
              <a:off x="6935309" y="631896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11" name="Google Shape;836;p39">
              <a:extLst>
                <a:ext uri="{FF2B5EF4-FFF2-40B4-BE49-F238E27FC236}">
                  <a16:creationId xmlns:a16="http://schemas.microsoft.com/office/drawing/2014/main" id="{835CE447-FEE6-7E0E-C2F5-D29EF377CC73}"/>
                </a:ext>
              </a:extLst>
            </p:cNvPr>
            <p:cNvGrpSpPr/>
            <p:nvPr/>
          </p:nvGrpSpPr>
          <p:grpSpPr>
            <a:xfrm>
              <a:off x="4515875" y="4400065"/>
              <a:ext cx="3007800" cy="597249"/>
              <a:chOff x="3039500" y="3010925"/>
              <a:chExt cx="3007800" cy="597249"/>
            </a:xfrm>
          </p:grpSpPr>
          <p:cxnSp>
            <p:nvCxnSpPr>
              <p:cNvPr id="12" name="Google Shape;837;p39">
                <a:extLst>
                  <a:ext uri="{FF2B5EF4-FFF2-40B4-BE49-F238E27FC236}">
                    <a16:creationId xmlns:a16="http://schemas.microsoft.com/office/drawing/2014/main" id="{F056E6BE-AF21-F9BC-2D05-D6369C69A27C}"/>
                  </a:ext>
                </a:extLst>
              </p:cNvPr>
              <p:cNvCxnSpPr/>
              <p:nvPr/>
            </p:nvCxnSpPr>
            <p:spPr>
              <a:xfrm>
                <a:off x="3039500" y="3166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13" name="Google Shape;838;p39">
                <a:extLst>
                  <a:ext uri="{FF2B5EF4-FFF2-40B4-BE49-F238E27FC236}">
                    <a16:creationId xmlns:a16="http://schemas.microsoft.com/office/drawing/2014/main" id="{70BAADEE-AA90-34F9-B81E-C27A1462B029}"/>
                  </a:ext>
                </a:extLst>
              </p:cNvPr>
              <p:cNvSpPr txBox="1"/>
              <p:nvPr/>
            </p:nvSpPr>
            <p:spPr>
              <a:xfrm rot="509539">
                <a:off x="3957694" y="3092615"/>
                <a:ext cx="112746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SYN. seq=</a:t>
                </a:r>
                <a:r>
                  <a:rPr lang="en" i="1">
                    <a:solidFill>
                      <a:srgbClr val="0000FF"/>
                    </a:solidFill>
                    <a:latin typeface="Roboto"/>
                    <a:ea typeface="Roboto"/>
                    <a:cs typeface="Roboto"/>
                    <a:sym typeface="Roboto"/>
                  </a:rPr>
                  <a:t>x</a:t>
                </a:r>
                <a:endParaRPr i="1">
                  <a:solidFill>
                    <a:srgbClr val="0000FF"/>
                  </a:solidFill>
                  <a:latin typeface="Roboto"/>
                  <a:ea typeface="Roboto"/>
                  <a:cs typeface="Roboto"/>
                  <a:sym typeface="Roboto"/>
                </a:endParaRPr>
              </a:p>
            </p:txBody>
          </p:sp>
        </p:grpSp>
        <p:grpSp>
          <p:nvGrpSpPr>
            <p:cNvPr id="14" name="Google Shape;839;p39">
              <a:extLst>
                <a:ext uri="{FF2B5EF4-FFF2-40B4-BE49-F238E27FC236}">
                  <a16:creationId xmlns:a16="http://schemas.microsoft.com/office/drawing/2014/main" id="{3118FA30-FF7C-DE89-A1D9-28D021A8245F}"/>
                </a:ext>
              </a:extLst>
            </p:cNvPr>
            <p:cNvGrpSpPr/>
            <p:nvPr/>
          </p:nvGrpSpPr>
          <p:grpSpPr>
            <a:xfrm>
              <a:off x="4515875" y="5540865"/>
              <a:ext cx="3007800" cy="599449"/>
              <a:chOff x="3039500" y="3999325"/>
              <a:chExt cx="3007800" cy="599449"/>
            </a:xfrm>
          </p:grpSpPr>
          <p:cxnSp>
            <p:nvCxnSpPr>
              <p:cNvPr id="15" name="Google Shape;840;p39">
                <a:extLst>
                  <a:ext uri="{FF2B5EF4-FFF2-40B4-BE49-F238E27FC236}">
                    <a16:creationId xmlns:a16="http://schemas.microsoft.com/office/drawing/2014/main" id="{C4DE7A28-E4B2-D560-BDDA-E936B83C7B9D}"/>
                  </a:ext>
                </a:extLst>
              </p:cNvPr>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16" name="Google Shape;841;p39">
                <a:extLst>
                  <a:ext uri="{FF2B5EF4-FFF2-40B4-BE49-F238E27FC236}">
                    <a16:creationId xmlns:a16="http://schemas.microsoft.com/office/drawing/2014/main" id="{15D9AB12-78CE-F5BC-59AB-1567BD1A1017}"/>
                  </a:ext>
                </a:extLst>
              </p:cNvPr>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ACK. ack=</a:t>
                </a:r>
                <a:r>
                  <a:rPr lang="en" i="1">
                    <a:solidFill>
                      <a:srgbClr val="0000FF"/>
                    </a:solidFill>
                    <a:latin typeface="Roboto"/>
                    <a:ea typeface="Roboto"/>
                    <a:cs typeface="Roboto"/>
                    <a:sym typeface="Roboto"/>
                  </a:rPr>
                  <a:t>y</a:t>
                </a:r>
                <a:r>
                  <a:rPr lang="en">
                    <a:solidFill>
                      <a:srgbClr val="0000FF"/>
                    </a:solidFill>
                    <a:latin typeface="Roboto"/>
                    <a:ea typeface="Roboto"/>
                    <a:cs typeface="Roboto"/>
                    <a:sym typeface="Roboto"/>
                  </a:rPr>
                  <a:t>+1</a:t>
                </a:r>
                <a:endParaRPr>
                  <a:solidFill>
                    <a:srgbClr val="0000FF"/>
                  </a:solidFill>
                  <a:latin typeface="Roboto"/>
                  <a:ea typeface="Roboto"/>
                  <a:cs typeface="Roboto"/>
                  <a:sym typeface="Roboto"/>
                </a:endParaRPr>
              </a:p>
            </p:txBody>
          </p:sp>
        </p:grpSp>
      </p:grpSp>
    </p:spTree>
    <p:extLst>
      <p:ext uri="{BB962C8B-B14F-4D97-AF65-F5344CB8AC3E}">
        <p14:creationId xmlns:p14="http://schemas.microsoft.com/office/powerpoint/2010/main" val="3570192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6A37163-DF14-866D-5A85-0E2F0969DDFC}"/>
              </a:ext>
            </a:extLst>
          </p:cNvPr>
          <p:cNvGrpSpPr/>
          <p:nvPr/>
        </p:nvGrpSpPr>
        <p:grpSpPr>
          <a:xfrm>
            <a:off x="301701" y="1932421"/>
            <a:ext cx="3093886" cy="4073590"/>
            <a:chOff x="4464473" y="2492809"/>
            <a:chExt cx="3093886" cy="4073590"/>
          </a:xfrm>
        </p:grpSpPr>
        <p:sp>
          <p:nvSpPr>
            <p:cNvPr id="215" name="Line 5">
              <a:extLst>
                <a:ext uri="{FF2B5EF4-FFF2-40B4-BE49-F238E27FC236}">
                  <a16:creationId xmlns:a16="http://schemas.microsoft.com/office/drawing/2014/main" id="{977A2B4A-655D-5443-8A4F-92884511787E}"/>
                </a:ext>
              </a:extLst>
            </p:cNvPr>
            <p:cNvSpPr>
              <a:spLocks noChangeShapeType="1"/>
            </p:cNvSpPr>
            <p:nvPr/>
          </p:nvSpPr>
          <p:spPr bwMode="auto">
            <a:xfrm flipH="1">
              <a:off x="4796631" y="3078661"/>
              <a:ext cx="1588" cy="2470150"/>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17" name="Line 10">
              <a:extLst>
                <a:ext uri="{FF2B5EF4-FFF2-40B4-BE49-F238E27FC236}">
                  <a16:creationId xmlns:a16="http://schemas.microsoft.com/office/drawing/2014/main" id="{EE87312F-9111-3748-8D8C-BFB220C5EE37}"/>
                </a:ext>
              </a:extLst>
            </p:cNvPr>
            <p:cNvSpPr>
              <a:spLocks noChangeShapeType="1"/>
            </p:cNvSpPr>
            <p:nvPr/>
          </p:nvSpPr>
          <p:spPr bwMode="auto">
            <a:xfrm>
              <a:off x="4798219" y="3226299"/>
              <a:ext cx="2506662" cy="7350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Rectangle 12">
              <a:extLst>
                <a:ext uri="{FF2B5EF4-FFF2-40B4-BE49-F238E27FC236}">
                  <a16:creationId xmlns:a16="http://schemas.microsoft.com/office/drawing/2014/main" id="{F50F8FCD-3A00-574F-A159-92B207C593BD}"/>
                </a:ext>
              </a:extLst>
            </p:cNvPr>
            <p:cNvSpPr>
              <a:spLocks noChangeArrowheads="1"/>
            </p:cNvSpPr>
            <p:nvPr/>
          </p:nvSpPr>
          <p:spPr bwMode="auto">
            <a:xfrm>
              <a:off x="5522119" y="3326311"/>
              <a:ext cx="936625" cy="4286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9" name="Text Box 13">
              <a:extLst>
                <a:ext uri="{FF2B5EF4-FFF2-40B4-BE49-F238E27FC236}">
                  <a16:creationId xmlns:a16="http://schemas.microsoft.com/office/drawing/2014/main" id="{24E8EE1C-DBA9-8F4D-82EE-29CEECDFAAD7}"/>
                </a:ext>
              </a:extLst>
            </p:cNvPr>
            <p:cNvSpPr txBox="1">
              <a:spLocks noChangeArrowheads="1"/>
            </p:cNvSpPr>
            <p:nvPr/>
          </p:nvSpPr>
          <p:spPr bwMode="auto">
            <a:xfrm>
              <a:off x="5191919" y="3419974"/>
              <a:ext cx="1739900"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SYNbit=1, Seq=x</a:t>
              </a:r>
            </a:p>
          </p:txBody>
        </p:sp>
        <p:sp>
          <p:nvSpPr>
            <p:cNvPr id="221" name="Line 22">
              <a:extLst>
                <a:ext uri="{FF2B5EF4-FFF2-40B4-BE49-F238E27FC236}">
                  <a16:creationId xmlns:a16="http://schemas.microsoft.com/office/drawing/2014/main" id="{2FC7049F-93A3-A84A-9D90-B3F4B6E3F6E9}"/>
                </a:ext>
              </a:extLst>
            </p:cNvPr>
            <p:cNvSpPr>
              <a:spLocks noChangeShapeType="1"/>
            </p:cNvSpPr>
            <p:nvPr/>
          </p:nvSpPr>
          <p:spPr bwMode="auto">
            <a:xfrm flipH="1">
              <a:off x="7385844" y="3148511"/>
              <a:ext cx="1587" cy="3417888"/>
            </a:xfrm>
            <a:prstGeom prst="line">
              <a:avLst/>
            </a:prstGeom>
            <a:noFill/>
            <a:ln w="9525">
              <a:solidFill>
                <a:srgbClr val="777777"/>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224" name="Line 11">
              <a:extLst>
                <a:ext uri="{FF2B5EF4-FFF2-40B4-BE49-F238E27FC236}">
                  <a16:creationId xmlns:a16="http://schemas.microsoft.com/office/drawing/2014/main" id="{660BD729-B466-584F-9DAC-1C1358024968}"/>
                </a:ext>
              </a:extLst>
            </p:cNvPr>
            <p:cNvSpPr>
              <a:spLocks noChangeShapeType="1"/>
            </p:cNvSpPr>
            <p:nvPr/>
          </p:nvSpPr>
          <p:spPr bwMode="auto">
            <a:xfrm flipH="1">
              <a:off x="4795044" y="4066086"/>
              <a:ext cx="2508250" cy="1035050"/>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5" name="Rectangle 14">
              <a:extLst>
                <a:ext uri="{FF2B5EF4-FFF2-40B4-BE49-F238E27FC236}">
                  <a16:creationId xmlns:a16="http://schemas.microsoft.com/office/drawing/2014/main" id="{36832487-CAD9-A047-9D5F-96D1B02D3E65}"/>
                </a:ext>
              </a:extLst>
            </p:cNvPr>
            <p:cNvSpPr>
              <a:spLocks noChangeArrowheads="1"/>
            </p:cNvSpPr>
            <p:nvPr/>
          </p:nvSpPr>
          <p:spPr bwMode="auto">
            <a:xfrm>
              <a:off x="5304631" y="4343899"/>
              <a:ext cx="1422400" cy="519113"/>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Text Box 83">
              <a:extLst>
                <a:ext uri="{FF2B5EF4-FFF2-40B4-BE49-F238E27FC236}">
                  <a16:creationId xmlns:a16="http://schemas.microsoft.com/office/drawing/2014/main" id="{393E04DD-B089-D14F-BFBB-76E878EC5F6F}"/>
                </a:ext>
              </a:extLst>
            </p:cNvPr>
            <p:cNvSpPr txBox="1">
              <a:spLocks noChangeArrowheads="1"/>
            </p:cNvSpPr>
            <p:nvPr/>
          </p:nvSpPr>
          <p:spPr bwMode="auto">
            <a:xfrm>
              <a:off x="4952206" y="4285161"/>
              <a:ext cx="2435225" cy="58102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SYNbit=1, Seq=y</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ACKbit=1; ACKnum=x+1</a:t>
              </a:r>
            </a:p>
          </p:txBody>
        </p:sp>
        <p:sp>
          <p:nvSpPr>
            <p:cNvPr id="229" name="Line 84">
              <a:extLst>
                <a:ext uri="{FF2B5EF4-FFF2-40B4-BE49-F238E27FC236}">
                  <a16:creationId xmlns:a16="http://schemas.microsoft.com/office/drawing/2014/main" id="{31D580AA-9CAF-1544-A3DB-06757FBBB395}"/>
                </a:ext>
              </a:extLst>
            </p:cNvPr>
            <p:cNvSpPr>
              <a:spLocks noChangeShapeType="1"/>
            </p:cNvSpPr>
            <p:nvPr/>
          </p:nvSpPr>
          <p:spPr bwMode="auto">
            <a:xfrm>
              <a:off x="4815681" y="5172574"/>
              <a:ext cx="2506662" cy="735013"/>
            </a:xfrm>
            <a:prstGeom prst="line">
              <a:avLst/>
            </a:prstGeom>
            <a:noFill/>
            <a:ln w="28575">
              <a:solidFill>
                <a:srgbClr val="000099"/>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0" name="Rectangle 89">
              <a:extLst>
                <a:ext uri="{FF2B5EF4-FFF2-40B4-BE49-F238E27FC236}">
                  <a16:creationId xmlns:a16="http://schemas.microsoft.com/office/drawing/2014/main" id="{60D16AD1-FAFA-6248-BB4D-76643C40A64C}"/>
                </a:ext>
              </a:extLst>
            </p:cNvPr>
            <p:cNvSpPr>
              <a:spLocks noChangeArrowheads="1"/>
            </p:cNvSpPr>
            <p:nvPr/>
          </p:nvSpPr>
          <p:spPr bwMode="auto">
            <a:xfrm>
              <a:off x="5471319" y="5296399"/>
              <a:ext cx="1230312" cy="428625"/>
            </a:xfrm>
            <a:prstGeom prst="rect">
              <a:avLst/>
            </a:prstGeom>
            <a:solidFill>
              <a:srgbClr val="FFFF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31" name="Text Box 90">
              <a:extLst>
                <a:ext uri="{FF2B5EF4-FFF2-40B4-BE49-F238E27FC236}">
                  <a16:creationId xmlns:a16="http://schemas.microsoft.com/office/drawing/2014/main" id="{D8F9F960-0A9B-F045-8B04-6F4D63130318}"/>
                </a:ext>
              </a:extLst>
            </p:cNvPr>
            <p:cNvSpPr txBox="1">
              <a:spLocks noChangeArrowheads="1"/>
            </p:cNvSpPr>
            <p:nvPr/>
          </p:nvSpPr>
          <p:spPr bwMode="auto">
            <a:xfrm>
              <a:off x="4845844" y="5369424"/>
              <a:ext cx="2427287" cy="336550"/>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ACKbit=1, ACKnum=y+1</a:t>
              </a:r>
            </a:p>
          </p:txBody>
        </p:sp>
        <p:grpSp>
          <p:nvGrpSpPr>
            <p:cNvPr id="249" name="Group 118">
              <a:extLst>
                <a:ext uri="{FF2B5EF4-FFF2-40B4-BE49-F238E27FC236}">
                  <a16:creationId xmlns:a16="http://schemas.microsoft.com/office/drawing/2014/main" id="{EE14688C-F1C2-7F41-8726-D165159240FD}"/>
                </a:ext>
              </a:extLst>
            </p:cNvPr>
            <p:cNvGrpSpPr>
              <a:grpSpLocks/>
            </p:cNvGrpSpPr>
            <p:nvPr/>
          </p:nvGrpSpPr>
          <p:grpSpPr bwMode="auto">
            <a:xfrm>
              <a:off x="4464473" y="2492809"/>
              <a:ext cx="642937" cy="600075"/>
              <a:chOff x="-44" y="1473"/>
              <a:chExt cx="981" cy="1105"/>
            </a:xfrm>
          </p:grpSpPr>
          <p:pic>
            <p:nvPicPr>
              <p:cNvPr id="424" name="Picture 119" descr="desktop_computer_stylized_medium">
                <a:extLst>
                  <a:ext uri="{FF2B5EF4-FFF2-40B4-BE49-F238E27FC236}">
                    <a16:creationId xmlns:a16="http://schemas.microsoft.com/office/drawing/2014/main" id="{1C11CA15-FEC8-A341-80F1-CFA1FA9F14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5" name="Freeform 120">
                <a:extLst>
                  <a:ext uri="{FF2B5EF4-FFF2-40B4-BE49-F238E27FC236}">
                    <a16:creationId xmlns:a16="http://schemas.microsoft.com/office/drawing/2014/main" id="{8CCBA09D-3C96-6544-9960-AA2F6CD2F418}"/>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50" name="Group 121">
              <a:extLst>
                <a:ext uri="{FF2B5EF4-FFF2-40B4-BE49-F238E27FC236}">
                  <a16:creationId xmlns:a16="http://schemas.microsoft.com/office/drawing/2014/main" id="{DC61BD1A-A71F-CF4B-B53E-5ECC0609FEB5}"/>
                </a:ext>
              </a:extLst>
            </p:cNvPr>
            <p:cNvGrpSpPr>
              <a:grpSpLocks/>
            </p:cNvGrpSpPr>
            <p:nvPr/>
          </p:nvGrpSpPr>
          <p:grpSpPr bwMode="auto">
            <a:xfrm>
              <a:off x="7221809" y="2580121"/>
              <a:ext cx="336550" cy="512763"/>
              <a:chOff x="4140" y="429"/>
              <a:chExt cx="1425" cy="2396"/>
            </a:xfrm>
          </p:grpSpPr>
          <p:sp>
            <p:nvSpPr>
              <p:cNvPr id="251" name="Freeform 122">
                <a:extLst>
                  <a:ext uri="{FF2B5EF4-FFF2-40B4-BE49-F238E27FC236}">
                    <a16:creationId xmlns:a16="http://schemas.microsoft.com/office/drawing/2014/main" id="{0CD95998-3FB2-FF44-94A2-CC491B713340}"/>
                  </a:ext>
                </a:extLst>
              </p:cNvPr>
              <p:cNvSpPr>
                <a:spLocks/>
              </p:cNvSpPr>
              <p:nvPr/>
            </p:nvSpPr>
            <p:spPr bwMode="auto">
              <a:xfrm>
                <a:off x="5268" y="433"/>
                <a:ext cx="283" cy="2286"/>
              </a:xfrm>
              <a:custGeom>
                <a:avLst/>
                <a:gdLst>
                  <a:gd name="T0" fmla="*/ 7 w 354"/>
                  <a:gd name="T1" fmla="*/ 0 h 2742"/>
                  <a:gd name="T2" fmla="*/ 38 w 354"/>
                  <a:gd name="T3" fmla="*/ 55 h 2742"/>
                  <a:gd name="T4" fmla="*/ 37 w 354"/>
                  <a:gd name="T5" fmla="*/ 425 h 2742"/>
                  <a:gd name="T6" fmla="*/ 0 w 354"/>
                  <a:gd name="T7" fmla="*/ 445 h 2742"/>
                  <a:gd name="T8" fmla="*/ 7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2" name="Rectangle 123">
                <a:extLst>
                  <a:ext uri="{FF2B5EF4-FFF2-40B4-BE49-F238E27FC236}">
                    <a16:creationId xmlns:a16="http://schemas.microsoft.com/office/drawing/2014/main" id="{BF76EB82-B4E1-B149-BE06-EFCD582E8676}"/>
                  </a:ext>
                </a:extLst>
              </p:cNvPr>
              <p:cNvSpPr>
                <a:spLocks noChangeArrowheads="1"/>
              </p:cNvSpPr>
              <p:nvPr/>
            </p:nvSpPr>
            <p:spPr bwMode="auto">
              <a:xfrm>
                <a:off x="4207" y="429"/>
                <a:ext cx="1049" cy="2285"/>
              </a:xfrm>
              <a:prstGeom prst="rect">
                <a:avLst/>
              </a:pr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53" name="Freeform 124">
                <a:extLst>
                  <a:ext uri="{FF2B5EF4-FFF2-40B4-BE49-F238E27FC236}">
                    <a16:creationId xmlns:a16="http://schemas.microsoft.com/office/drawing/2014/main" id="{338FE797-056A-6E48-9B03-4B0253D638FF}"/>
                  </a:ext>
                </a:extLst>
              </p:cNvPr>
              <p:cNvSpPr>
                <a:spLocks/>
              </p:cNvSpPr>
              <p:nvPr/>
            </p:nvSpPr>
            <p:spPr bwMode="auto">
              <a:xfrm>
                <a:off x="5321" y="570"/>
                <a:ext cx="169" cy="2115"/>
              </a:xfrm>
              <a:custGeom>
                <a:avLst/>
                <a:gdLst>
                  <a:gd name="T0" fmla="*/ 2 w 211"/>
                  <a:gd name="T1" fmla="*/ 0 h 2537"/>
                  <a:gd name="T2" fmla="*/ 23 w 211"/>
                  <a:gd name="T3" fmla="*/ 36 h 2537"/>
                  <a:gd name="T4" fmla="*/ 2 w 211"/>
                  <a:gd name="T5" fmla="*/ 405 h 2537"/>
                  <a:gd name="T6" fmla="*/ 2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4" name="Freeform 125">
                <a:extLst>
                  <a:ext uri="{FF2B5EF4-FFF2-40B4-BE49-F238E27FC236}">
                    <a16:creationId xmlns:a16="http://schemas.microsoft.com/office/drawing/2014/main" id="{8D12AA45-CFED-084A-B74C-A299F8140712}"/>
                  </a:ext>
                </a:extLst>
              </p:cNvPr>
              <p:cNvSpPr>
                <a:spLocks/>
              </p:cNvSpPr>
              <p:nvPr/>
            </p:nvSpPr>
            <p:spPr bwMode="auto">
              <a:xfrm>
                <a:off x="5284" y="1640"/>
                <a:ext cx="263" cy="189"/>
              </a:xfrm>
              <a:custGeom>
                <a:avLst/>
                <a:gdLst>
                  <a:gd name="T0" fmla="*/ 2 w 328"/>
                  <a:gd name="T1" fmla="*/ 0 h 226"/>
                  <a:gd name="T2" fmla="*/ 36 w 328"/>
                  <a:gd name="T3" fmla="*/ 21 h 226"/>
                  <a:gd name="T4" fmla="*/ 36 w 328"/>
                  <a:gd name="T5" fmla="*/ 38 h 226"/>
                  <a:gd name="T6" fmla="*/ 0 w 328"/>
                  <a:gd name="T7" fmla="*/ 16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55" name="Rectangle 126">
                <a:extLst>
                  <a:ext uri="{FF2B5EF4-FFF2-40B4-BE49-F238E27FC236}">
                    <a16:creationId xmlns:a16="http://schemas.microsoft.com/office/drawing/2014/main" id="{56E176FE-7110-C043-AC64-4C5F3D2E4792}"/>
                  </a:ext>
                </a:extLst>
              </p:cNvPr>
              <p:cNvSpPr>
                <a:spLocks noChangeArrowheads="1"/>
              </p:cNvSpPr>
              <p:nvPr/>
            </p:nvSpPr>
            <p:spPr bwMode="auto">
              <a:xfrm>
                <a:off x="4214" y="696"/>
                <a:ext cx="592"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56" name="Group 127">
                <a:extLst>
                  <a:ext uri="{FF2B5EF4-FFF2-40B4-BE49-F238E27FC236}">
                    <a16:creationId xmlns:a16="http://schemas.microsoft.com/office/drawing/2014/main" id="{A3707B54-2470-3A4A-B09A-A776F4E8539D}"/>
                  </a:ext>
                </a:extLst>
              </p:cNvPr>
              <p:cNvGrpSpPr>
                <a:grpSpLocks/>
              </p:cNvGrpSpPr>
              <p:nvPr/>
            </p:nvGrpSpPr>
            <p:grpSpPr bwMode="auto">
              <a:xfrm>
                <a:off x="4749" y="668"/>
                <a:ext cx="581" cy="145"/>
                <a:chOff x="614" y="2568"/>
                <a:chExt cx="725" cy="139"/>
              </a:xfrm>
            </p:grpSpPr>
            <p:sp>
              <p:nvSpPr>
                <p:cNvPr id="422" name="AutoShape 128">
                  <a:extLst>
                    <a:ext uri="{FF2B5EF4-FFF2-40B4-BE49-F238E27FC236}">
                      <a16:creationId xmlns:a16="http://schemas.microsoft.com/office/drawing/2014/main" id="{C32686E6-B534-4B48-85B4-322123C24741}"/>
                    </a:ext>
                  </a:extLst>
                </p:cNvPr>
                <p:cNvSpPr>
                  <a:spLocks noChangeArrowheads="1"/>
                </p:cNvSpPr>
                <p:nvPr/>
              </p:nvSpPr>
              <p:spPr bwMode="auto">
                <a:xfrm>
                  <a:off x="617" y="2566"/>
                  <a:ext cx="721" cy="142"/>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3" name="AutoShape 129">
                  <a:extLst>
                    <a:ext uri="{FF2B5EF4-FFF2-40B4-BE49-F238E27FC236}">
                      <a16:creationId xmlns:a16="http://schemas.microsoft.com/office/drawing/2014/main" id="{5846C4C5-19DD-E040-A465-B55F5E21A757}"/>
                    </a:ext>
                  </a:extLst>
                </p:cNvPr>
                <p:cNvSpPr>
                  <a:spLocks noChangeArrowheads="1"/>
                </p:cNvSpPr>
                <p:nvPr/>
              </p:nvSpPr>
              <p:spPr bwMode="auto">
                <a:xfrm>
                  <a:off x="634" y="2581"/>
                  <a:ext cx="688" cy="11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57" name="Rectangle 130">
                <a:extLst>
                  <a:ext uri="{FF2B5EF4-FFF2-40B4-BE49-F238E27FC236}">
                    <a16:creationId xmlns:a16="http://schemas.microsoft.com/office/drawing/2014/main" id="{E24E2E97-8AA8-D94D-B792-C58D1DB2D334}"/>
                  </a:ext>
                </a:extLst>
              </p:cNvPr>
              <p:cNvSpPr>
                <a:spLocks noChangeArrowheads="1"/>
              </p:cNvSpPr>
              <p:nvPr/>
            </p:nvSpPr>
            <p:spPr bwMode="auto">
              <a:xfrm>
                <a:off x="4221" y="1022"/>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58" name="Group 131">
                <a:extLst>
                  <a:ext uri="{FF2B5EF4-FFF2-40B4-BE49-F238E27FC236}">
                    <a16:creationId xmlns:a16="http://schemas.microsoft.com/office/drawing/2014/main" id="{01958DE7-9158-5C4A-975E-7090A73BD88C}"/>
                  </a:ext>
                </a:extLst>
              </p:cNvPr>
              <p:cNvGrpSpPr>
                <a:grpSpLocks/>
              </p:cNvGrpSpPr>
              <p:nvPr/>
            </p:nvGrpSpPr>
            <p:grpSpPr bwMode="auto">
              <a:xfrm>
                <a:off x="4747" y="994"/>
                <a:ext cx="581" cy="134"/>
                <a:chOff x="614" y="2568"/>
                <a:chExt cx="725" cy="139"/>
              </a:xfrm>
            </p:grpSpPr>
            <p:sp>
              <p:nvSpPr>
                <p:cNvPr id="420" name="AutoShape 132">
                  <a:extLst>
                    <a:ext uri="{FF2B5EF4-FFF2-40B4-BE49-F238E27FC236}">
                      <a16:creationId xmlns:a16="http://schemas.microsoft.com/office/drawing/2014/main" id="{0097250A-579E-714A-BB43-1775F7C45B3C}"/>
                    </a:ext>
                  </a:extLst>
                </p:cNvPr>
                <p:cNvSpPr>
                  <a:spLocks noChangeArrowheads="1"/>
                </p:cNvSpPr>
                <p:nvPr/>
              </p:nvSpPr>
              <p:spPr bwMode="auto">
                <a:xfrm>
                  <a:off x="611" y="2567"/>
                  <a:ext cx="730" cy="139"/>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21" name="AutoShape 133">
                  <a:extLst>
                    <a:ext uri="{FF2B5EF4-FFF2-40B4-BE49-F238E27FC236}">
                      <a16:creationId xmlns:a16="http://schemas.microsoft.com/office/drawing/2014/main" id="{011ECBC9-4E9D-9949-BBD3-4E72A731A813}"/>
                    </a:ext>
                  </a:extLst>
                </p:cNvPr>
                <p:cNvSpPr>
                  <a:spLocks noChangeArrowheads="1"/>
                </p:cNvSpPr>
                <p:nvPr/>
              </p:nvSpPr>
              <p:spPr bwMode="auto">
                <a:xfrm>
                  <a:off x="628" y="2582"/>
                  <a:ext cx="696"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59" name="Rectangle 134">
                <a:extLst>
                  <a:ext uri="{FF2B5EF4-FFF2-40B4-BE49-F238E27FC236}">
                    <a16:creationId xmlns:a16="http://schemas.microsoft.com/office/drawing/2014/main" id="{52385C15-71CF-0646-85DA-481C87C2251B}"/>
                  </a:ext>
                </a:extLst>
              </p:cNvPr>
              <p:cNvSpPr>
                <a:spLocks noChangeArrowheads="1"/>
              </p:cNvSpPr>
              <p:nvPr/>
            </p:nvSpPr>
            <p:spPr bwMode="auto">
              <a:xfrm>
                <a:off x="4214" y="1356"/>
                <a:ext cx="598" cy="45"/>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0" name="Rectangle 135">
                <a:extLst>
                  <a:ext uri="{FF2B5EF4-FFF2-40B4-BE49-F238E27FC236}">
                    <a16:creationId xmlns:a16="http://schemas.microsoft.com/office/drawing/2014/main" id="{E9AFAD7D-A0FD-3344-8D9C-D21DB7BED2D3}"/>
                  </a:ext>
                </a:extLst>
              </p:cNvPr>
              <p:cNvSpPr>
                <a:spLocks noChangeArrowheads="1"/>
              </p:cNvSpPr>
              <p:nvPr/>
            </p:nvSpPr>
            <p:spPr bwMode="auto">
              <a:xfrm>
                <a:off x="4227" y="1653"/>
                <a:ext cx="598" cy="52"/>
              </a:xfrm>
              <a:prstGeom prst="rect">
                <a:avLst/>
              </a:prstGeom>
              <a:solidFill>
                <a:srgbClr val="000000"/>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61" name="Group 136">
                <a:extLst>
                  <a:ext uri="{FF2B5EF4-FFF2-40B4-BE49-F238E27FC236}">
                    <a16:creationId xmlns:a16="http://schemas.microsoft.com/office/drawing/2014/main" id="{36701E94-39B0-BB4E-B8F9-B11ED62531B0}"/>
                  </a:ext>
                </a:extLst>
              </p:cNvPr>
              <p:cNvGrpSpPr>
                <a:grpSpLocks/>
              </p:cNvGrpSpPr>
              <p:nvPr/>
            </p:nvGrpSpPr>
            <p:grpSpPr bwMode="auto">
              <a:xfrm>
                <a:off x="4735" y="1627"/>
                <a:ext cx="582" cy="151"/>
                <a:chOff x="614" y="2568"/>
                <a:chExt cx="725" cy="139"/>
              </a:xfrm>
            </p:grpSpPr>
            <p:sp>
              <p:nvSpPr>
                <p:cNvPr id="277" name="AutoShape 137">
                  <a:extLst>
                    <a:ext uri="{FF2B5EF4-FFF2-40B4-BE49-F238E27FC236}">
                      <a16:creationId xmlns:a16="http://schemas.microsoft.com/office/drawing/2014/main" id="{2535A487-3992-6B4F-9D85-E297BC39036D}"/>
                    </a:ext>
                  </a:extLst>
                </p:cNvPr>
                <p:cNvSpPr>
                  <a:spLocks noChangeArrowheads="1"/>
                </p:cNvSpPr>
                <p:nvPr/>
              </p:nvSpPr>
              <p:spPr bwMode="auto">
                <a:xfrm>
                  <a:off x="618" y="2571"/>
                  <a:ext cx="720" cy="137"/>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419" name="AutoShape 138">
                  <a:extLst>
                    <a:ext uri="{FF2B5EF4-FFF2-40B4-BE49-F238E27FC236}">
                      <a16:creationId xmlns:a16="http://schemas.microsoft.com/office/drawing/2014/main" id="{C55E1D44-7480-0442-A9DA-330FF7250538}"/>
                    </a:ext>
                  </a:extLst>
                </p:cNvPr>
                <p:cNvSpPr>
                  <a:spLocks noChangeArrowheads="1"/>
                </p:cNvSpPr>
                <p:nvPr/>
              </p:nvSpPr>
              <p:spPr bwMode="auto">
                <a:xfrm>
                  <a:off x="635" y="2585"/>
                  <a:ext cx="687" cy="109"/>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2" name="Freeform 139">
                <a:extLst>
                  <a:ext uri="{FF2B5EF4-FFF2-40B4-BE49-F238E27FC236}">
                    <a16:creationId xmlns:a16="http://schemas.microsoft.com/office/drawing/2014/main" id="{56DA20E3-D49F-444E-8D21-F715762F02DD}"/>
                  </a:ext>
                </a:extLst>
              </p:cNvPr>
              <p:cNvSpPr>
                <a:spLocks/>
              </p:cNvSpPr>
              <p:nvPr/>
            </p:nvSpPr>
            <p:spPr bwMode="auto">
              <a:xfrm>
                <a:off x="5288" y="1354"/>
                <a:ext cx="263" cy="188"/>
              </a:xfrm>
              <a:custGeom>
                <a:avLst/>
                <a:gdLst>
                  <a:gd name="T0" fmla="*/ 2 w 328"/>
                  <a:gd name="T1" fmla="*/ 0 h 226"/>
                  <a:gd name="T2" fmla="*/ 36 w 328"/>
                  <a:gd name="T3" fmla="*/ 20 h 226"/>
                  <a:gd name="T4" fmla="*/ 36 w 328"/>
                  <a:gd name="T5" fmla="*/ 36 h 226"/>
                  <a:gd name="T6" fmla="*/ 0 w 328"/>
                  <a:gd name="T7" fmla="*/ 15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nvGrpSpPr>
              <p:cNvPr id="263" name="Group 140">
                <a:extLst>
                  <a:ext uri="{FF2B5EF4-FFF2-40B4-BE49-F238E27FC236}">
                    <a16:creationId xmlns:a16="http://schemas.microsoft.com/office/drawing/2014/main" id="{350DC23D-91BA-0F49-A121-0BB6DA6FFB97}"/>
                  </a:ext>
                </a:extLst>
              </p:cNvPr>
              <p:cNvGrpSpPr>
                <a:grpSpLocks/>
              </p:cNvGrpSpPr>
              <p:nvPr/>
            </p:nvGrpSpPr>
            <p:grpSpPr bwMode="auto">
              <a:xfrm>
                <a:off x="4739" y="1327"/>
                <a:ext cx="582" cy="139"/>
                <a:chOff x="614" y="2568"/>
                <a:chExt cx="725" cy="139"/>
              </a:xfrm>
            </p:grpSpPr>
            <p:sp>
              <p:nvSpPr>
                <p:cNvPr id="275" name="AutoShape 141">
                  <a:extLst>
                    <a:ext uri="{FF2B5EF4-FFF2-40B4-BE49-F238E27FC236}">
                      <a16:creationId xmlns:a16="http://schemas.microsoft.com/office/drawing/2014/main" id="{B6F4CD24-7945-E141-8AE5-B72F07D79D0A}"/>
                    </a:ext>
                  </a:extLst>
                </p:cNvPr>
                <p:cNvSpPr>
                  <a:spLocks noChangeArrowheads="1"/>
                </p:cNvSpPr>
                <p:nvPr/>
              </p:nvSpPr>
              <p:spPr bwMode="auto">
                <a:xfrm>
                  <a:off x="613" y="2568"/>
                  <a:ext cx="728" cy="141"/>
                </a:xfrm>
                <a:prstGeom prst="roundRect">
                  <a:avLst>
                    <a:gd name="adj" fmla="val 50000"/>
                  </a:avLst>
                </a:prstGeom>
                <a:solidFill>
                  <a:srgbClr val="00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6" name="AutoShape 142">
                  <a:extLst>
                    <a:ext uri="{FF2B5EF4-FFF2-40B4-BE49-F238E27FC236}">
                      <a16:creationId xmlns:a16="http://schemas.microsoft.com/office/drawing/2014/main" id="{A13F2C2E-8E50-C242-BBFA-276B4503978A}"/>
                    </a:ext>
                  </a:extLst>
                </p:cNvPr>
                <p:cNvSpPr>
                  <a:spLocks noChangeArrowheads="1"/>
                </p:cNvSpPr>
                <p:nvPr/>
              </p:nvSpPr>
              <p:spPr bwMode="auto">
                <a:xfrm>
                  <a:off x="630" y="2582"/>
                  <a:ext cx="695" cy="111"/>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264" name="Rectangle 143">
                <a:extLst>
                  <a:ext uri="{FF2B5EF4-FFF2-40B4-BE49-F238E27FC236}">
                    <a16:creationId xmlns:a16="http://schemas.microsoft.com/office/drawing/2014/main" id="{C95C6BF7-C7DF-FB4E-BCA1-1C5F3CF4748B}"/>
                  </a:ext>
                </a:extLst>
              </p:cNvPr>
              <p:cNvSpPr>
                <a:spLocks noChangeArrowheads="1"/>
              </p:cNvSpPr>
              <p:nvPr/>
            </p:nvSpPr>
            <p:spPr bwMode="auto">
              <a:xfrm>
                <a:off x="5249" y="429"/>
                <a:ext cx="67" cy="2292"/>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5" name="Freeform 144">
                <a:extLst>
                  <a:ext uri="{FF2B5EF4-FFF2-40B4-BE49-F238E27FC236}">
                    <a16:creationId xmlns:a16="http://schemas.microsoft.com/office/drawing/2014/main" id="{E716E123-C485-CC44-A743-C9D7E94AF6B1}"/>
                  </a:ext>
                </a:extLst>
              </p:cNvPr>
              <p:cNvSpPr>
                <a:spLocks/>
              </p:cNvSpPr>
              <p:nvPr/>
            </p:nvSpPr>
            <p:spPr bwMode="auto">
              <a:xfrm>
                <a:off x="5312" y="1007"/>
                <a:ext cx="237" cy="213"/>
              </a:xfrm>
              <a:custGeom>
                <a:avLst/>
                <a:gdLst>
                  <a:gd name="T0" fmla="*/ 2 w 296"/>
                  <a:gd name="T1" fmla="*/ 0 h 256"/>
                  <a:gd name="T2" fmla="*/ 32 w 296"/>
                  <a:gd name="T3" fmla="*/ 22 h 256"/>
                  <a:gd name="T4" fmla="*/ 32 w 296"/>
                  <a:gd name="T5" fmla="*/ 41 h 256"/>
                  <a:gd name="T6" fmla="*/ 0 w 296"/>
                  <a:gd name="T7" fmla="*/ 15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6" name="Freeform 145">
                <a:extLst>
                  <a:ext uri="{FF2B5EF4-FFF2-40B4-BE49-F238E27FC236}">
                    <a16:creationId xmlns:a16="http://schemas.microsoft.com/office/drawing/2014/main" id="{8B36D081-D3B9-D34B-91B2-079B05D09143}"/>
                  </a:ext>
                </a:extLst>
              </p:cNvPr>
              <p:cNvSpPr>
                <a:spLocks/>
              </p:cNvSpPr>
              <p:nvPr/>
            </p:nvSpPr>
            <p:spPr bwMode="auto">
              <a:xfrm>
                <a:off x="5315" y="680"/>
                <a:ext cx="244" cy="240"/>
              </a:xfrm>
              <a:custGeom>
                <a:avLst/>
                <a:gdLst>
                  <a:gd name="T0" fmla="*/ 0 w 304"/>
                  <a:gd name="T1" fmla="*/ 0 h 288"/>
                  <a:gd name="T2" fmla="*/ 34 w 304"/>
                  <a:gd name="T3" fmla="*/ 27 h 288"/>
                  <a:gd name="T4" fmla="*/ 31 w 304"/>
                  <a:gd name="T5" fmla="*/ 48 h 288"/>
                  <a:gd name="T6" fmla="*/ 2 w 304"/>
                  <a:gd name="T7" fmla="*/ 20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7" name="Oval 146">
                <a:extLst>
                  <a:ext uri="{FF2B5EF4-FFF2-40B4-BE49-F238E27FC236}">
                    <a16:creationId xmlns:a16="http://schemas.microsoft.com/office/drawing/2014/main" id="{B32C0505-6B5E-5B45-9C22-ABAD0452C43F}"/>
                  </a:ext>
                </a:extLst>
              </p:cNvPr>
              <p:cNvSpPr>
                <a:spLocks noChangeArrowheads="1"/>
              </p:cNvSpPr>
              <p:nvPr/>
            </p:nvSpPr>
            <p:spPr bwMode="auto">
              <a:xfrm>
                <a:off x="5518" y="2610"/>
                <a:ext cx="47" cy="96"/>
              </a:xfrm>
              <a:prstGeom prst="ellipse">
                <a:avLst/>
              </a:prstGeom>
              <a:solidFill>
                <a:srgbClr val="3333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68" name="Freeform 147">
                <a:extLst>
                  <a:ext uri="{FF2B5EF4-FFF2-40B4-BE49-F238E27FC236}">
                    <a16:creationId xmlns:a16="http://schemas.microsoft.com/office/drawing/2014/main" id="{30177E53-587A-9B45-9ECD-611B7CEB1E04}"/>
                  </a:ext>
                </a:extLst>
              </p:cNvPr>
              <p:cNvSpPr>
                <a:spLocks/>
              </p:cNvSpPr>
              <p:nvPr/>
            </p:nvSpPr>
            <p:spPr bwMode="auto">
              <a:xfrm>
                <a:off x="5302" y="2614"/>
                <a:ext cx="245" cy="200"/>
              </a:xfrm>
              <a:custGeom>
                <a:avLst/>
                <a:gdLst>
                  <a:gd name="T0" fmla="*/ 0 w 306"/>
                  <a:gd name="T1" fmla="*/ 18 h 240"/>
                  <a:gd name="T2" fmla="*/ 2 w 306"/>
                  <a:gd name="T3" fmla="*/ 40 h 240"/>
                  <a:gd name="T4" fmla="*/ 34 w 306"/>
                  <a:gd name="T5" fmla="*/ 18 h 240"/>
                  <a:gd name="T6" fmla="*/ 32 w 306"/>
                  <a:gd name="T7" fmla="*/ 0 h 240"/>
                  <a:gd name="T8" fmla="*/ 0 w 306"/>
                  <a:gd name="T9" fmla="*/ 18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sp>
            <p:nvSpPr>
              <p:cNvPr id="269" name="AutoShape 148">
                <a:extLst>
                  <a:ext uri="{FF2B5EF4-FFF2-40B4-BE49-F238E27FC236}">
                    <a16:creationId xmlns:a16="http://schemas.microsoft.com/office/drawing/2014/main" id="{0DA2D2A9-124E-EB41-86B5-909A794DF763}"/>
                  </a:ext>
                </a:extLst>
              </p:cNvPr>
              <p:cNvSpPr>
                <a:spLocks noChangeArrowheads="1"/>
              </p:cNvSpPr>
              <p:nvPr/>
            </p:nvSpPr>
            <p:spPr bwMode="auto">
              <a:xfrm>
                <a:off x="4140" y="2677"/>
                <a:ext cx="1196" cy="148"/>
              </a:xfrm>
              <a:prstGeom prst="roundRect">
                <a:avLst>
                  <a:gd name="adj" fmla="val 50000"/>
                </a:avLst>
              </a:prstGeom>
              <a:solidFill>
                <a:srgbClr val="DDDDDD"/>
              </a:soli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0" name="AutoShape 149">
                <a:extLst>
                  <a:ext uri="{FF2B5EF4-FFF2-40B4-BE49-F238E27FC236}">
                    <a16:creationId xmlns:a16="http://schemas.microsoft.com/office/drawing/2014/main" id="{CA5FFC73-D7D9-D240-94B8-900F51AC0C7D}"/>
                  </a:ext>
                </a:extLst>
              </p:cNvPr>
              <p:cNvSpPr>
                <a:spLocks noChangeArrowheads="1"/>
              </p:cNvSpPr>
              <p:nvPr/>
            </p:nvSpPr>
            <p:spPr bwMode="auto">
              <a:xfrm>
                <a:off x="4207" y="2714"/>
                <a:ext cx="1069" cy="82"/>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1" name="Oval 150">
                <a:extLst>
                  <a:ext uri="{FF2B5EF4-FFF2-40B4-BE49-F238E27FC236}">
                    <a16:creationId xmlns:a16="http://schemas.microsoft.com/office/drawing/2014/main" id="{EFC35150-3347-7042-80EB-A8781A361256}"/>
                  </a:ext>
                </a:extLst>
              </p:cNvPr>
              <p:cNvSpPr>
                <a:spLocks noChangeArrowheads="1"/>
              </p:cNvSpPr>
              <p:nvPr/>
            </p:nvSpPr>
            <p:spPr bwMode="auto">
              <a:xfrm>
                <a:off x="4308" y="2380"/>
                <a:ext cx="155" cy="148"/>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2" name="Oval 151">
                <a:extLst>
                  <a:ext uri="{FF2B5EF4-FFF2-40B4-BE49-F238E27FC236}">
                    <a16:creationId xmlns:a16="http://schemas.microsoft.com/office/drawing/2014/main" id="{EA2EA724-2820-AE47-8D84-09E997A6DDAA}"/>
                  </a:ext>
                </a:extLst>
              </p:cNvPr>
              <p:cNvSpPr>
                <a:spLocks noChangeArrowheads="1"/>
              </p:cNvSpPr>
              <p:nvPr/>
            </p:nvSpPr>
            <p:spPr bwMode="auto">
              <a:xfrm>
                <a:off x="4483" y="2387"/>
                <a:ext cx="161" cy="141"/>
              </a:xfrm>
              <a:prstGeom prst="ellipse">
                <a:avLst/>
              </a:prstGeom>
              <a:solidFill>
                <a:srgbClr val="FF0000"/>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0" cap="none" spc="0" normalizeH="0" baseline="0" noProof="0" dirty="0">
                  <a:ln>
                    <a:noFill/>
                  </a:ln>
                  <a:solidFill>
                    <a:srgbClr val="FF0000"/>
                  </a:solidFill>
                  <a:effectLst/>
                  <a:uLnTx/>
                  <a:uFillTx/>
                  <a:latin typeface="Arial" charset="0"/>
                  <a:ea typeface="ＭＳ Ｐゴシック" charset="0"/>
                  <a:cs typeface="Arial" charset="0"/>
                </a:endParaRPr>
              </a:p>
            </p:txBody>
          </p:sp>
          <p:sp>
            <p:nvSpPr>
              <p:cNvPr id="273" name="Oval 152">
                <a:extLst>
                  <a:ext uri="{FF2B5EF4-FFF2-40B4-BE49-F238E27FC236}">
                    <a16:creationId xmlns:a16="http://schemas.microsoft.com/office/drawing/2014/main" id="{27B270D9-EE2B-924F-8F2A-27B9EB6ABE98}"/>
                  </a:ext>
                </a:extLst>
              </p:cNvPr>
              <p:cNvSpPr>
                <a:spLocks noChangeArrowheads="1"/>
              </p:cNvSpPr>
              <p:nvPr/>
            </p:nvSpPr>
            <p:spPr bwMode="auto">
              <a:xfrm>
                <a:off x="4664" y="2380"/>
                <a:ext cx="155" cy="141"/>
              </a:xfrm>
              <a:prstGeom prst="ellipse">
                <a:avLst/>
              </a:prstGeom>
              <a:solidFill>
                <a:srgbClr val="33CC33"/>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74" name="Rectangle 153">
                <a:extLst>
                  <a:ext uri="{FF2B5EF4-FFF2-40B4-BE49-F238E27FC236}">
                    <a16:creationId xmlns:a16="http://schemas.microsoft.com/office/drawing/2014/main" id="{689F1C5E-1D85-0243-9E5E-0ABE340F97D1}"/>
                  </a:ext>
                </a:extLst>
              </p:cNvPr>
              <p:cNvSpPr>
                <a:spLocks noChangeArrowheads="1"/>
              </p:cNvSpPr>
              <p:nvPr/>
            </p:nvSpPr>
            <p:spPr bwMode="auto">
              <a:xfrm>
                <a:off x="5061" y="1838"/>
                <a:ext cx="87" cy="757"/>
              </a:xfrm>
              <a:prstGeom prst="rect">
                <a:avLst/>
              </a:prstGeom>
              <a:solidFill>
                <a:srgbClr val="292929"/>
              </a:solid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sp>
        <p:nvSpPr>
          <p:cNvPr id="5" name="Rectangle 3">
            <a:extLst>
              <a:ext uri="{FF2B5EF4-FFF2-40B4-BE49-F238E27FC236}">
                <a16:creationId xmlns:a16="http://schemas.microsoft.com/office/drawing/2014/main" id="{DB1A430D-A0A3-EDEC-5630-1442D4FF1088}"/>
              </a:ext>
            </a:extLst>
          </p:cNvPr>
          <p:cNvSpPr txBox="1">
            <a:spLocks noChangeArrowheads="1"/>
          </p:cNvSpPr>
          <p:nvPr/>
        </p:nvSpPr>
        <p:spPr>
          <a:xfrm>
            <a:off x="3864423" y="1322613"/>
            <a:ext cx="8098394" cy="5133841"/>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35000" lvl="0" indent="-457200">
              <a:spcAft>
                <a:spcPts val="600"/>
              </a:spcAft>
              <a:buClrTx/>
              <a:buFont typeface="Arial" panose="020B0604020202020204" pitchFamily="34" charset="0"/>
              <a:buChar char="•"/>
              <a:defRPr/>
            </a:pPr>
            <a:r>
              <a:rPr lang="en-US" altLang="en-US" sz="3200" dirty="0">
                <a:solidFill>
                  <a:srgbClr val="C00000"/>
                </a:solidFill>
                <a:ea typeface="ＭＳ Ｐゴシック" panose="020B0600070205080204" pitchFamily="34" charset="-128"/>
              </a:rPr>
              <a:t>The final ACK (3rd) acts as a confirmation mechanism to ensure that:</a:t>
            </a:r>
          </a:p>
          <a:p>
            <a:pPr marL="977900" lvl="1" indent="-457200">
              <a:spcAft>
                <a:spcPts val="600"/>
              </a:spcAft>
              <a:buClrTx/>
              <a:defRPr/>
            </a:pPr>
            <a:r>
              <a:rPr lang="en-US" altLang="en-US" sz="2800" dirty="0">
                <a:ea typeface="ＭＳ Ｐゴシック" panose="020B0600070205080204" pitchFamily="34" charset="-128"/>
              </a:rPr>
              <a:t>Both client and server are synchronized and aware of the connection state</a:t>
            </a:r>
          </a:p>
          <a:p>
            <a:pPr marL="977900" lvl="1" indent="-457200">
              <a:spcAft>
                <a:spcPts val="600"/>
              </a:spcAft>
              <a:buClrTx/>
              <a:defRPr/>
            </a:pPr>
            <a:r>
              <a:rPr lang="en-US" altLang="en-US" sz="2800" dirty="0">
                <a:ea typeface="ＭＳ Ｐゴシック" panose="020B0600070205080204" pitchFamily="34" charset="-128"/>
              </a:rPr>
              <a:t>No data is transmitted before the connection is fully established, avoiding the acceptance of duplicate data</a:t>
            </a:r>
          </a:p>
          <a:p>
            <a:pPr marL="977900" lvl="1" indent="-457200">
              <a:spcAft>
                <a:spcPts val="600"/>
              </a:spcAft>
              <a:buClrTx/>
              <a:defRPr/>
            </a:pPr>
            <a:r>
              <a:rPr lang="en-US" altLang="en-US" sz="2800" dirty="0">
                <a:ea typeface="ＭＳ Ｐゴシック" panose="020B0600070205080204" pitchFamily="34" charset="-128"/>
              </a:rPr>
              <a:t>The server only considers the connection fully established once the client sends the final ACK</a:t>
            </a:r>
          </a:p>
          <a:p>
            <a:pPr marL="977900" lvl="1" indent="-457200">
              <a:spcAft>
                <a:spcPts val="600"/>
              </a:spcAft>
              <a:buClrTx/>
              <a:defRPr/>
            </a:pPr>
            <a:r>
              <a:rPr lang="en-US" altLang="en-US" sz="2800" dirty="0">
                <a:ea typeface="ＭＳ Ｐゴシック" panose="020B0600070205080204" pitchFamily="34" charset="-128"/>
              </a:rPr>
              <a:t>Out-of-sync states are avoided because both sides explicitly confirm that the connection setup is complete</a:t>
            </a:r>
            <a:endParaRPr lang="en-US" sz="3200" dirty="0">
              <a:ea typeface="ＭＳ Ｐゴシック" panose="020B0600070205080204" pitchFamily="34" charset="-128"/>
            </a:endParaRPr>
          </a:p>
        </p:txBody>
      </p:sp>
      <p:sp>
        <p:nvSpPr>
          <p:cNvPr id="7" name="Title 1">
            <a:extLst>
              <a:ext uri="{FF2B5EF4-FFF2-40B4-BE49-F238E27FC236}">
                <a16:creationId xmlns:a16="http://schemas.microsoft.com/office/drawing/2014/main" id="{01EDE786-79B2-8B85-503D-9F54DB444DB8}"/>
              </a:ext>
            </a:extLst>
          </p:cNvPr>
          <p:cNvSpPr txBox="1">
            <a:spLocks/>
          </p:cNvSpPr>
          <p:nvPr/>
        </p:nvSpPr>
        <p:spPr>
          <a:xfrm>
            <a:off x="399345" y="268136"/>
            <a:ext cx="11393310" cy="894622"/>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TCP Connection Setup: Three-Way Handshake</a:t>
            </a:r>
            <a:endParaRPr lang="en-US" dirty="0"/>
          </a:p>
        </p:txBody>
      </p:sp>
    </p:spTree>
    <p:extLst>
      <p:ext uri="{BB962C8B-B14F-4D97-AF65-F5344CB8AC3E}">
        <p14:creationId xmlns:p14="http://schemas.microsoft.com/office/powerpoint/2010/main" val="2792302788"/>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37A57-5C6E-30DB-0DC6-5D2D285E5799}"/>
              </a:ext>
            </a:extLst>
          </p:cNvPr>
          <p:cNvSpPr txBox="1">
            <a:spLocks/>
          </p:cNvSpPr>
          <p:nvPr/>
        </p:nvSpPr>
        <p:spPr>
          <a:xfrm>
            <a:off x="399345" y="268136"/>
            <a:ext cx="11393310" cy="894622"/>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800" dirty="0"/>
              <a:t>TCP Connection Teardown</a:t>
            </a:r>
            <a:endParaRPr lang="en-US" dirty="0"/>
          </a:p>
        </p:txBody>
      </p:sp>
      <p:sp>
        <p:nvSpPr>
          <p:cNvPr id="3" name="Google Shape;846;p40">
            <a:extLst>
              <a:ext uri="{FF2B5EF4-FFF2-40B4-BE49-F238E27FC236}">
                <a16:creationId xmlns:a16="http://schemas.microsoft.com/office/drawing/2014/main" id="{DC8B2734-C730-B280-E6F2-9AC5D7B63211}"/>
              </a:ext>
            </a:extLst>
          </p:cNvPr>
          <p:cNvSpPr txBox="1">
            <a:spLocks/>
          </p:cNvSpPr>
          <p:nvPr/>
        </p:nvSpPr>
        <p:spPr>
          <a:xfrm>
            <a:off x="352932" y="961690"/>
            <a:ext cx="5637949" cy="3168004"/>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Normal termination:</a:t>
            </a:r>
          </a:p>
          <a:p>
            <a:pPr marL="457200" indent="-342900">
              <a:spcBef>
                <a:spcPts val="600"/>
              </a:spcBef>
              <a:spcAft>
                <a:spcPts val="600"/>
              </a:spcAft>
              <a:buSzPts val="1800"/>
              <a:buFont typeface="Arial" panose="020B0604020202020204" pitchFamily="34" charset="0"/>
              <a:buChar char="●"/>
            </a:pPr>
            <a:r>
              <a:rPr lang="en-US" sz="2000" dirty="0"/>
              <a:t>Each side sends a FIN packet to say: "I'm done sending, but will keep receiving."</a:t>
            </a:r>
          </a:p>
          <a:p>
            <a:pPr marL="457200" indent="-342900">
              <a:spcBef>
                <a:spcPts val="0"/>
              </a:spcBef>
              <a:spcAft>
                <a:spcPts val="600"/>
              </a:spcAft>
              <a:buSzPts val="1800"/>
              <a:buFont typeface="Arial" panose="020B0604020202020204" pitchFamily="34" charset="0"/>
              <a:buChar char="●"/>
            </a:pPr>
            <a:r>
              <a:rPr lang="en-US" sz="2000" dirty="0"/>
              <a:t>FIN packets must be acked, just like any other data.</a:t>
            </a:r>
          </a:p>
          <a:p>
            <a:pPr marL="457200" indent="-342900">
              <a:spcBef>
                <a:spcPts val="0"/>
              </a:spcBef>
              <a:spcAft>
                <a:spcPts val="600"/>
              </a:spcAft>
              <a:buSzPts val="1800"/>
              <a:buFont typeface="Arial" panose="020B0604020202020204" pitchFamily="34" charset="0"/>
              <a:buChar char="●"/>
            </a:pPr>
            <a:r>
              <a:rPr lang="en-US" sz="2000" dirty="0"/>
              <a:t>When only one side has sent FIN, the connection is </a:t>
            </a:r>
            <a:r>
              <a:rPr lang="en-US" sz="2000" i="1" dirty="0"/>
              <a:t>half-closed</a:t>
            </a:r>
            <a:r>
              <a:rPr lang="en-US" sz="2000" dirty="0"/>
              <a:t>.</a:t>
            </a:r>
          </a:p>
          <a:p>
            <a:pPr marL="457200" indent="-342900">
              <a:spcBef>
                <a:spcPts val="0"/>
              </a:spcBef>
              <a:spcAft>
                <a:spcPts val="600"/>
              </a:spcAft>
              <a:buSzPts val="1800"/>
              <a:buFont typeface="Arial" panose="020B0604020202020204" pitchFamily="34" charset="0"/>
              <a:buChar char="●"/>
            </a:pPr>
            <a:r>
              <a:rPr lang="en-US" sz="2000" dirty="0"/>
              <a:t>When both sides have sent FIN (both done sending), the connection is closed.</a:t>
            </a:r>
          </a:p>
          <a:p>
            <a:pPr marL="457200" indent="-342900">
              <a:spcBef>
                <a:spcPts val="0"/>
              </a:spcBef>
              <a:spcAft>
                <a:spcPts val="600"/>
              </a:spcAft>
              <a:buSzPts val="1800"/>
              <a:buFont typeface="Arial" panose="020B0604020202020204" pitchFamily="34" charset="0"/>
              <a:buChar char="●"/>
            </a:pPr>
            <a:endParaRPr lang="en-US" sz="2400" dirty="0"/>
          </a:p>
        </p:txBody>
      </p:sp>
      <p:grpSp>
        <p:nvGrpSpPr>
          <p:cNvPr id="20" name="Group 19">
            <a:extLst>
              <a:ext uri="{FF2B5EF4-FFF2-40B4-BE49-F238E27FC236}">
                <a16:creationId xmlns:a16="http://schemas.microsoft.com/office/drawing/2014/main" id="{75230FFD-6863-EFCB-7EA8-F793033E2ED8}"/>
              </a:ext>
            </a:extLst>
          </p:cNvPr>
          <p:cNvGrpSpPr/>
          <p:nvPr/>
        </p:nvGrpSpPr>
        <p:grpSpPr>
          <a:xfrm>
            <a:off x="764431" y="4216040"/>
            <a:ext cx="4173859" cy="2435849"/>
            <a:chOff x="3409000" y="3726900"/>
            <a:chExt cx="4173859" cy="2435849"/>
          </a:xfrm>
        </p:grpSpPr>
        <p:grpSp>
          <p:nvGrpSpPr>
            <p:cNvPr id="4" name="Google Shape;848;p40">
              <a:extLst>
                <a:ext uri="{FF2B5EF4-FFF2-40B4-BE49-F238E27FC236}">
                  <a16:creationId xmlns:a16="http://schemas.microsoft.com/office/drawing/2014/main" id="{F4548A91-7F26-7A66-CA93-3C9EC3EA4299}"/>
                </a:ext>
              </a:extLst>
            </p:cNvPr>
            <p:cNvGrpSpPr/>
            <p:nvPr/>
          </p:nvGrpSpPr>
          <p:grpSpPr>
            <a:xfrm>
              <a:off x="3963400" y="4336440"/>
              <a:ext cx="3015000" cy="557901"/>
              <a:chOff x="3039475" y="2406099"/>
              <a:chExt cx="3015000" cy="557901"/>
            </a:xfrm>
          </p:grpSpPr>
          <p:cxnSp>
            <p:nvCxnSpPr>
              <p:cNvPr id="5" name="Google Shape;849;p40">
                <a:extLst>
                  <a:ext uri="{FF2B5EF4-FFF2-40B4-BE49-F238E27FC236}">
                    <a16:creationId xmlns:a16="http://schemas.microsoft.com/office/drawing/2014/main" id="{4157EE94-B1F1-EDE2-A581-A05A28AD4E98}"/>
                  </a:ext>
                </a:extLst>
              </p:cNvPr>
              <p:cNvCxnSpPr/>
              <p:nvPr/>
            </p:nvCxnSpPr>
            <p:spPr>
              <a:xfrm flipH="1">
                <a:off x="3039475" y="2514600"/>
                <a:ext cx="3015000" cy="449400"/>
              </a:xfrm>
              <a:prstGeom prst="straightConnector1">
                <a:avLst/>
              </a:prstGeom>
              <a:noFill/>
              <a:ln w="19050" cap="flat" cmpd="sng">
                <a:solidFill>
                  <a:srgbClr val="CC4125"/>
                </a:solidFill>
                <a:prstDash val="solid"/>
                <a:round/>
                <a:headEnd type="none" w="med" len="med"/>
                <a:tailEnd type="triangle" w="med" len="med"/>
              </a:ln>
            </p:spPr>
          </p:cxnSp>
          <p:sp>
            <p:nvSpPr>
              <p:cNvPr id="6" name="Google Shape;850;p40">
                <a:extLst>
                  <a:ext uri="{FF2B5EF4-FFF2-40B4-BE49-F238E27FC236}">
                    <a16:creationId xmlns:a16="http://schemas.microsoft.com/office/drawing/2014/main" id="{5806BFE0-7A80-9405-DAEF-13A4F978B473}"/>
                  </a:ext>
                </a:extLst>
              </p:cNvPr>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CC4125"/>
                    </a:solidFill>
                    <a:effectLst/>
                    <a:uLnTx/>
                    <a:uFillTx/>
                    <a:latin typeface="Roboto"/>
                    <a:ea typeface="Roboto"/>
                    <a:cs typeface="Roboto"/>
                    <a:sym typeface="Roboto"/>
                  </a:rPr>
                  <a:t>ACK</a:t>
                </a:r>
                <a:endParaRPr kumimoji="0" sz="1400" b="0" i="0" u="none" strike="noStrike" kern="0" cap="none" spc="0" normalizeH="0" baseline="0" noProof="0">
                  <a:ln>
                    <a:noFill/>
                  </a:ln>
                  <a:solidFill>
                    <a:srgbClr val="CC4125"/>
                  </a:solidFill>
                  <a:effectLst/>
                  <a:uLnTx/>
                  <a:uFillTx/>
                  <a:latin typeface="Roboto"/>
                  <a:ea typeface="Roboto"/>
                  <a:cs typeface="Roboto"/>
                  <a:sym typeface="Roboto"/>
                </a:endParaRPr>
              </a:p>
            </p:txBody>
          </p:sp>
        </p:grpSp>
        <p:cxnSp>
          <p:nvCxnSpPr>
            <p:cNvPr id="7" name="Google Shape;851;p40">
              <a:extLst>
                <a:ext uri="{FF2B5EF4-FFF2-40B4-BE49-F238E27FC236}">
                  <a16:creationId xmlns:a16="http://schemas.microsoft.com/office/drawing/2014/main" id="{D3761447-0F8F-52EB-0B50-EE91FE30280D}"/>
                </a:ext>
              </a:extLst>
            </p:cNvPr>
            <p:cNvCxnSpPr/>
            <p:nvPr/>
          </p:nvCxnSpPr>
          <p:spPr>
            <a:xfrm>
              <a:off x="3961450" y="3726900"/>
              <a:ext cx="0" cy="2164800"/>
            </a:xfrm>
            <a:prstGeom prst="straightConnector1">
              <a:avLst/>
            </a:prstGeom>
            <a:noFill/>
            <a:ln w="19050" cap="flat" cmpd="sng">
              <a:solidFill>
                <a:srgbClr val="0000FF"/>
              </a:solidFill>
              <a:prstDash val="solid"/>
              <a:round/>
              <a:headEnd type="none" w="med" len="med"/>
              <a:tailEnd type="none" w="med" len="med"/>
            </a:ln>
          </p:spPr>
        </p:cxnSp>
        <p:sp>
          <p:nvSpPr>
            <p:cNvPr id="8" name="Google Shape;852;p40">
              <a:extLst>
                <a:ext uri="{FF2B5EF4-FFF2-40B4-BE49-F238E27FC236}">
                  <a16:creationId xmlns:a16="http://schemas.microsoft.com/office/drawing/2014/main" id="{29B94F4D-02EA-FFD3-95BB-3111DBB14AEC}"/>
                </a:ext>
              </a:extLst>
            </p:cNvPr>
            <p:cNvSpPr txBox="1"/>
            <p:nvPr/>
          </p:nvSpPr>
          <p:spPr>
            <a:xfrm>
              <a:off x="3409000" y="5891849"/>
              <a:ext cx="1104900" cy="270900"/>
            </a:xfrm>
            <a:prstGeom prst="rect">
              <a:avLst/>
            </a:prstGeom>
            <a:noFill/>
            <a:ln>
              <a:noFill/>
            </a:ln>
          </p:spPr>
          <p:txBody>
            <a:bodyPr spcFirstLastPara="1" wrap="square" lIns="91425" tIns="27425" rIns="91425" bIns="27425" anchor="t" anchorCtr="0">
              <a:spAutoFit/>
            </a:bodyPr>
            <a:lstStyle/>
            <a:p>
              <a:pPr algn="ctr">
                <a:buClr>
                  <a:srgbClr val="000000"/>
                </a:buClr>
                <a:buFont typeface="Arial"/>
                <a:buNone/>
              </a:pPr>
              <a:r>
                <a:rPr lang="en" sz="1400" kern="0">
                  <a:solidFill>
                    <a:srgbClr val="0000FF"/>
                  </a:solidFill>
                  <a:latin typeface="Roboto"/>
                  <a:ea typeface="Roboto"/>
                  <a:cs typeface="Roboto"/>
                  <a:sym typeface="Roboto"/>
                </a:rPr>
                <a:t>Client</a:t>
              </a:r>
              <a:endParaRPr sz="1400" kern="0">
                <a:solidFill>
                  <a:srgbClr val="0000FF"/>
                </a:solidFill>
                <a:latin typeface="Roboto"/>
                <a:ea typeface="Roboto"/>
                <a:cs typeface="Roboto"/>
                <a:sym typeface="Roboto"/>
              </a:endParaRPr>
            </a:p>
          </p:txBody>
        </p:sp>
        <p:cxnSp>
          <p:nvCxnSpPr>
            <p:cNvPr id="9" name="Google Shape;853;p40">
              <a:extLst>
                <a:ext uri="{FF2B5EF4-FFF2-40B4-BE49-F238E27FC236}">
                  <a16:creationId xmlns:a16="http://schemas.microsoft.com/office/drawing/2014/main" id="{E1A0AD6A-192C-3DE3-2E8B-52FF05BC4EDD}"/>
                </a:ext>
              </a:extLst>
            </p:cNvPr>
            <p:cNvCxnSpPr/>
            <p:nvPr/>
          </p:nvCxnSpPr>
          <p:spPr>
            <a:xfrm>
              <a:off x="6982850" y="3726900"/>
              <a:ext cx="0" cy="2164800"/>
            </a:xfrm>
            <a:prstGeom prst="straightConnector1">
              <a:avLst/>
            </a:prstGeom>
            <a:noFill/>
            <a:ln w="19050" cap="flat" cmpd="sng">
              <a:solidFill>
                <a:srgbClr val="CC4125"/>
              </a:solidFill>
              <a:prstDash val="solid"/>
              <a:round/>
              <a:headEnd type="none" w="med" len="med"/>
              <a:tailEnd type="none" w="med" len="med"/>
            </a:ln>
          </p:spPr>
        </p:cxnSp>
        <p:sp>
          <p:nvSpPr>
            <p:cNvPr id="10" name="Google Shape;854;p40">
              <a:extLst>
                <a:ext uri="{FF2B5EF4-FFF2-40B4-BE49-F238E27FC236}">
                  <a16:creationId xmlns:a16="http://schemas.microsoft.com/office/drawing/2014/main" id="{25CC0D62-5433-5FDB-BB72-B546181EA45B}"/>
                </a:ext>
              </a:extLst>
            </p:cNvPr>
            <p:cNvSpPr txBox="1"/>
            <p:nvPr/>
          </p:nvSpPr>
          <p:spPr>
            <a:xfrm>
              <a:off x="6382859" y="5891849"/>
              <a:ext cx="1200000" cy="270900"/>
            </a:xfrm>
            <a:prstGeom prst="rect">
              <a:avLst/>
            </a:prstGeom>
            <a:noFill/>
            <a:ln>
              <a:noFill/>
            </a:ln>
          </p:spPr>
          <p:txBody>
            <a:bodyPr spcFirstLastPara="1" wrap="square" lIns="91425" tIns="27425" rIns="91425" bIns="27425" anchor="t" anchorCtr="0">
              <a:spAutoFit/>
            </a:bodyPr>
            <a:lstStyle/>
            <a:p>
              <a:pPr algn="ctr">
                <a:buClr>
                  <a:srgbClr val="000000"/>
                </a:buClr>
                <a:buFont typeface="Arial"/>
                <a:buNone/>
              </a:pPr>
              <a:r>
                <a:rPr lang="en" sz="1400" kern="0">
                  <a:solidFill>
                    <a:srgbClr val="CC4125"/>
                  </a:solidFill>
                  <a:latin typeface="Roboto"/>
                  <a:ea typeface="Roboto"/>
                  <a:cs typeface="Roboto"/>
                  <a:sym typeface="Roboto"/>
                </a:rPr>
                <a:t>Server</a:t>
              </a:r>
              <a:endParaRPr sz="1400" kern="0">
                <a:solidFill>
                  <a:srgbClr val="CC4125"/>
                </a:solidFill>
                <a:latin typeface="Roboto"/>
                <a:ea typeface="Roboto"/>
                <a:cs typeface="Roboto"/>
                <a:sym typeface="Roboto"/>
              </a:endParaRPr>
            </a:p>
          </p:txBody>
        </p:sp>
        <p:grpSp>
          <p:nvGrpSpPr>
            <p:cNvPr id="11" name="Google Shape;855;p40">
              <a:extLst>
                <a:ext uri="{FF2B5EF4-FFF2-40B4-BE49-F238E27FC236}">
                  <a16:creationId xmlns:a16="http://schemas.microsoft.com/office/drawing/2014/main" id="{8597B70D-101F-464C-1EF9-37E1E49BB031}"/>
                </a:ext>
              </a:extLst>
            </p:cNvPr>
            <p:cNvGrpSpPr/>
            <p:nvPr/>
          </p:nvGrpSpPr>
          <p:grpSpPr>
            <a:xfrm>
              <a:off x="3963425" y="3827407"/>
              <a:ext cx="3007800" cy="568107"/>
              <a:chOff x="3039500" y="1897067"/>
              <a:chExt cx="3007800" cy="568107"/>
            </a:xfrm>
          </p:grpSpPr>
          <p:cxnSp>
            <p:nvCxnSpPr>
              <p:cNvPr id="12" name="Google Shape;856;p40">
                <a:extLst>
                  <a:ext uri="{FF2B5EF4-FFF2-40B4-BE49-F238E27FC236}">
                    <a16:creationId xmlns:a16="http://schemas.microsoft.com/office/drawing/2014/main" id="{C0934D00-67BB-9B72-EC1F-3666F086BCC3}"/>
                  </a:ext>
                </a:extLst>
              </p:cNvPr>
              <p:cNvCxnSpPr/>
              <p:nvPr/>
            </p:nvCxnSpPr>
            <p:spPr>
              <a:xfrm>
                <a:off x="3039500" y="2023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13" name="Google Shape;857;p40">
                <a:extLst>
                  <a:ext uri="{FF2B5EF4-FFF2-40B4-BE49-F238E27FC236}">
                    <a16:creationId xmlns:a16="http://schemas.microsoft.com/office/drawing/2014/main" id="{3A08E87D-9ACD-A726-FB52-EACD7F5660FF}"/>
                  </a:ext>
                </a:extLst>
              </p:cNvPr>
              <p:cNvSpPr txBox="1"/>
              <p:nvPr/>
            </p:nvSpPr>
            <p:spPr>
              <a:xfrm rot="510033">
                <a:off x="4154499" y="1953707"/>
                <a:ext cx="787451" cy="284220"/>
              </a:xfrm>
              <a:prstGeom prst="rect">
                <a:avLst/>
              </a:prstGeom>
              <a:noFill/>
              <a:ln>
                <a:noFill/>
              </a:ln>
            </p:spPr>
            <p:txBody>
              <a:bodyPr spcFirstLastPara="1" wrap="square" lIns="27425" tIns="27425" rIns="27425" bIns="27425" anchor="t" anchorCtr="0">
                <a:noAutofit/>
              </a:bodyPr>
              <a:lstStyle/>
              <a:p>
                <a:pPr algn="ctr">
                  <a:buClr>
                    <a:srgbClr val="000000"/>
                  </a:buClr>
                  <a:buFont typeface="Arial"/>
                  <a:buNone/>
                </a:pPr>
                <a:r>
                  <a:rPr lang="en" sz="1400" kern="0">
                    <a:solidFill>
                      <a:srgbClr val="0000FF"/>
                    </a:solidFill>
                    <a:latin typeface="Roboto"/>
                    <a:ea typeface="Roboto"/>
                    <a:cs typeface="Roboto"/>
                    <a:sym typeface="Roboto"/>
                  </a:rPr>
                  <a:t>FIN</a:t>
                </a:r>
                <a:endParaRPr sz="1400" kern="0">
                  <a:solidFill>
                    <a:srgbClr val="0000FF"/>
                  </a:solidFill>
                  <a:latin typeface="Roboto"/>
                  <a:ea typeface="Roboto"/>
                  <a:cs typeface="Roboto"/>
                  <a:sym typeface="Roboto"/>
                </a:endParaRPr>
              </a:p>
            </p:txBody>
          </p:sp>
        </p:grpSp>
        <p:grpSp>
          <p:nvGrpSpPr>
            <p:cNvPr id="14" name="Google Shape;858;p40">
              <a:extLst>
                <a:ext uri="{FF2B5EF4-FFF2-40B4-BE49-F238E27FC236}">
                  <a16:creationId xmlns:a16="http://schemas.microsoft.com/office/drawing/2014/main" id="{59DF83F5-507D-9100-232C-A4A4DE538106}"/>
                </a:ext>
              </a:extLst>
            </p:cNvPr>
            <p:cNvGrpSpPr/>
            <p:nvPr/>
          </p:nvGrpSpPr>
          <p:grpSpPr>
            <a:xfrm>
              <a:off x="3963425" y="5199007"/>
              <a:ext cx="3007800" cy="568107"/>
              <a:chOff x="3039500" y="2887667"/>
              <a:chExt cx="3007800" cy="568107"/>
            </a:xfrm>
          </p:grpSpPr>
          <p:cxnSp>
            <p:nvCxnSpPr>
              <p:cNvPr id="15" name="Google Shape;859;p40">
                <a:extLst>
                  <a:ext uri="{FF2B5EF4-FFF2-40B4-BE49-F238E27FC236}">
                    <a16:creationId xmlns:a16="http://schemas.microsoft.com/office/drawing/2014/main" id="{A4801E5D-81E3-41AF-F02D-BFD790304FCF}"/>
                  </a:ext>
                </a:extLst>
              </p:cNvPr>
              <p:cNvCxnSpPr/>
              <p:nvPr/>
            </p:nvCxnSpPr>
            <p:spPr>
              <a:xfrm>
                <a:off x="3039500" y="3013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16" name="Google Shape;860;p40">
                <a:extLst>
                  <a:ext uri="{FF2B5EF4-FFF2-40B4-BE49-F238E27FC236}">
                    <a16:creationId xmlns:a16="http://schemas.microsoft.com/office/drawing/2014/main" id="{F664811B-BD3D-195A-DD5A-9ED260E8205B}"/>
                  </a:ext>
                </a:extLst>
              </p:cNvPr>
              <p:cNvSpPr txBox="1"/>
              <p:nvPr/>
            </p:nvSpPr>
            <p:spPr>
              <a:xfrm rot="510033">
                <a:off x="4154499" y="2944307"/>
                <a:ext cx="787451" cy="284220"/>
              </a:xfrm>
              <a:prstGeom prst="rect">
                <a:avLst/>
              </a:prstGeom>
              <a:noFill/>
              <a:ln>
                <a:noFill/>
              </a:ln>
            </p:spPr>
            <p:txBody>
              <a:bodyPr spcFirstLastPara="1" wrap="square" lIns="27425" tIns="27425" rIns="27425" bIns="27425" anchor="t" anchorCtr="0">
                <a:noAutofit/>
              </a:bodyPr>
              <a:lstStyle/>
              <a:p>
                <a:pPr algn="ctr">
                  <a:buClr>
                    <a:srgbClr val="000000"/>
                  </a:buClr>
                  <a:buFont typeface="Arial"/>
                  <a:buNone/>
                </a:pPr>
                <a:r>
                  <a:rPr lang="en" sz="1400" kern="0">
                    <a:solidFill>
                      <a:srgbClr val="0000FF"/>
                    </a:solidFill>
                    <a:latin typeface="Roboto"/>
                    <a:ea typeface="Roboto"/>
                    <a:cs typeface="Roboto"/>
                    <a:sym typeface="Roboto"/>
                  </a:rPr>
                  <a:t>ACK</a:t>
                </a:r>
                <a:endParaRPr sz="1400" kern="0">
                  <a:solidFill>
                    <a:srgbClr val="0000FF"/>
                  </a:solidFill>
                  <a:latin typeface="Roboto"/>
                  <a:ea typeface="Roboto"/>
                  <a:cs typeface="Roboto"/>
                  <a:sym typeface="Roboto"/>
                </a:endParaRPr>
              </a:p>
            </p:txBody>
          </p:sp>
        </p:grpSp>
        <p:grpSp>
          <p:nvGrpSpPr>
            <p:cNvPr id="17" name="Google Shape;861;p40">
              <a:extLst>
                <a:ext uri="{FF2B5EF4-FFF2-40B4-BE49-F238E27FC236}">
                  <a16:creationId xmlns:a16="http://schemas.microsoft.com/office/drawing/2014/main" id="{16BB975D-2E4F-C111-8CA1-A4E2989AFC81}"/>
                </a:ext>
              </a:extLst>
            </p:cNvPr>
            <p:cNvGrpSpPr/>
            <p:nvPr/>
          </p:nvGrpSpPr>
          <p:grpSpPr>
            <a:xfrm>
              <a:off x="3963400" y="4717440"/>
              <a:ext cx="3015000" cy="557901"/>
              <a:chOff x="3039475" y="2406099"/>
              <a:chExt cx="3015000" cy="557901"/>
            </a:xfrm>
          </p:grpSpPr>
          <p:cxnSp>
            <p:nvCxnSpPr>
              <p:cNvPr id="18" name="Google Shape;862;p40">
                <a:extLst>
                  <a:ext uri="{FF2B5EF4-FFF2-40B4-BE49-F238E27FC236}">
                    <a16:creationId xmlns:a16="http://schemas.microsoft.com/office/drawing/2014/main" id="{EB3A5D1B-85BF-6CE3-A3DB-09BA835CE5F8}"/>
                  </a:ext>
                </a:extLst>
              </p:cNvPr>
              <p:cNvCxnSpPr/>
              <p:nvPr/>
            </p:nvCxnSpPr>
            <p:spPr>
              <a:xfrm flipH="1">
                <a:off x="3039475" y="2514600"/>
                <a:ext cx="3015000" cy="449400"/>
              </a:xfrm>
              <a:prstGeom prst="straightConnector1">
                <a:avLst/>
              </a:prstGeom>
              <a:noFill/>
              <a:ln w="19050" cap="flat" cmpd="sng">
                <a:solidFill>
                  <a:srgbClr val="CC4125"/>
                </a:solidFill>
                <a:prstDash val="solid"/>
                <a:round/>
                <a:headEnd type="none" w="med" len="med"/>
                <a:tailEnd type="triangle" w="med" len="med"/>
              </a:ln>
            </p:spPr>
          </p:cxnSp>
          <p:sp>
            <p:nvSpPr>
              <p:cNvPr id="19" name="Google Shape;863;p40">
                <a:extLst>
                  <a:ext uri="{FF2B5EF4-FFF2-40B4-BE49-F238E27FC236}">
                    <a16:creationId xmlns:a16="http://schemas.microsoft.com/office/drawing/2014/main" id="{9AC5D512-B8C7-88A5-074B-724234365BF8}"/>
                  </a:ext>
                </a:extLst>
              </p:cNvPr>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 sz="1400" b="0" i="0" u="none" strike="noStrike" kern="0" cap="none" spc="0" normalizeH="0" baseline="0" noProof="0">
                    <a:ln>
                      <a:noFill/>
                    </a:ln>
                    <a:solidFill>
                      <a:srgbClr val="CC4125"/>
                    </a:solidFill>
                    <a:effectLst/>
                    <a:uLnTx/>
                    <a:uFillTx/>
                    <a:latin typeface="Roboto"/>
                    <a:ea typeface="Roboto"/>
                    <a:cs typeface="Roboto"/>
                    <a:sym typeface="Roboto"/>
                  </a:rPr>
                  <a:t>FIN</a:t>
                </a:r>
                <a:endParaRPr kumimoji="0" sz="1400" b="0" i="0" u="none" strike="noStrike" kern="0" cap="none" spc="0" normalizeH="0" baseline="0" noProof="0">
                  <a:ln>
                    <a:noFill/>
                  </a:ln>
                  <a:solidFill>
                    <a:srgbClr val="CC4125"/>
                  </a:solidFill>
                  <a:effectLst/>
                  <a:uLnTx/>
                  <a:uFillTx/>
                  <a:latin typeface="Roboto"/>
                  <a:ea typeface="Roboto"/>
                  <a:cs typeface="Roboto"/>
                  <a:sym typeface="Roboto"/>
                </a:endParaRPr>
              </a:p>
            </p:txBody>
          </p:sp>
        </p:grpSp>
      </p:grpSp>
      <p:sp>
        <p:nvSpPr>
          <p:cNvPr id="22" name="TextBox 21">
            <a:extLst>
              <a:ext uri="{FF2B5EF4-FFF2-40B4-BE49-F238E27FC236}">
                <a16:creationId xmlns:a16="http://schemas.microsoft.com/office/drawing/2014/main" id="{A9545280-ECD5-E62C-7491-50E898465665}"/>
              </a:ext>
            </a:extLst>
          </p:cNvPr>
          <p:cNvSpPr txBox="1"/>
          <p:nvPr/>
        </p:nvSpPr>
        <p:spPr>
          <a:xfrm>
            <a:off x="6172765" y="1593185"/>
            <a:ext cx="6096000" cy="2862322"/>
          </a:xfrm>
          <a:prstGeom prst="rect">
            <a:avLst/>
          </a:prstGeom>
          <a:noFill/>
        </p:spPr>
        <p:txBody>
          <a:bodyPr wrap="square">
            <a:spAutoFit/>
          </a:bodyPr>
          <a:lstStyle/>
          <a:p>
            <a:pPr marL="0" lvl="0" indent="0" algn="l" rtl="0">
              <a:spcBef>
                <a:spcPts val="600"/>
              </a:spcBef>
              <a:spcAft>
                <a:spcPts val="0"/>
              </a:spcAft>
              <a:buNone/>
            </a:pPr>
            <a:r>
              <a:rPr lang="en-US" sz="2000" i="1" dirty="0"/>
              <a:t>Just for fun: Abrupt termination can be used instead (e.g. in case of error):</a:t>
            </a:r>
          </a:p>
          <a:p>
            <a:pPr marL="342900" lvl="0" indent="-342900" algn="l" rtl="0">
              <a:spcBef>
                <a:spcPts val="600"/>
              </a:spcBef>
              <a:spcAft>
                <a:spcPts val="0"/>
              </a:spcAft>
              <a:buFont typeface="Arial" panose="020B0604020202020204" pitchFamily="34" charset="0"/>
              <a:buChar char="•"/>
            </a:pPr>
            <a:r>
              <a:rPr lang="en-US" sz="2000" i="1" dirty="0"/>
              <a:t>Send a RST (reset) to say: “I will no longer send or receive data.”</a:t>
            </a:r>
          </a:p>
          <a:p>
            <a:pPr marL="342900" lvl="0" indent="-342900" algn="l" rtl="0">
              <a:spcBef>
                <a:spcPts val="600"/>
              </a:spcBef>
              <a:spcAft>
                <a:spcPts val="0"/>
              </a:spcAft>
              <a:buFont typeface="Arial" panose="020B0604020202020204" pitchFamily="34" charset="0"/>
              <a:buChar char="•"/>
            </a:pPr>
            <a:r>
              <a:rPr lang="en-US" sz="2000" i="1" dirty="0"/>
              <a:t>RST packets do not need to be acked</a:t>
            </a:r>
          </a:p>
          <a:p>
            <a:pPr marL="342900" lvl="0" indent="-342900" algn="l" rtl="0">
              <a:spcBef>
                <a:spcPts val="600"/>
              </a:spcBef>
              <a:spcAft>
                <a:spcPts val="0"/>
              </a:spcAft>
              <a:buFont typeface="Arial" panose="020B0604020202020204" pitchFamily="34" charset="0"/>
              <a:buChar char="•"/>
            </a:pPr>
            <a:r>
              <a:rPr lang="en-US" sz="2000" i="1" dirty="0"/>
              <a:t>Any data in flight is lost</a:t>
            </a:r>
          </a:p>
          <a:p>
            <a:pPr marL="342900" lvl="0" indent="-342900" algn="l" rtl="0">
              <a:spcBef>
                <a:spcPts val="600"/>
              </a:spcBef>
              <a:spcAft>
                <a:spcPts val="0"/>
              </a:spcAft>
              <a:buFont typeface="Arial" panose="020B0604020202020204" pitchFamily="34" charset="0"/>
              <a:buChar char="•"/>
            </a:pPr>
            <a:r>
              <a:rPr lang="en-US" sz="2000" i="1" dirty="0"/>
              <a:t>If the RST sender receives more data later, send another RST</a:t>
            </a:r>
          </a:p>
        </p:txBody>
      </p:sp>
      <p:grpSp>
        <p:nvGrpSpPr>
          <p:cNvPr id="36" name="Group 35">
            <a:extLst>
              <a:ext uri="{FF2B5EF4-FFF2-40B4-BE49-F238E27FC236}">
                <a16:creationId xmlns:a16="http://schemas.microsoft.com/office/drawing/2014/main" id="{26AD8004-FF03-EBA9-D61C-E19ED0AD9625}"/>
              </a:ext>
            </a:extLst>
          </p:cNvPr>
          <p:cNvGrpSpPr/>
          <p:nvPr/>
        </p:nvGrpSpPr>
        <p:grpSpPr>
          <a:xfrm>
            <a:off x="7457125" y="4216040"/>
            <a:ext cx="4173859" cy="2435849"/>
            <a:chOff x="2485075" y="2612475"/>
            <a:chExt cx="4173859" cy="2435849"/>
          </a:xfrm>
        </p:grpSpPr>
        <p:cxnSp>
          <p:nvCxnSpPr>
            <p:cNvPr id="23" name="Google Shape;870;p41">
              <a:extLst>
                <a:ext uri="{FF2B5EF4-FFF2-40B4-BE49-F238E27FC236}">
                  <a16:creationId xmlns:a16="http://schemas.microsoft.com/office/drawing/2014/main" id="{2A01A0C7-720D-7B0E-1794-B1B624C64418}"/>
                </a:ext>
              </a:extLst>
            </p:cNvPr>
            <p:cNvCxnSpPr/>
            <p:nvPr/>
          </p:nvCxnSpPr>
          <p:spPr>
            <a:xfrm>
              <a:off x="3037525" y="2612475"/>
              <a:ext cx="0" cy="2164800"/>
            </a:xfrm>
            <a:prstGeom prst="straightConnector1">
              <a:avLst/>
            </a:prstGeom>
            <a:noFill/>
            <a:ln w="19050" cap="flat" cmpd="sng">
              <a:solidFill>
                <a:srgbClr val="0000FF"/>
              </a:solidFill>
              <a:prstDash val="solid"/>
              <a:round/>
              <a:headEnd type="none" w="med" len="med"/>
              <a:tailEnd type="none" w="med" len="med"/>
            </a:ln>
          </p:spPr>
        </p:cxnSp>
        <p:sp>
          <p:nvSpPr>
            <p:cNvPr id="24" name="Google Shape;871;p41">
              <a:extLst>
                <a:ext uri="{FF2B5EF4-FFF2-40B4-BE49-F238E27FC236}">
                  <a16:creationId xmlns:a16="http://schemas.microsoft.com/office/drawing/2014/main" id="{2CC26C56-4144-B729-7F79-D6474C9EAB25}"/>
                </a:ext>
              </a:extLst>
            </p:cNvPr>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Client</a:t>
              </a:r>
              <a:endParaRPr>
                <a:solidFill>
                  <a:srgbClr val="0000FF"/>
                </a:solidFill>
                <a:latin typeface="Roboto"/>
                <a:ea typeface="Roboto"/>
                <a:cs typeface="Roboto"/>
                <a:sym typeface="Roboto"/>
              </a:endParaRPr>
            </a:p>
          </p:txBody>
        </p:sp>
        <p:cxnSp>
          <p:nvCxnSpPr>
            <p:cNvPr id="25" name="Google Shape;872;p41">
              <a:extLst>
                <a:ext uri="{FF2B5EF4-FFF2-40B4-BE49-F238E27FC236}">
                  <a16:creationId xmlns:a16="http://schemas.microsoft.com/office/drawing/2014/main" id="{454F8DEF-400A-2CE9-D0EE-BB1D14EC9B45}"/>
                </a:ext>
              </a:extLst>
            </p:cNvPr>
            <p:cNvCxnSpPr/>
            <p:nvPr/>
          </p:nvCxnSpPr>
          <p:spPr>
            <a:xfrm>
              <a:off x="6058925" y="2612475"/>
              <a:ext cx="0" cy="2164800"/>
            </a:xfrm>
            <a:prstGeom prst="straightConnector1">
              <a:avLst/>
            </a:prstGeom>
            <a:noFill/>
            <a:ln w="19050" cap="flat" cmpd="sng">
              <a:solidFill>
                <a:schemeClr val="accent2"/>
              </a:solidFill>
              <a:prstDash val="solid"/>
              <a:round/>
              <a:headEnd type="none" w="med" len="med"/>
              <a:tailEnd type="none" w="med" len="med"/>
            </a:ln>
          </p:spPr>
        </p:cxnSp>
        <p:sp>
          <p:nvSpPr>
            <p:cNvPr id="26" name="Google Shape;873;p41">
              <a:extLst>
                <a:ext uri="{FF2B5EF4-FFF2-40B4-BE49-F238E27FC236}">
                  <a16:creationId xmlns:a16="http://schemas.microsoft.com/office/drawing/2014/main" id="{FEC547E0-9BCE-1222-A4B7-B4ED9CA5AB94}"/>
                </a:ext>
              </a:extLst>
            </p:cNvPr>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Server</a:t>
              </a:r>
              <a:endParaRPr>
                <a:solidFill>
                  <a:schemeClr val="accent2"/>
                </a:solidFill>
                <a:latin typeface="Roboto"/>
                <a:ea typeface="Roboto"/>
                <a:cs typeface="Roboto"/>
                <a:sym typeface="Roboto"/>
              </a:endParaRPr>
            </a:p>
          </p:txBody>
        </p:sp>
        <p:grpSp>
          <p:nvGrpSpPr>
            <p:cNvPr id="27" name="Google Shape;874;p41">
              <a:extLst>
                <a:ext uri="{FF2B5EF4-FFF2-40B4-BE49-F238E27FC236}">
                  <a16:creationId xmlns:a16="http://schemas.microsoft.com/office/drawing/2014/main" id="{F02DE31E-0655-1CB3-8C37-DD473D1CC821}"/>
                </a:ext>
              </a:extLst>
            </p:cNvPr>
            <p:cNvGrpSpPr/>
            <p:nvPr/>
          </p:nvGrpSpPr>
          <p:grpSpPr>
            <a:xfrm>
              <a:off x="3039500" y="2712982"/>
              <a:ext cx="3007800" cy="568107"/>
              <a:chOff x="3039500" y="1897067"/>
              <a:chExt cx="3007800" cy="568107"/>
            </a:xfrm>
          </p:grpSpPr>
          <p:cxnSp>
            <p:nvCxnSpPr>
              <p:cNvPr id="28" name="Google Shape;875;p41">
                <a:extLst>
                  <a:ext uri="{FF2B5EF4-FFF2-40B4-BE49-F238E27FC236}">
                    <a16:creationId xmlns:a16="http://schemas.microsoft.com/office/drawing/2014/main" id="{91E86161-9B47-56BB-7BAE-999CECB2A1BB}"/>
                  </a:ext>
                </a:extLst>
              </p:cNvPr>
              <p:cNvCxnSpPr/>
              <p:nvPr/>
            </p:nvCxnSpPr>
            <p:spPr>
              <a:xfrm>
                <a:off x="3039500" y="2023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29" name="Google Shape;876;p41">
                <a:extLst>
                  <a:ext uri="{FF2B5EF4-FFF2-40B4-BE49-F238E27FC236}">
                    <a16:creationId xmlns:a16="http://schemas.microsoft.com/office/drawing/2014/main" id="{6E3B12CA-FF37-4C54-B069-EEE801AB37EE}"/>
                  </a:ext>
                </a:extLst>
              </p:cNvPr>
              <p:cNvSpPr txBox="1"/>
              <p:nvPr/>
            </p:nvSpPr>
            <p:spPr>
              <a:xfrm rot="510033">
                <a:off x="4154499" y="19537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grpSp>
          <p:nvGrpSpPr>
            <p:cNvPr id="30" name="Google Shape;877;p41">
              <a:extLst>
                <a:ext uri="{FF2B5EF4-FFF2-40B4-BE49-F238E27FC236}">
                  <a16:creationId xmlns:a16="http://schemas.microsoft.com/office/drawing/2014/main" id="{51AED7CE-49CF-9AB9-3217-CCE23DFCC07E}"/>
                </a:ext>
              </a:extLst>
            </p:cNvPr>
            <p:cNvGrpSpPr/>
            <p:nvPr/>
          </p:nvGrpSpPr>
          <p:grpSpPr>
            <a:xfrm>
              <a:off x="3039475" y="3603015"/>
              <a:ext cx="3015000" cy="557901"/>
              <a:chOff x="3039475" y="2406099"/>
              <a:chExt cx="3015000" cy="557901"/>
            </a:xfrm>
          </p:grpSpPr>
          <p:cxnSp>
            <p:nvCxnSpPr>
              <p:cNvPr id="31" name="Google Shape;878;p41">
                <a:extLst>
                  <a:ext uri="{FF2B5EF4-FFF2-40B4-BE49-F238E27FC236}">
                    <a16:creationId xmlns:a16="http://schemas.microsoft.com/office/drawing/2014/main" id="{AED9C1F9-6476-E396-C0C6-F48828556885}"/>
                  </a:ext>
                </a:extLst>
              </p:cNvPr>
              <p:cNvCxnSpPr/>
              <p:nvPr/>
            </p:nvCxnSpPr>
            <p:spPr>
              <a:xfrm flipH="1">
                <a:off x="3039475" y="25146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32" name="Google Shape;879;p41">
                <a:extLst>
                  <a:ext uri="{FF2B5EF4-FFF2-40B4-BE49-F238E27FC236}">
                    <a16:creationId xmlns:a16="http://schemas.microsoft.com/office/drawing/2014/main" id="{B1A7CBBE-1A46-6295-86A2-F522315978C4}"/>
                  </a:ext>
                </a:extLst>
              </p:cNvPr>
              <p:cNvSpPr txBox="1"/>
              <p:nvPr/>
            </p:nvSpPr>
            <p:spPr>
              <a:xfrm rot="-511328">
                <a:off x="4119553" y="2462889"/>
                <a:ext cx="787495"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data</a:t>
                </a:r>
                <a:endParaRPr>
                  <a:solidFill>
                    <a:schemeClr val="accent2"/>
                  </a:solidFill>
                  <a:latin typeface="Roboto"/>
                  <a:ea typeface="Roboto"/>
                  <a:cs typeface="Roboto"/>
                  <a:sym typeface="Roboto"/>
                </a:endParaRPr>
              </a:p>
            </p:txBody>
          </p:sp>
        </p:grpSp>
        <p:grpSp>
          <p:nvGrpSpPr>
            <p:cNvPr id="33" name="Google Shape;880;p41">
              <a:extLst>
                <a:ext uri="{FF2B5EF4-FFF2-40B4-BE49-F238E27FC236}">
                  <a16:creationId xmlns:a16="http://schemas.microsoft.com/office/drawing/2014/main" id="{70F4FDD9-1240-2BCA-C38E-0BB9619E5BE9}"/>
                </a:ext>
              </a:extLst>
            </p:cNvPr>
            <p:cNvGrpSpPr/>
            <p:nvPr/>
          </p:nvGrpSpPr>
          <p:grpSpPr>
            <a:xfrm>
              <a:off x="3039500" y="4084582"/>
              <a:ext cx="3007800" cy="568107"/>
              <a:chOff x="3039500" y="2887667"/>
              <a:chExt cx="3007800" cy="568107"/>
            </a:xfrm>
          </p:grpSpPr>
          <p:cxnSp>
            <p:nvCxnSpPr>
              <p:cNvPr id="34" name="Google Shape;881;p41">
                <a:extLst>
                  <a:ext uri="{FF2B5EF4-FFF2-40B4-BE49-F238E27FC236}">
                    <a16:creationId xmlns:a16="http://schemas.microsoft.com/office/drawing/2014/main" id="{50C2845F-D8D3-E881-B580-1408DB8BD85B}"/>
                  </a:ext>
                </a:extLst>
              </p:cNvPr>
              <p:cNvCxnSpPr/>
              <p:nvPr/>
            </p:nvCxnSpPr>
            <p:spPr>
              <a:xfrm>
                <a:off x="3039500" y="3013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35" name="Google Shape;882;p41">
                <a:extLst>
                  <a:ext uri="{FF2B5EF4-FFF2-40B4-BE49-F238E27FC236}">
                    <a16:creationId xmlns:a16="http://schemas.microsoft.com/office/drawing/2014/main" id="{A4F97E24-6B11-B888-6EC0-D88DAB6C5715}"/>
                  </a:ext>
                </a:extLst>
              </p:cNvPr>
              <p:cNvSpPr txBox="1"/>
              <p:nvPr/>
            </p:nvSpPr>
            <p:spPr>
              <a:xfrm rot="510033">
                <a:off x="4154499" y="2944307"/>
                <a:ext cx="787451"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RST</a:t>
                </a:r>
                <a:endParaRPr>
                  <a:solidFill>
                    <a:srgbClr val="0000FF"/>
                  </a:solidFill>
                  <a:latin typeface="Roboto"/>
                  <a:ea typeface="Roboto"/>
                  <a:cs typeface="Roboto"/>
                  <a:sym typeface="Roboto"/>
                </a:endParaRPr>
              </a:p>
            </p:txBody>
          </p:sp>
        </p:grpSp>
      </p:grpSp>
    </p:spTree>
    <p:extLst>
      <p:ext uri="{BB962C8B-B14F-4D97-AF65-F5344CB8AC3E}">
        <p14:creationId xmlns:p14="http://schemas.microsoft.com/office/powerpoint/2010/main" val="20867453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2429B-4494-7A5F-CB6B-3E1B3E25D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FB9786-F9D7-9FB4-F310-59F6F90F1F0E}"/>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BC423C3C-0819-344A-A7BE-34D53923F44B}"/>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Reliable data transmission</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TCP connection setup</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TCP implementation: RTT estimation</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Byte notation, segments, sequence numbers &amp; ACK number</a:t>
            </a:r>
          </a:p>
          <a:p>
            <a:pPr marL="117475" indent="0">
              <a:spcBef>
                <a:spcPts val="800"/>
              </a:spcBef>
              <a:spcAft>
                <a:spcPts val="600"/>
              </a:spcAft>
              <a:buClr>
                <a:schemeClr val="bg1">
                  <a:lumMod val="85000"/>
                </a:schemeClr>
              </a:buClr>
              <a:buNone/>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80508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1D520-F8DE-220C-EDE6-C4D5FCD837D9}"/>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E270228F-AA5F-F590-BE1E-0E184C1CFADF}"/>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TCP timeout and round trip time (RTT)</a:t>
            </a:r>
          </a:p>
        </p:txBody>
      </p:sp>
      <p:sp>
        <p:nvSpPr>
          <p:cNvPr id="4" name="TextBox 3">
            <a:extLst>
              <a:ext uri="{FF2B5EF4-FFF2-40B4-BE49-F238E27FC236}">
                <a16:creationId xmlns:a16="http://schemas.microsoft.com/office/drawing/2014/main" id="{02067577-2386-23DD-08DF-26BBCE6186D5}"/>
              </a:ext>
            </a:extLst>
          </p:cNvPr>
          <p:cNvSpPr txBox="1"/>
          <p:nvPr/>
        </p:nvSpPr>
        <p:spPr>
          <a:xfrm>
            <a:off x="115049" y="1207198"/>
            <a:ext cx="6905767" cy="2616101"/>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sz="2400" b="1" dirty="0"/>
              <a:t>Problem 1 </a:t>
            </a:r>
            <a:r>
              <a:rPr lang="en-US" sz="2400" dirty="0"/>
              <a:t>-  Packets can be dropped: </a:t>
            </a:r>
          </a:p>
          <a:p>
            <a:pPr marL="285750" indent="-285750">
              <a:spcAft>
                <a:spcPts val="600"/>
              </a:spcAft>
              <a:buFont typeface="Arial" panose="020B0604020202020204" pitchFamily="34" charset="0"/>
              <a:buChar char="•"/>
            </a:pPr>
            <a:r>
              <a:rPr lang="en-US" sz="2400" b="1" dirty="0"/>
              <a:t>Solution</a:t>
            </a:r>
            <a:r>
              <a:rPr lang="en-US" sz="2400" dirty="0"/>
              <a:t>: Sender sets a timer; The recipient replies with an </a:t>
            </a:r>
            <a:r>
              <a:rPr lang="en-US" sz="2400" dirty="0">
                <a:solidFill>
                  <a:srgbClr val="C00000"/>
                </a:solidFill>
              </a:rPr>
              <a:t>ack</a:t>
            </a:r>
          </a:p>
          <a:p>
            <a:pPr marL="285750" indent="-285750">
              <a:spcAft>
                <a:spcPts val="600"/>
              </a:spcAft>
              <a:buFont typeface="Arial" panose="020B0604020202020204" pitchFamily="34" charset="0"/>
              <a:buChar char="•"/>
            </a:pPr>
            <a:endParaRPr lang="en-US" sz="2400" dirty="0">
              <a:solidFill>
                <a:srgbClr val="C00000"/>
              </a:solidFill>
            </a:endParaRPr>
          </a:p>
          <a:p>
            <a:pPr marL="285750" indent="-285750">
              <a:spcAft>
                <a:spcPts val="600"/>
              </a:spcAft>
              <a:buFont typeface="Arial" panose="020B0604020202020204" pitchFamily="34" charset="0"/>
              <a:buChar char="•"/>
            </a:pPr>
            <a:r>
              <a:rPr lang="en-US" sz="2400" i="1" dirty="0"/>
              <a:t>How to set TCP timeout value?</a:t>
            </a:r>
          </a:p>
          <a:p>
            <a:pPr marL="285750" indent="-285750">
              <a:spcAft>
                <a:spcPts val="600"/>
              </a:spcAft>
              <a:buFont typeface="Arial" panose="020B0604020202020204" pitchFamily="34" charset="0"/>
              <a:buChar char="•"/>
            </a:pPr>
            <a:r>
              <a:rPr lang="en-US" sz="2400" i="1" dirty="0">
                <a:solidFill>
                  <a:srgbClr val="C00000"/>
                </a:solidFill>
              </a:rPr>
              <a:t>Solution</a:t>
            </a:r>
            <a:r>
              <a:rPr lang="en-US" sz="2400" i="1" dirty="0"/>
              <a:t>: Use RTT (round trip time) to estimate</a:t>
            </a:r>
            <a:endParaRPr lang="en-US" sz="2400" dirty="0"/>
          </a:p>
        </p:txBody>
      </p:sp>
      <p:grpSp>
        <p:nvGrpSpPr>
          <p:cNvPr id="28" name="Group 27">
            <a:extLst>
              <a:ext uri="{FF2B5EF4-FFF2-40B4-BE49-F238E27FC236}">
                <a16:creationId xmlns:a16="http://schemas.microsoft.com/office/drawing/2014/main" id="{993E0C39-D21D-977B-B06B-3C99DD3196CF}"/>
              </a:ext>
            </a:extLst>
          </p:cNvPr>
          <p:cNvGrpSpPr/>
          <p:nvPr/>
        </p:nvGrpSpPr>
        <p:grpSpPr>
          <a:xfrm>
            <a:off x="6668287" y="1036014"/>
            <a:ext cx="5523713" cy="3214300"/>
            <a:chOff x="6577115" y="1957349"/>
            <a:chExt cx="5523713" cy="3214300"/>
          </a:xfrm>
        </p:grpSpPr>
        <p:grpSp>
          <p:nvGrpSpPr>
            <p:cNvPr id="3" name="Google Shape;485;p45">
              <a:extLst>
                <a:ext uri="{FF2B5EF4-FFF2-40B4-BE49-F238E27FC236}">
                  <a16:creationId xmlns:a16="http://schemas.microsoft.com/office/drawing/2014/main" id="{20D8619C-BEA4-4D7A-02B0-B49FEB544508}"/>
                </a:ext>
              </a:extLst>
            </p:cNvPr>
            <p:cNvGrpSpPr/>
            <p:nvPr/>
          </p:nvGrpSpPr>
          <p:grpSpPr>
            <a:xfrm>
              <a:off x="8481369" y="3780925"/>
              <a:ext cx="3015000" cy="530546"/>
              <a:chOff x="3039475" y="2514600"/>
              <a:chExt cx="3015000" cy="530546"/>
            </a:xfrm>
          </p:grpSpPr>
          <p:cxnSp>
            <p:nvCxnSpPr>
              <p:cNvPr id="5" name="Google Shape;486;p45">
                <a:extLst>
                  <a:ext uri="{FF2B5EF4-FFF2-40B4-BE49-F238E27FC236}">
                    <a16:creationId xmlns:a16="http://schemas.microsoft.com/office/drawing/2014/main" id="{C8E03BAA-C130-959D-6A2F-17B9D6495B5B}"/>
                  </a:ext>
                </a:extLst>
              </p:cNvPr>
              <p:cNvCxnSpPr/>
              <p:nvPr/>
            </p:nvCxnSpPr>
            <p:spPr>
              <a:xfrm flipH="1">
                <a:off x="3039475" y="2514600"/>
                <a:ext cx="3015000" cy="449400"/>
              </a:xfrm>
              <a:prstGeom prst="straightConnector1">
                <a:avLst/>
              </a:prstGeom>
              <a:noFill/>
              <a:ln w="19050" cap="flat" cmpd="sng">
                <a:solidFill>
                  <a:srgbClr val="6AA84F"/>
                </a:solidFill>
                <a:prstDash val="solid"/>
                <a:round/>
                <a:headEnd type="none" w="med" len="med"/>
                <a:tailEnd type="triangle" w="med" len="med"/>
              </a:ln>
            </p:spPr>
          </p:cxnSp>
          <p:sp>
            <p:nvSpPr>
              <p:cNvPr id="6" name="Google Shape;487;p45">
                <a:extLst>
                  <a:ext uri="{FF2B5EF4-FFF2-40B4-BE49-F238E27FC236}">
                    <a16:creationId xmlns:a16="http://schemas.microsoft.com/office/drawing/2014/main" id="{1127D49F-451C-3F81-6197-341D10298909}"/>
                  </a:ext>
                </a:extLst>
              </p:cNvPr>
              <p:cNvSpPr txBox="1"/>
              <p:nvPr/>
            </p:nvSpPr>
            <p:spPr>
              <a:xfrm rot="-510186">
                <a:off x="4362736" y="273068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cxnSp>
          <p:nvCxnSpPr>
            <p:cNvPr id="7" name="Google Shape;490;p45">
              <a:extLst>
                <a:ext uri="{FF2B5EF4-FFF2-40B4-BE49-F238E27FC236}">
                  <a16:creationId xmlns:a16="http://schemas.microsoft.com/office/drawing/2014/main" id="{954E0EB0-69F8-F17D-90B4-4A32C955C925}"/>
                </a:ext>
              </a:extLst>
            </p:cNvPr>
            <p:cNvCxnSpPr/>
            <p:nvPr/>
          </p:nvCxnSpPr>
          <p:spPr>
            <a:xfrm>
              <a:off x="8479419" y="1957349"/>
              <a:ext cx="0" cy="2943300"/>
            </a:xfrm>
            <a:prstGeom prst="straightConnector1">
              <a:avLst/>
            </a:prstGeom>
            <a:noFill/>
            <a:ln w="19050" cap="flat" cmpd="sng">
              <a:solidFill>
                <a:schemeClr val="dk2"/>
              </a:solidFill>
              <a:prstDash val="solid"/>
              <a:round/>
              <a:headEnd type="none" w="med" len="med"/>
              <a:tailEnd type="none" w="med" len="med"/>
            </a:ln>
          </p:spPr>
        </p:cxnSp>
        <p:sp>
          <p:nvSpPr>
            <p:cNvPr id="8" name="Google Shape;491;p45">
              <a:extLst>
                <a:ext uri="{FF2B5EF4-FFF2-40B4-BE49-F238E27FC236}">
                  <a16:creationId xmlns:a16="http://schemas.microsoft.com/office/drawing/2014/main" id="{6364FD0D-A5DE-004F-25A9-86E9D42A811D}"/>
                </a:ext>
              </a:extLst>
            </p:cNvPr>
            <p:cNvSpPr txBox="1"/>
            <p:nvPr/>
          </p:nvSpPr>
          <p:spPr>
            <a:xfrm>
              <a:off x="7926969" y="4900749"/>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Sender</a:t>
              </a:r>
              <a:endParaRPr>
                <a:solidFill>
                  <a:schemeClr val="dk1"/>
                </a:solidFill>
                <a:latin typeface="Roboto"/>
                <a:ea typeface="Roboto"/>
                <a:cs typeface="Roboto"/>
                <a:sym typeface="Roboto"/>
              </a:endParaRPr>
            </a:p>
          </p:txBody>
        </p:sp>
        <p:cxnSp>
          <p:nvCxnSpPr>
            <p:cNvPr id="9" name="Google Shape;492;p45">
              <a:extLst>
                <a:ext uri="{FF2B5EF4-FFF2-40B4-BE49-F238E27FC236}">
                  <a16:creationId xmlns:a16="http://schemas.microsoft.com/office/drawing/2014/main" id="{FA3773E1-1483-69F6-7C9A-4AA8FBE3AEB6}"/>
                </a:ext>
              </a:extLst>
            </p:cNvPr>
            <p:cNvCxnSpPr/>
            <p:nvPr/>
          </p:nvCxnSpPr>
          <p:spPr>
            <a:xfrm>
              <a:off x="11500819" y="1957349"/>
              <a:ext cx="0" cy="2943300"/>
            </a:xfrm>
            <a:prstGeom prst="straightConnector1">
              <a:avLst/>
            </a:prstGeom>
            <a:noFill/>
            <a:ln w="19050" cap="flat" cmpd="sng">
              <a:solidFill>
                <a:schemeClr val="dk2"/>
              </a:solidFill>
              <a:prstDash val="solid"/>
              <a:round/>
              <a:headEnd type="none" w="med" len="med"/>
              <a:tailEnd type="none" w="med" len="med"/>
            </a:ln>
          </p:spPr>
        </p:cxnSp>
        <p:sp>
          <p:nvSpPr>
            <p:cNvPr id="10" name="Google Shape;493;p45">
              <a:extLst>
                <a:ext uri="{FF2B5EF4-FFF2-40B4-BE49-F238E27FC236}">
                  <a16:creationId xmlns:a16="http://schemas.microsoft.com/office/drawing/2014/main" id="{8F17BCE4-8605-1077-F348-4DEC628B5773}"/>
                </a:ext>
              </a:extLst>
            </p:cNvPr>
            <p:cNvSpPr txBox="1"/>
            <p:nvPr/>
          </p:nvSpPr>
          <p:spPr>
            <a:xfrm>
              <a:off x="10900828" y="4900749"/>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dk1"/>
                  </a:solidFill>
                  <a:latin typeface="Roboto"/>
                  <a:ea typeface="Roboto"/>
                  <a:cs typeface="Roboto"/>
                  <a:sym typeface="Roboto"/>
                </a:rPr>
                <a:t>Recipient</a:t>
              </a:r>
              <a:endParaRPr>
                <a:solidFill>
                  <a:schemeClr val="dk1"/>
                </a:solidFill>
                <a:latin typeface="Roboto"/>
                <a:ea typeface="Roboto"/>
                <a:cs typeface="Roboto"/>
                <a:sym typeface="Roboto"/>
              </a:endParaRPr>
            </a:p>
          </p:txBody>
        </p:sp>
        <p:sp>
          <p:nvSpPr>
            <p:cNvPr id="11" name="Google Shape;494;p45">
              <a:extLst>
                <a:ext uri="{FF2B5EF4-FFF2-40B4-BE49-F238E27FC236}">
                  <a16:creationId xmlns:a16="http://schemas.microsoft.com/office/drawing/2014/main" id="{9BB05E90-0459-BBD0-373B-5BFAF1E11A1B}"/>
                </a:ext>
              </a:extLst>
            </p:cNvPr>
            <p:cNvSpPr txBox="1"/>
            <p:nvPr/>
          </p:nvSpPr>
          <p:spPr>
            <a:xfrm>
              <a:off x="6895217" y="2006825"/>
              <a:ext cx="1269052" cy="330208"/>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rgbClr val="6AA84F"/>
                  </a:solidFill>
                  <a:latin typeface="Roboto"/>
                  <a:ea typeface="Roboto"/>
                  <a:cs typeface="Roboto"/>
                  <a:sym typeface="Roboto"/>
                </a:rPr>
                <a:t>Start timer</a:t>
              </a:r>
              <a:endParaRPr dirty="0">
                <a:solidFill>
                  <a:srgbClr val="6AA84F"/>
                </a:solidFill>
                <a:latin typeface="Roboto"/>
                <a:ea typeface="Roboto"/>
                <a:cs typeface="Roboto"/>
                <a:sym typeface="Roboto"/>
              </a:endParaRPr>
            </a:p>
          </p:txBody>
        </p:sp>
        <p:sp>
          <p:nvSpPr>
            <p:cNvPr id="12" name="Google Shape;495;p45">
              <a:extLst>
                <a:ext uri="{FF2B5EF4-FFF2-40B4-BE49-F238E27FC236}">
                  <a16:creationId xmlns:a16="http://schemas.microsoft.com/office/drawing/2014/main" id="{14434C1F-BAB4-76D1-FE88-021BFD3811CF}"/>
                </a:ext>
              </a:extLst>
            </p:cNvPr>
            <p:cNvSpPr txBox="1"/>
            <p:nvPr/>
          </p:nvSpPr>
          <p:spPr>
            <a:xfrm>
              <a:off x="6579917" y="3173650"/>
              <a:ext cx="1584352"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Timeout!</a:t>
              </a:r>
              <a:endParaRPr dirty="0">
                <a:solidFill>
                  <a:schemeClr val="accent2"/>
                </a:solidFill>
                <a:latin typeface="Roboto"/>
                <a:ea typeface="Roboto"/>
                <a:cs typeface="Roboto"/>
                <a:sym typeface="Roboto"/>
              </a:endParaRPr>
            </a:p>
          </p:txBody>
        </p:sp>
        <p:cxnSp>
          <p:nvCxnSpPr>
            <p:cNvPr id="13" name="Google Shape;496;p45">
              <a:extLst>
                <a:ext uri="{FF2B5EF4-FFF2-40B4-BE49-F238E27FC236}">
                  <a16:creationId xmlns:a16="http://schemas.microsoft.com/office/drawing/2014/main" id="{78A2DB25-BCF8-F38A-FF2E-9E2654B7B98D}"/>
                </a:ext>
              </a:extLst>
            </p:cNvPr>
            <p:cNvCxnSpPr/>
            <p:nvPr/>
          </p:nvCxnSpPr>
          <p:spPr>
            <a:xfrm>
              <a:off x="8481394" y="3308649"/>
              <a:ext cx="3007800" cy="441900"/>
            </a:xfrm>
            <a:prstGeom prst="straightConnector1">
              <a:avLst/>
            </a:prstGeom>
            <a:noFill/>
            <a:ln w="19050" cap="flat" cmpd="sng">
              <a:solidFill>
                <a:srgbClr val="000000"/>
              </a:solidFill>
              <a:prstDash val="solid"/>
              <a:round/>
              <a:headEnd type="none" w="med" len="med"/>
              <a:tailEnd type="triangle" w="med" len="med"/>
            </a:ln>
          </p:spPr>
        </p:cxnSp>
        <p:sp>
          <p:nvSpPr>
            <p:cNvPr id="14" name="Google Shape;497;p45">
              <a:extLst>
                <a:ext uri="{FF2B5EF4-FFF2-40B4-BE49-F238E27FC236}">
                  <a16:creationId xmlns:a16="http://schemas.microsoft.com/office/drawing/2014/main" id="{8E0B1871-7F4D-04B2-67DB-D89E2FF0EF5C}"/>
                </a:ext>
              </a:extLst>
            </p:cNvPr>
            <p:cNvSpPr txBox="1"/>
            <p:nvPr/>
          </p:nvSpPr>
          <p:spPr>
            <a:xfrm>
              <a:off x="9887426" y="2753225"/>
              <a:ext cx="202800" cy="270900"/>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b="1">
                  <a:solidFill>
                    <a:schemeClr val="accent2"/>
                  </a:solidFill>
                  <a:latin typeface="Roboto"/>
                  <a:ea typeface="Roboto"/>
                  <a:cs typeface="Roboto"/>
                  <a:sym typeface="Roboto"/>
                </a:rPr>
                <a:t>✗</a:t>
              </a:r>
              <a:endParaRPr b="1">
                <a:solidFill>
                  <a:schemeClr val="accent2"/>
                </a:solidFill>
                <a:latin typeface="Roboto"/>
                <a:ea typeface="Roboto"/>
                <a:cs typeface="Roboto"/>
                <a:sym typeface="Roboto"/>
              </a:endParaRPr>
            </a:p>
          </p:txBody>
        </p:sp>
        <p:cxnSp>
          <p:nvCxnSpPr>
            <p:cNvPr id="15" name="Google Shape;498;p45">
              <a:extLst>
                <a:ext uri="{FF2B5EF4-FFF2-40B4-BE49-F238E27FC236}">
                  <a16:creationId xmlns:a16="http://schemas.microsoft.com/office/drawing/2014/main" id="{E330ED18-10E4-DD20-1A4C-F3F9D4D876ED}"/>
                </a:ext>
              </a:extLst>
            </p:cNvPr>
            <p:cNvCxnSpPr>
              <a:cxnSpLocks/>
              <a:stCxn id="11" idx="3"/>
            </p:cNvCxnSpPr>
            <p:nvPr/>
          </p:nvCxnSpPr>
          <p:spPr>
            <a:xfrm flipV="1">
              <a:off x="8164269" y="2142275"/>
              <a:ext cx="279000" cy="29654"/>
            </a:xfrm>
            <a:prstGeom prst="straightConnector1">
              <a:avLst/>
            </a:prstGeom>
            <a:noFill/>
            <a:ln w="9525" cap="flat" cmpd="sng">
              <a:solidFill>
                <a:srgbClr val="6AA84F"/>
              </a:solidFill>
              <a:prstDash val="solid"/>
              <a:round/>
              <a:headEnd type="none" w="med" len="med"/>
              <a:tailEnd type="triangle" w="med" len="med"/>
            </a:ln>
          </p:spPr>
        </p:cxnSp>
        <p:cxnSp>
          <p:nvCxnSpPr>
            <p:cNvPr id="16" name="Google Shape;499;p45">
              <a:extLst>
                <a:ext uri="{FF2B5EF4-FFF2-40B4-BE49-F238E27FC236}">
                  <a16:creationId xmlns:a16="http://schemas.microsoft.com/office/drawing/2014/main" id="{966D5878-B537-F163-A76B-FDAD52E9FC6D}"/>
                </a:ext>
              </a:extLst>
            </p:cNvPr>
            <p:cNvCxnSpPr>
              <a:cxnSpLocks/>
              <a:stCxn id="12" idx="3"/>
            </p:cNvCxnSpPr>
            <p:nvPr/>
          </p:nvCxnSpPr>
          <p:spPr>
            <a:xfrm flipV="1">
              <a:off x="8164269" y="3309100"/>
              <a:ext cx="279000" cy="30743"/>
            </a:xfrm>
            <a:prstGeom prst="straightConnector1">
              <a:avLst/>
            </a:prstGeom>
            <a:noFill/>
            <a:ln w="9525" cap="flat" cmpd="sng">
              <a:solidFill>
                <a:schemeClr val="accent2"/>
              </a:solidFill>
              <a:prstDash val="solid"/>
              <a:round/>
              <a:headEnd type="none" w="med" len="med"/>
              <a:tailEnd type="triangle" w="med" len="med"/>
            </a:ln>
          </p:spPr>
        </p:cxnSp>
        <p:sp>
          <p:nvSpPr>
            <p:cNvPr id="17" name="Google Shape;500;p45">
              <a:extLst>
                <a:ext uri="{FF2B5EF4-FFF2-40B4-BE49-F238E27FC236}">
                  <a16:creationId xmlns:a16="http://schemas.microsoft.com/office/drawing/2014/main" id="{248C93BF-D6C8-9B83-6020-C87E6FE7AD25}"/>
                </a:ext>
              </a:extLst>
            </p:cNvPr>
            <p:cNvSpPr txBox="1"/>
            <p:nvPr/>
          </p:nvSpPr>
          <p:spPr>
            <a:xfrm>
              <a:off x="6577115" y="4010267"/>
              <a:ext cx="1587129"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2"/>
                  </a:solidFill>
                  <a:latin typeface="Roboto"/>
                  <a:ea typeface="Roboto"/>
                  <a:cs typeface="Roboto"/>
                  <a:sym typeface="Roboto"/>
                </a:rPr>
                <a:t>Cancel timer</a:t>
              </a:r>
              <a:endParaRPr dirty="0">
                <a:solidFill>
                  <a:schemeClr val="accent2"/>
                </a:solidFill>
                <a:latin typeface="Roboto"/>
                <a:ea typeface="Roboto"/>
                <a:cs typeface="Roboto"/>
                <a:sym typeface="Roboto"/>
              </a:endParaRPr>
            </a:p>
          </p:txBody>
        </p:sp>
        <p:cxnSp>
          <p:nvCxnSpPr>
            <p:cNvPr id="18" name="Google Shape;501;p45">
              <a:extLst>
                <a:ext uri="{FF2B5EF4-FFF2-40B4-BE49-F238E27FC236}">
                  <a16:creationId xmlns:a16="http://schemas.microsoft.com/office/drawing/2014/main" id="{1FD504B0-B547-0CCC-6636-17A59EB5266B}"/>
                </a:ext>
              </a:extLst>
            </p:cNvPr>
            <p:cNvCxnSpPr>
              <a:cxnSpLocks/>
              <a:stCxn id="17" idx="3"/>
            </p:cNvCxnSpPr>
            <p:nvPr/>
          </p:nvCxnSpPr>
          <p:spPr>
            <a:xfrm>
              <a:off x="8164244" y="4176460"/>
              <a:ext cx="279000" cy="47040"/>
            </a:xfrm>
            <a:prstGeom prst="straightConnector1">
              <a:avLst/>
            </a:prstGeom>
            <a:noFill/>
            <a:ln w="9525" cap="flat" cmpd="sng">
              <a:solidFill>
                <a:schemeClr val="accent2"/>
              </a:solidFill>
              <a:prstDash val="solid"/>
              <a:round/>
              <a:headEnd type="none" w="med" len="med"/>
              <a:tailEnd type="triangle" w="med" len="med"/>
            </a:ln>
          </p:spPr>
        </p:cxnSp>
        <p:cxnSp>
          <p:nvCxnSpPr>
            <p:cNvPr id="19" name="Google Shape;502;p45">
              <a:extLst>
                <a:ext uri="{FF2B5EF4-FFF2-40B4-BE49-F238E27FC236}">
                  <a16:creationId xmlns:a16="http://schemas.microsoft.com/office/drawing/2014/main" id="{DC1A7D2C-D70F-5133-9E1D-0956BBB5D0FC}"/>
                </a:ext>
              </a:extLst>
            </p:cNvPr>
            <p:cNvCxnSpPr/>
            <p:nvPr/>
          </p:nvCxnSpPr>
          <p:spPr>
            <a:xfrm>
              <a:off x="8481394" y="2146599"/>
              <a:ext cx="3007800" cy="441900"/>
            </a:xfrm>
            <a:prstGeom prst="straightConnector1">
              <a:avLst/>
            </a:prstGeom>
            <a:noFill/>
            <a:ln w="19050" cap="flat" cmpd="sng">
              <a:solidFill>
                <a:srgbClr val="000000"/>
              </a:solidFill>
              <a:prstDash val="solid"/>
              <a:round/>
              <a:headEnd type="none" w="med" len="med"/>
              <a:tailEnd type="triangle" w="med" len="med"/>
            </a:ln>
          </p:spPr>
        </p:cxnSp>
        <p:grpSp>
          <p:nvGrpSpPr>
            <p:cNvPr id="20" name="Google Shape;503;p45">
              <a:extLst>
                <a:ext uri="{FF2B5EF4-FFF2-40B4-BE49-F238E27FC236}">
                  <a16:creationId xmlns:a16="http://schemas.microsoft.com/office/drawing/2014/main" id="{DAA8823C-9E4E-356C-B10C-51C307F3D49B}"/>
                </a:ext>
              </a:extLst>
            </p:cNvPr>
            <p:cNvGrpSpPr/>
            <p:nvPr/>
          </p:nvGrpSpPr>
          <p:grpSpPr>
            <a:xfrm>
              <a:off x="10063622" y="2665023"/>
              <a:ext cx="1440000" cy="432898"/>
              <a:chOff x="4621728" y="2541698"/>
              <a:chExt cx="1440000" cy="432898"/>
            </a:xfrm>
          </p:grpSpPr>
          <p:cxnSp>
            <p:nvCxnSpPr>
              <p:cNvPr id="21" name="Google Shape;504;p45">
                <a:extLst>
                  <a:ext uri="{FF2B5EF4-FFF2-40B4-BE49-F238E27FC236}">
                    <a16:creationId xmlns:a16="http://schemas.microsoft.com/office/drawing/2014/main" id="{F9A02090-4DAE-FC03-51E4-556412826BEA}"/>
                  </a:ext>
                </a:extLst>
              </p:cNvPr>
              <p:cNvCxnSpPr/>
              <p:nvPr/>
            </p:nvCxnSpPr>
            <p:spPr>
              <a:xfrm flipH="1">
                <a:off x="4621728" y="2541698"/>
                <a:ext cx="1440000" cy="226500"/>
              </a:xfrm>
              <a:prstGeom prst="straightConnector1">
                <a:avLst/>
              </a:prstGeom>
              <a:noFill/>
              <a:ln w="19050" cap="flat" cmpd="sng">
                <a:solidFill>
                  <a:srgbClr val="6AA84F"/>
                </a:solidFill>
                <a:prstDash val="solid"/>
                <a:round/>
                <a:headEnd type="none" w="med" len="med"/>
                <a:tailEnd type="triangle" w="med" len="med"/>
              </a:ln>
            </p:spPr>
          </p:cxnSp>
          <p:sp>
            <p:nvSpPr>
              <p:cNvPr id="22" name="Google Shape;505;p45">
                <a:extLst>
                  <a:ext uri="{FF2B5EF4-FFF2-40B4-BE49-F238E27FC236}">
                    <a16:creationId xmlns:a16="http://schemas.microsoft.com/office/drawing/2014/main" id="{4CA45796-D1D9-D796-40A4-3A47FCB05D50}"/>
                  </a:ext>
                </a:extLst>
              </p:cNvPr>
              <p:cNvSpPr txBox="1"/>
              <p:nvPr/>
            </p:nvSpPr>
            <p:spPr>
              <a:xfrm rot="-510186">
                <a:off x="5168111" y="2660136"/>
                <a:ext cx="430128"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6AA84F"/>
                    </a:solidFill>
                    <a:latin typeface="Roboto"/>
                    <a:ea typeface="Roboto"/>
                    <a:cs typeface="Roboto"/>
                    <a:sym typeface="Roboto"/>
                  </a:rPr>
                  <a:t>ack</a:t>
                </a:r>
                <a:endParaRPr>
                  <a:solidFill>
                    <a:srgbClr val="6AA84F"/>
                  </a:solidFill>
                  <a:latin typeface="Roboto"/>
                  <a:ea typeface="Roboto"/>
                  <a:cs typeface="Roboto"/>
                  <a:sym typeface="Roboto"/>
                </a:endParaRPr>
              </a:p>
            </p:txBody>
          </p:sp>
        </p:grpSp>
        <p:sp>
          <p:nvSpPr>
            <p:cNvPr id="23" name="Google Shape;506;p45">
              <a:extLst>
                <a:ext uri="{FF2B5EF4-FFF2-40B4-BE49-F238E27FC236}">
                  <a16:creationId xmlns:a16="http://schemas.microsoft.com/office/drawing/2014/main" id="{81442076-7E0C-3D14-E298-BCC342ECF9A9}"/>
                </a:ext>
              </a:extLst>
            </p:cNvPr>
            <p:cNvSpPr txBox="1"/>
            <p:nvPr/>
          </p:nvSpPr>
          <p:spPr>
            <a:xfrm>
              <a:off x="6577115" y="3402249"/>
              <a:ext cx="1587004" cy="332385"/>
            </a:xfrm>
            <a:prstGeom prst="rect">
              <a:avLst/>
            </a:prstGeom>
            <a:noFill/>
            <a:ln>
              <a:noFill/>
            </a:ln>
          </p:spPr>
          <p:txBody>
            <a:bodyPr spcFirstLastPara="1" wrap="square" lIns="27425" tIns="27425" rIns="27425" bIns="27425" anchor="t" anchorCtr="0">
              <a:spAutoFit/>
            </a:bodyPr>
            <a:lstStyle/>
            <a:p>
              <a:pPr marL="0" lvl="0" indent="0" algn="r" rtl="0">
                <a:spcBef>
                  <a:spcPts val="0"/>
                </a:spcBef>
                <a:spcAft>
                  <a:spcPts val="0"/>
                </a:spcAft>
                <a:buNone/>
              </a:pPr>
              <a:r>
                <a:rPr lang="en" dirty="0">
                  <a:solidFill>
                    <a:schemeClr val="accent5"/>
                  </a:solidFill>
                  <a:latin typeface="Roboto"/>
                  <a:ea typeface="Roboto"/>
                  <a:cs typeface="Roboto"/>
                  <a:sym typeface="Roboto"/>
                </a:rPr>
                <a:t>Restart timer</a:t>
              </a:r>
              <a:endParaRPr dirty="0">
                <a:solidFill>
                  <a:schemeClr val="accent5"/>
                </a:solidFill>
                <a:latin typeface="Roboto"/>
                <a:ea typeface="Roboto"/>
                <a:cs typeface="Roboto"/>
                <a:sym typeface="Roboto"/>
              </a:endParaRPr>
            </a:p>
          </p:txBody>
        </p:sp>
        <p:cxnSp>
          <p:nvCxnSpPr>
            <p:cNvPr id="24" name="Google Shape;507;p45">
              <a:extLst>
                <a:ext uri="{FF2B5EF4-FFF2-40B4-BE49-F238E27FC236}">
                  <a16:creationId xmlns:a16="http://schemas.microsoft.com/office/drawing/2014/main" id="{BBE95586-40A9-397B-3070-20B8BD231449}"/>
                </a:ext>
              </a:extLst>
            </p:cNvPr>
            <p:cNvCxnSpPr>
              <a:cxnSpLocks/>
              <a:stCxn id="23" idx="3"/>
            </p:cNvCxnSpPr>
            <p:nvPr/>
          </p:nvCxnSpPr>
          <p:spPr>
            <a:xfrm flipV="1">
              <a:off x="8164119" y="3371200"/>
              <a:ext cx="262800" cy="197242"/>
            </a:xfrm>
            <a:prstGeom prst="straightConnector1">
              <a:avLst/>
            </a:prstGeom>
            <a:noFill/>
            <a:ln w="9525" cap="flat" cmpd="sng">
              <a:solidFill>
                <a:srgbClr val="6AA84F"/>
              </a:solidFill>
              <a:prstDash val="solid"/>
              <a:round/>
              <a:headEnd type="none" w="med" len="med"/>
              <a:tailEnd type="triangle" w="med" len="med"/>
            </a:ln>
          </p:spPr>
        </p:cxnSp>
      </p:grpSp>
      <p:sp>
        <p:nvSpPr>
          <p:cNvPr id="25" name="Rectangle 1027">
            <a:extLst>
              <a:ext uri="{FF2B5EF4-FFF2-40B4-BE49-F238E27FC236}">
                <a16:creationId xmlns:a16="http://schemas.microsoft.com/office/drawing/2014/main" id="{2B6F5498-3E96-CDAB-BD15-907507153FCC}"/>
              </a:ext>
            </a:extLst>
          </p:cNvPr>
          <p:cNvSpPr txBox="1">
            <a:spLocks noChangeArrowheads="1"/>
          </p:cNvSpPr>
          <p:nvPr/>
        </p:nvSpPr>
        <p:spPr>
          <a:xfrm>
            <a:off x="6978556" y="4337609"/>
            <a:ext cx="5213444" cy="2520391"/>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30175" marR="0" lvl="0" indent="0" algn="l" defTabSz="914400" rtl="0" eaLnBrk="1" fontAlgn="auto" latinLnBrk="0" hangingPunct="1">
              <a:lnSpc>
                <a:spcPct val="90000"/>
              </a:lnSpc>
              <a:spcBef>
                <a:spcPts val="1000"/>
              </a:spcBef>
              <a:spcAft>
                <a:spcPts val="0"/>
              </a:spcAft>
              <a:buClrTx/>
              <a:buSzTx/>
              <a:buNone/>
              <a:tabLst/>
              <a:defRPr/>
            </a:pPr>
            <a:r>
              <a:rPr kumimoji="0" lang="en-US" altLang="zh-CN" b="0" i="1" u="sng" strike="noStrike" kern="1200" cap="none" spc="0" normalizeH="0" baseline="0" noProof="0" dirty="0">
                <a:ln>
                  <a:noFill/>
                </a:ln>
                <a:solidFill>
                  <a:srgbClr val="C00000"/>
                </a:solidFill>
                <a:effectLst/>
                <a:uLnTx/>
                <a:uFillTx/>
                <a:ea typeface="+mn-ea"/>
                <a:cs typeface="+mn-cs"/>
              </a:rPr>
              <a:t>Timeout</a:t>
            </a:r>
            <a:r>
              <a:rPr kumimoji="0" lang="en-US" b="0" i="1" u="sng" strike="noStrike" kern="1200" cap="none" spc="0" normalizeH="0" baseline="0" noProof="0" dirty="0">
                <a:ln>
                  <a:noFill/>
                </a:ln>
                <a:solidFill>
                  <a:srgbClr val="C00000"/>
                </a:solidFill>
                <a:effectLst/>
                <a:uLnTx/>
                <a:uFillTx/>
                <a:ea typeface="+mn-ea"/>
                <a:cs typeface="+mn-cs"/>
              </a:rPr>
              <a:t>:</a:t>
            </a:r>
            <a:endParaRPr kumimoji="0" lang="en-US" b="0" i="0" u="none" strike="noStrike" kern="1200" cap="none" spc="0" normalizeH="0" baseline="0" noProof="0" dirty="0">
              <a:ln>
                <a:noFill/>
              </a:ln>
              <a:solidFill>
                <a:prstClr val="black"/>
              </a:solidFill>
              <a:effectLst/>
              <a:uLnTx/>
              <a:uFillTx/>
              <a:ea typeface="+mn-ea"/>
              <a:cs typeface="+mn-cs"/>
            </a:endParaRP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prstClr val="black"/>
                </a:solidFill>
                <a:effectLst/>
                <a:uLnTx/>
                <a:uFillTx/>
                <a:ea typeface="+mn-ea"/>
                <a:cs typeface="+mn-cs"/>
              </a:rPr>
              <a:t>Waiting time for an ACK</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400" i="1" dirty="0">
                <a:solidFill>
                  <a:srgbClr val="C00000"/>
                </a:solidFill>
              </a:rPr>
              <a:t>Detect</a:t>
            </a:r>
            <a:r>
              <a:rPr kumimoji="0" lang="en-US" sz="2400" b="0" i="1" u="none" strike="noStrike" kern="1200" cap="none" spc="0" normalizeH="0" baseline="0" noProof="0" dirty="0">
                <a:ln>
                  <a:noFill/>
                </a:ln>
                <a:solidFill>
                  <a:srgbClr val="C00000"/>
                </a:solidFill>
                <a:effectLst/>
                <a:uLnTx/>
                <a:uFillTx/>
                <a:ea typeface="+mn-ea"/>
                <a:cs typeface="+mn-cs"/>
              </a:rPr>
              <a:t> lost segments:</a:t>
            </a:r>
            <a:r>
              <a:rPr kumimoji="0" lang="en-US" sz="2400" b="0" i="0" u="none" strike="noStrike" kern="1200" cap="none" spc="0" normalizeH="0" baseline="0" noProof="0" dirty="0">
                <a:ln>
                  <a:noFill/>
                </a:ln>
                <a:solidFill>
                  <a:srgbClr val="C00000"/>
                </a:solidFill>
                <a:effectLst/>
                <a:uLnTx/>
                <a:uFillTx/>
                <a:ea typeface="+mn-ea"/>
                <a:cs typeface="+mn-cs"/>
              </a:rPr>
              <a:t> </a:t>
            </a:r>
            <a:r>
              <a:rPr kumimoji="0" lang="en-US" sz="2400" b="0" i="0" u="none" strike="noStrike" kern="1200" cap="none" spc="0" normalizeH="0" baseline="0" noProof="0" dirty="0">
                <a:ln>
                  <a:noFill/>
                </a:ln>
                <a:solidFill>
                  <a:prstClr val="black"/>
                </a:solidFill>
                <a:effectLst/>
                <a:uLnTx/>
                <a:uFillTx/>
                <a:ea typeface="+mn-ea"/>
                <a:cs typeface="+mn-cs"/>
              </a:rPr>
              <a:t>the sender relies on the timeout to notice the absence of an ACK</a:t>
            </a:r>
          </a:p>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400" b="0" i="1" u="none" strike="noStrike" kern="1200" cap="none" spc="0" normalizeH="0" baseline="0" noProof="0" dirty="0">
                <a:ln>
                  <a:noFill/>
                </a:ln>
                <a:solidFill>
                  <a:srgbClr val="C00000"/>
                </a:solidFill>
                <a:effectLst/>
                <a:uLnTx/>
                <a:uFillTx/>
                <a:ea typeface="+mn-ea"/>
                <a:cs typeface="+mn-cs"/>
              </a:rPr>
              <a:t>Ensure timely retransmission</a:t>
            </a:r>
            <a:endParaRPr kumimoji="0" lang="en-US" sz="2400" b="0" i="0" u="none" strike="noStrike" kern="1200" cap="none" spc="0" normalizeH="0" baseline="0" noProof="0" dirty="0">
              <a:ln>
                <a:noFill/>
              </a:ln>
              <a:solidFill>
                <a:prstClr val="black"/>
              </a:solidFill>
              <a:effectLst/>
              <a:uLnTx/>
              <a:uFillTx/>
              <a:ea typeface="+mn-ea"/>
              <a:cs typeface="+mn-cs"/>
            </a:endParaRPr>
          </a:p>
        </p:txBody>
      </p:sp>
      <p:sp>
        <p:nvSpPr>
          <p:cNvPr id="26" name="Rectangle 1028">
            <a:extLst>
              <a:ext uri="{FF2B5EF4-FFF2-40B4-BE49-F238E27FC236}">
                <a16:creationId xmlns:a16="http://schemas.microsoft.com/office/drawing/2014/main" id="{AF8C3795-1BE6-0AC8-7202-1014D6C5162B}"/>
              </a:ext>
            </a:extLst>
          </p:cNvPr>
          <p:cNvSpPr txBox="1">
            <a:spLocks noChangeArrowheads="1"/>
          </p:cNvSpPr>
          <p:nvPr/>
        </p:nvSpPr>
        <p:spPr>
          <a:xfrm>
            <a:off x="572287" y="4154603"/>
            <a:ext cx="6096000" cy="2520390"/>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000" b="1" i="1" u="sng" strike="noStrike" kern="1200" cap="none" spc="0" normalizeH="0" baseline="0" noProof="0" dirty="0">
                <a:ln>
                  <a:noFill/>
                </a:ln>
                <a:solidFill>
                  <a:srgbClr val="C00000"/>
                </a:solidFill>
                <a:effectLst/>
                <a:uLnTx/>
                <a:uFillTx/>
                <a:ea typeface="ＭＳ Ｐゴシック" panose="020B0600070205080204" pitchFamily="34" charset="-128"/>
              </a:rPr>
              <a:t>Q:</a:t>
            </a:r>
            <a:r>
              <a:rPr kumimoji="0" lang="en-US" altLang="en-US" sz="3000" b="1" i="1" u="none" strike="noStrike" kern="1200" cap="none" spc="0" normalizeH="0" baseline="0" noProof="0" dirty="0">
                <a:ln>
                  <a:noFill/>
                </a:ln>
                <a:solidFill>
                  <a:srgbClr val="C00000"/>
                </a:solidFill>
                <a:effectLst/>
                <a:uLnTx/>
                <a:uFillTx/>
                <a:ea typeface="ＭＳ Ｐゴシック" panose="020B0600070205080204" pitchFamily="34" charset="-128"/>
              </a:rPr>
              <a:t> </a:t>
            </a:r>
            <a:r>
              <a:rPr kumimoji="0" lang="en-US" altLang="en-US" sz="3000" b="1" i="1" u="none" strike="noStrike" kern="1200" cap="none" spc="0" normalizeH="0" baseline="0" noProof="0" dirty="0">
                <a:ln>
                  <a:noFill/>
                </a:ln>
                <a:solidFill>
                  <a:prstClr val="black"/>
                </a:solidFill>
                <a:effectLst/>
                <a:uLnTx/>
                <a:uFillTx/>
                <a:ea typeface="ＭＳ Ｐゴシック" panose="020B0600070205080204" pitchFamily="34" charset="-128"/>
              </a:rPr>
              <a:t>how to estimate RTT?</a:t>
            </a:r>
          </a:p>
          <a:p>
            <a:pPr lvl="0">
              <a:buClr>
                <a:srgbClr val="C00000"/>
              </a:buClr>
              <a:buFont typeface="Arial" panose="020B0604020202020204" pitchFamily="34" charset="0"/>
              <a:buChar char="•"/>
              <a:defRPr/>
            </a:pPr>
            <a:r>
              <a:rPr lang="en-US" sz="3200" i="1" dirty="0">
                <a:solidFill>
                  <a:srgbClr val="C00000"/>
                </a:solidFill>
                <a:latin typeface="Calibri" panose="020F0502020204030204"/>
              </a:rPr>
              <a:t>Too short:</a:t>
            </a:r>
            <a:r>
              <a:rPr lang="en-US" sz="3200" dirty="0">
                <a:solidFill>
                  <a:srgbClr val="C00000"/>
                </a:solidFill>
                <a:latin typeface="Calibri" panose="020F0502020204030204"/>
              </a:rPr>
              <a:t> </a:t>
            </a:r>
            <a:r>
              <a:rPr lang="en-US" sz="3200" dirty="0">
                <a:solidFill>
                  <a:prstClr val="black"/>
                </a:solidFill>
                <a:latin typeface="Calibri" panose="020F0502020204030204"/>
              </a:rPr>
              <a:t>premature timeout, unnecessary retransmissions</a:t>
            </a:r>
          </a:p>
          <a:p>
            <a:pPr lvl="0">
              <a:buClr>
                <a:srgbClr val="C00000"/>
              </a:buClr>
              <a:buFont typeface="Arial" panose="020B0604020202020204" pitchFamily="34" charset="0"/>
              <a:buChar char="•"/>
              <a:defRPr/>
            </a:pPr>
            <a:r>
              <a:rPr lang="en-US" sz="3200" i="1" dirty="0">
                <a:solidFill>
                  <a:srgbClr val="C00000"/>
                </a:solidFill>
                <a:latin typeface="Calibri" panose="020F0502020204030204"/>
              </a:rPr>
              <a:t>Too long:</a:t>
            </a:r>
            <a:r>
              <a:rPr lang="en-US" sz="3200" dirty="0">
                <a:solidFill>
                  <a:srgbClr val="C00000"/>
                </a:solidFill>
                <a:latin typeface="Calibri" panose="020F0502020204030204"/>
              </a:rPr>
              <a:t> </a:t>
            </a:r>
            <a:r>
              <a:rPr lang="en-US" sz="3200" dirty="0">
                <a:solidFill>
                  <a:prstClr val="black"/>
                </a:solidFill>
                <a:latin typeface="Calibri" panose="020F0502020204030204"/>
              </a:rPr>
              <a:t>slow reaction to segment loss</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000" b="1" i="1" u="none" strike="noStrike" kern="1200" cap="none" spc="0" normalizeH="0" baseline="0" noProof="0" dirty="0">
              <a:ln>
                <a:noFill/>
              </a:ln>
              <a:solidFill>
                <a:prstClr val="black"/>
              </a:solidFill>
              <a:effectLst/>
              <a:uLnTx/>
              <a:uFillTx/>
              <a:ea typeface="ＭＳ Ｐゴシック" panose="020B0600070205080204" pitchFamily="34" charset="-128"/>
            </a:endParaRPr>
          </a:p>
        </p:txBody>
      </p:sp>
    </p:spTree>
    <p:extLst>
      <p:ext uri="{BB962C8B-B14F-4D97-AF65-F5344CB8AC3E}">
        <p14:creationId xmlns:p14="http://schemas.microsoft.com/office/powerpoint/2010/main" val="2096193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3E84E-39C9-6472-22D5-1BD5E6DD72C6}"/>
            </a:ext>
          </a:extLst>
        </p:cNvPr>
        <p:cNvGrpSpPr/>
        <p:nvPr/>
      </p:nvGrpSpPr>
      <p:grpSpPr>
        <a:xfrm>
          <a:off x="0" y="0"/>
          <a:ext cx="0" cy="0"/>
          <a:chOff x="0" y="0"/>
          <a:chExt cx="0" cy="0"/>
        </a:xfrm>
      </p:grpSpPr>
      <p:sp>
        <p:nvSpPr>
          <p:cNvPr id="2" name="Google Shape;406;p39">
            <a:extLst>
              <a:ext uri="{FF2B5EF4-FFF2-40B4-BE49-F238E27FC236}">
                <a16:creationId xmlns:a16="http://schemas.microsoft.com/office/drawing/2014/main" id="{B23A4233-973B-5F19-53F5-3F5D310619F6}"/>
              </a:ext>
            </a:extLst>
          </p:cNvPr>
          <p:cNvSpPr txBox="1">
            <a:spLocks/>
          </p:cNvSpPr>
          <p:nvPr/>
        </p:nvSpPr>
        <p:spPr>
          <a:xfrm>
            <a:off x="415600" y="194153"/>
            <a:ext cx="11360800" cy="1114816"/>
          </a:xfrm>
          <a:prstGeom prst="rect">
            <a:avLst/>
          </a:prstGeom>
        </p:spPr>
        <p:txBody>
          <a:bodyPr spcFirstLastPara="1" vert="horz" wrap="square" lIns="121900" tIns="121900" rIns="121900" bIns="121900"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TCP timeout and round trip time (RTT)</a:t>
            </a:r>
          </a:p>
        </p:txBody>
      </p:sp>
      <p:sp>
        <p:nvSpPr>
          <p:cNvPr id="26" name="Rectangle 1028">
            <a:extLst>
              <a:ext uri="{FF2B5EF4-FFF2-40B4-BE49-F238E27FC236}">
                <a16:creationId xmlns:a16="http://schemas.microsoft.com/office/drawing/2014/main" id="{3976C207-5891-3EF0-6823-C1864543581E}"/>
              </a:ext>
            </a:extLst>
          </p:cNvPr>
          <p:cNvSpPr txBox="1">
            <a:spLocks noChangeArrowheads="1"/>
          </p:cNvSpPr>
          <p:nvPr/>
        </p:nvSpPr>
        <p:spPr>
          <a:xfrm>
            <a:off x="139701" y="1298831"/>
            <a:ext cx="5499099" cy="3546088"/>
          </a:xfrm>
          <a:prstGeom prst="rect">
            <a:avLst/>
          </a:prstGeom>
        </p:spPr>
        <p:txBody>
          <a:bodyPr vert="horz" lIns="91440" tIns="45720" rIns="91440" bIns="45720" rtlCol="0">
            <a:normAutofit fontScale="92500"/>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600"/>
              </a:spcAft>
              <a:buClr>
                <a:srgbClr val="0000A3"/>
              </a:buClr>
              <a:buSzTx/>
              <a:buFont typeface="Wingdings" pitchFamily="2" charset="2"/>
              <a:buNone/>
              <a:tabLst/>
              <a:defRPr/>
            </a:pPr>
            <a:r>
              <a:rPr kumimoji="0" lang="en-US" altLang="en-US" sz="3000" b="0" i="1" u="sng" strike="noStrike" kern="1200" cap="none" spc="0" normalizeH="0" baseline="0" noProof="0" dirty="0">
                <a:ln>
                  <a:noFill/>
                </a:ln>
                <a:solidFill>
                  <a:srgbClr val="C00000"/>
                </a:solidFill>
                <a:effectLst/>
                <a:uLnTx/>
                <a:uFillTx/>
                <a:ea typeface="ＭＳ Ｐゴシック" panose="020B0600070205080204" pitchFamily="34" charset="-128"/>
              </a:rPr>
              <a:t>Q</a:t>
            </a:r>
            <a:r>
              <a:rPr kumimoji="0" lang="en-US" altLang="en-US" sz="3000" b="0" i="0" u="sng" strike="noStrike" kern="1200" cap="none" spc="0" normalizeH="0" baseline="0" noProof="0" dirty="0">
                <a:ln>
                  <a:noFill/>
                </a:ln>
                <a:solidFill>
                  <a:srgbClr val="C00000"/>
                </a:solidFill>
                <a:effectLst/>
                <a:uLnTx/>
                <a:uFillTx/>
                <a:ea typeface="ＭＳ Ｐゴシック" panose="020B0600070205080204" pitchFamily="34" charset="-128"/>
              </a:rPr>
              <a:t>:</a:t>
            </a:r>
            <a:r>
              <a:rPr kumimoji="0" lang="en-US" altLang="en-US" sz="3000" b="0" i="0" u="none" strike="noStrike" kern="1200" cap="none" spc="0" normalizeH="0" baseline="0" noProof="0" dirty="0">
                <a:ln>
                  <a:noFill/>
                </a:ln>
                <a:solidFill>
                  <a:srgbClr val="C00000"/>
                </a:solidFill>
                <a:effectLst/>
                <a:uLnTx/>
                <a:uFillTx/>
                <a:ea typeface="ＭＳ Ｐゴシック" panose="020B0600070205080204" pitchFamily="34" charset="-128"/>
              </a:rPr>
              <a:t> </a:t>
            </a:r>
            <a:r>
              <a:rPr kumimoji="0" lang="en-US" altLang="en-US" sz="3000" b="0" i="0" u="none" strike="noStrike" kern="1200" cap="none" spc="0" normalizeH="0" baseline="0" noProof="0" dirty="0">
                <a:ln>
                  <a:noFill/>
                </a:ln>
                <a:solidFill>
                  <a:prstClr val="black"/>
                </a:solidFill>
                <a:effectLst/>
                <a:uLnTx/>
                <a:uFillTx/>
                <a:ea typeface="ＭＳ Ｐゴシック" panose="020B0600070205080204" pitchFamily="34" charset="-128"/>
              </a:rPr>
              <a:t>how to estimate RTT?</a:t>
            </a:r>
          </a:p>
          <a:p>
            <a:pPr marR="0" lvl="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altLang="en-US" sz="2400" b="1" i="0" u="none" strike="noStrike" kern="1200" cap="none" spc="0" normalizeH="0" baseline="0" noProof="0" dirty="0" err="1">
                <a:ln>
                  <a:noFill/>
                </a:ln>
                <a:effectLst/>
                <a:uLnTx/>
                <a:uFillTx/>
                <a:ea typeface="ＭＳ Ｐゴシック" panose="020B0600070205080204" pitchFamily="34" charset="-128"/>
                <a:cs typeface="Courier New" panose="02070309020205020404" pitchFamily="49" charset="0"/>
              </a:rPr>
              <a:t>SampleRTT</a:t>
            </a:r>
            <a:r>
              <a:rPr kumimoji="0" lang="en-US" altLang="en-US" sz="2400" b="0" i="0" u="none" strike="noStrike" kern="1200" cap="none" spc="0" normalizeH="0" baseline="0" noProof="0" dirty="0">
                <a:ln>
                  <a:noFill/>
                </a:ln>
                <a:effectLst/>
                <a:uLnTx/>
                <a:uFillTx/>
                <a:ea typeface="ＭＳ Ｐゴシック" panose="020B0600070205080204" pitchFamily="34" charset="-128"/>
                <a:cs typeface="Courier New" panose="02070309020205020404" pitchFamily="49" charset="0"/>
              </a:rPr>
              <a:t>: </a:t>
            </a:r>
            <a:r>
              <a:rPr kumimoji="0" lang="en-US" altLang="en-US" sz="2400" b="0" i="0" u="none" strike="noStrike" kern="1200" cap="none" spc="0" normalizeH="0" baseline="0" noProof="0" dirty="0">
                <a:ln>
                  <a:noFill/>
                </a:ln>
                <a:effectLst/>
                <a:uLnTx/>
                <a:uFillTx/>
                <a:ea typeface="ＭＳ Ｐゴシック" panose="020B0600070205080204" pitchFamily="34" charset="-128"/>
              </a:rPr>
              <a:t>measured time from segment transmission until ACK receipt</a:t>
            </a:r>
          </a:p>
          <a:p>
            <a:pPr marR="0" lvl="1" algn="l" defTabSz="914400" rtl="0" eaLnBrk="1" fontAlgn="auto" latinLnBrk="0" hangingPunct="1">
              <a:lnSpc>
                <a:spcPct val="90000"/>
              </a:lnSpc>
              <a:spcBef>
                <a:spcPts val="600"/>
              </a:spcBef>
              <a:spcAft>
                <a:spcPts val="600"/>
              </a:spcAft>
              <a:buClrTx/>
              <a:buSzTx/>
              <a:tabLst/>
              <a:defRPr/>
            </a:pPr>
            <a:r>
              <a:rPr kumimoji="0" lang="en-US" altLang="en-US" b="0" i="0" u="none" strike="noStrike" kern="1200" cap="none" spc="0" normalizeH="0" baseline="0" noProof="0" dirty="0">
                <a:ln>
                  <a:noFill/>
                </a:ln>
                <a:effectLst/>
                <a:uLnTx/>
                <a:uFillTx/>
                <a:ea typeface="ＭＳ Ｐゴシック" panose="020B0600070205080204" pitchFamily="34" charset="-128"/>
              </a:rPr>
              <a:t>Ignore retransmissions</a:t>
            </a:r>
          </a:p>
          <a:p>
            <a:pPr marR="0" lvl="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altLang="en-US" sz="2400" b="0" i="0" u="none" strike="noStrike" kern="1200" cap="none" spc="0" normalizeH="0" baseline="0" noProof="0" dirty="0">
                <a:ln>
                  <a:noFill/>
                </a:ln>
                <a:effectLst/>
                <a:uLnTx/>
                <a:uFillTx/>
                <a:ea typeface="ＭＳ Ｐゴシック" panose="020B0600070205080204" pitchFamily="34" charset="-128"/>
                <a:cs typeface="Courier New" panose="02070309020205020404" pitchFamily="49" charset="0"/>
              </a:rPr>
              <a:t>SampleRTT </a:t>
            </a:r>
            <a:r>
              <a:rPr kumimoji="0" lang="en-US" altLang="en-US" sz="2400" b="0" i="0" u="none" strike="noStrike" kern="1200" cap="none" spc="0" normalizeH="0" baseline="0" noProof="0" dirty="0">
                <a:ln>
                  <a:noFill/>
                </a:ln>
                <a:effectLst/>
                <a:uLnTx/>
                <a:uFillTx/>
                <a:ea typeface="ＭＳ Ｐゴシック" panose="020B0600070205080204" pitchFamily="34" charset="-128"/>
              </a:rPr>
              <a:t>will vary, want estimated RTT “</a:t>
            </a:r>
            <a:r>
              <a:rPr kumimoji="0" lang="en-US" altLang="ja-JP" sz="2400" b="0" i="0" u="none" strike="noStrike" kern="1200" cap="none" spc="0" normalizeH="0" baseline="0" noProof="0" dirty="0">
                <a:ln>
                  <a:noFill/>
                </a:ln>
                <a:effectLst/>
                <a:uLnTx/>
                <a:uFillTx/>
                <a:ea typeface="ＭＳ Ｐゴシック" panose="020B0600070205080204" pitchFamily="34" charset="-128"/>
              </a:rPr>
              <a:t>smoother”</a:t>
            </a:r>
          </a:p>
          <a:p>
            <a:pPr marR="0" lvl="1" algn="l" defTabSz="914400" rtl="0" eaLnBrk="1" fontAlgn="auto" latinLnBrk="0" hangingPunct="1">
              <a:lnSpc>
                <a:spcPct val="90000"/>
              </a:lnSpc>
              <a:spcBef>
                <a:spcPts val="600"/>
              </a:spcBef>
              <a:spcAft>
                <a:spcPts val="600"/>
              </a:spcAft>
              <a:buClrTx/>
              <a:buSzTx/>
              <a:tabLst/>
              <a:defRPr/>
            </a:pPr>
            <a:r>
              <a:rPr kumimoji="0" lang="en-US" altLang="en-US" b="0" i="0" u="none" strike="noStrike" kern="1200" cap="none" spc="0" normalizeH="0" baseline="0" noProof="0" dirty="0">
                <a:ln>
                  <a:noFill/>
                </a:ln>
                <a:solidFill>
                  <a:srgbClr val="C00000"/>
                </a:solidFill>
                <a:effectLst/>
                <a:uLnTx/>
                <a:uFillTx/>
                <a:ea typeface="ＭＳ Ｐゴシック" panose="020B0600070205080204" pitchFamily="34" charset="-128"/>
              </a:rPr>
              <a:t>Average</a:t>
            </a:r>
            <a:r>
              <a:rPr kumimoji="0" lang="en-US" altLang="en-US" b="0" i="0" u="none" strike="noStrike" kern="1200" cap="none" spc="0" normalizeH="0" baseline="0" noProof="0" dirty="0">
                <a:ln>
                  <a:noFill/>
                </a:ln>
                <a:effectLst/>
                <a:uLnTx/>
                <a:uFillTx/>
                <a:ea typeface="ＭＳ Ｐゴシック" panose="020B0600070205080204" pitchFamily="34" charset="-128"/>
              </a:rPr>
              <a:t> several </a:t>
            </a:r>
            <a:r>
              <a:rPr kumimoji="0" lang="en-US" altLang="en-US" b="0" i="1" u="none" strike="noStrike" kern="1200" cap="none" spc="0" normalizeH="0" baseline="0" noProof="0" dirty="0">
                <a:ln>
                  <a:noFill/>
                </a:ln>
                <a:effectLst/>
                <a:uLnTx/>
                <a:uFillTx/>
                <a:ea typeface="ＭＳ Ｐゴシック" panose="020B0600070205080204" pitchFamily="34" charset="-128"/>
              </a:rPr>
              <a:t>recent</a:t>
            </a:r>
            <a:r>
              <a:rPr kumimoji="0" lang="en-US" altLang="en-US" b="0" i="0" u="none" strike="noStrike" kern="1200" cap="none" spc="0" normalizeH="0" baseline="0" noProof="0" dirty="0">
                <a:ln>
                  <a:noFill/>
                </a:ln>
                <a:effectLst/>
                <a:uLnTx/>
                <a:uFillTx/>
                <a:ea typeface="ＭＳ Ｐゴシック" panose="020B0600070205080204" pitchFamily="34" charset="-128"/>
              </a:rPr>
              <a:t> measurements, not just current </a:t>
            </a:r>
            <a:r>
              <a:rPr kumimoji="0" lang="en-US" altLang="en-US" b="0" i="0" u="none" strike="noStrike" kern="1200" cap="none" spc="0" normalizeH="0" baseline="0" noProof="0" dirty="0">
                <a:ln>
                  <a:noFill/>
                </a:ln>
                <a:effectLst/>
                <a:uLnTx/>
                <a:uFillTx/>
                <a:ea typeface="ＭＳ Ｐゴシック" panose="020B0600070205080204" pitchFamily="34" charset="-128"/>
                <a:cs typeface="Courier New" panose="02070309020205020404" pitchFamily="49" charset="0"/>
              </a:rPr>
              <a:t>SampleRTT</a:t>
            </a:r>
          </a:p>
        </p:txBody>
      </p:sp>
      <p:grpSp>
        <p:nvGrpSpPr>
          <p:cNvPr id="27" name="Group 26">
            <a:extLst>
              <a:ext uri="{FF2B5EF4-FFF2-40B4-BE49-F238E27FC236}">
                <a16:creationId xmlns:a16="http://schemas.microsoft.com/office/drawing/2014/main" id="{8B373365-F462-A664-7A78-69B60D2A924B}"/>
              </a:ext>
            </a:extLst>
          </p:cNvPr>
          <p:cNvGrpSpPr/>
          <p:nvPr/>
        </p:nvGrpSpPr>
        <p:grpSpPr>
          <a:xfrm>
            <a:off x="5638799" y="788856"/>
            <a:ext cx="6448425" cy="4292600"/>
            <a:chOff x="1531938" y="2565400"/>
            <a:chExt cx="6448425" cy="4292600"/>
          </a:xfrm>
        </p:grpSpPr>
        <p:grpSp>
          <p:nvGrpSpPr>
            <p:cNvPr id="29" name="Group 14">
              <a:extLst>
                <a:ext uri="{FF2B5EF4-FFF2-40B4-BE49-F238E27FC236}">
                  <a16:creationId xmlns:a16="http://schemas.microsoft.com/office/drawing/2014/main" id="{BCCDAA3D-030C-69FB-3B18-3B8B2778632F}"/>
                </a:ext>
              </a:extLst>
            </p:cNvPr>
            <p:cNvGrpSpPr>
              <a:grpSpLocks/>
            </p:cNvGrpSpPr>
            <p:nvPr/>
          </p:nvGrpSpPr>
          <p:grpSpPr bwMode="auto">
            <a:xfrm>
              <a:off x="1708150" y="2565400"/>
              <a:ext cx="6272213" cy="4292600"/>
              <a:chOff x="782" y="1865"/>
              <a:chExt cx="3951" cy="2704"/>
            </a:xfrm>
          </p:grpSpPr>
          <p:pic>
            <p:nvPicPr>
              <p:cNvPr id="40" name="Picture 12">
                <a:extLst>
                  <a:ext uri="{FF2B5EF4-FFF2-40B4-BE49-F238E27FC236}">
                    <a16:creationId xmlns:a16="http://schemas.microsoft.com/office/drawing/2014/main" id="{0BD334D2-92AB-F40B-BB34-0047219453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 y="1865"/>
                <a:ext cx="3951" cy="2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ectangle 13">
                <a:extLst>
                  <a:ext uri="{FF2B5EF4-FFF2-40B4-BE49-F238E27FC236}">
                    <a16:creationId xmlns:a16="http://schemas.microsoft.com/office/drawing/2014/main" id="{9DC76FF1-050C-AC78-1671-E6EBEE6AE209}"/>
                  </a:ext>
                </a:extLst>
              </p:cNvPr>
              <p:cNvSpPr>
                <a:spLocks noChangeArrowheads="1"/>
              </p:cNvSpPr>
              <p:nvPr/>
            </p:nvSpPr>
            <p:spPr bwMode="auto">
              <a:xfrm>
                <a:off x="2070" y="1926"/>
                <a:ext cx="1404" cy="16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sp>
          <p:nvSpPr>
            <p:cNvPr id="30" name="Text Box 18">
              <a:extLst>
                <a:ext uri="{FF2B5EF4-FFF2-40B4-BE49-F238E27FC236}">
                  <a16:creationId xmlns:a16="http://schemas.microsoft.com/office/drawing/2014/main" id="{35E1CAD5-2445-81E5-0D95-344B4CF0E2DE}"/>
                </a:ext>
              </a:extLst>
            </p:cNvPr>
            <p:cNvSpPr txBox="1">
              <a:spLocks noChangeArrowheads="1"/>
            </p:cNvSpPr>
            <p:nvPr/>
          </p:nvSpPr>
          <p:spPr bwMode="auto">
            <a:xfrm rot="10800000">
              <a:off x="1531938" y="3535363"/>
              <a:ext cx="428625" cy="17478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RTT (milliseconds)</a:t>
              </a:r>
            </a:p>
          </p:txBody>
        </p:sp>
        <p:sp>
          <p:nvSpPr>
            <p:cNvPr id="31" name="Text Box 19">
              <a:extLst>
                <a:ext uri="{FF2B5EF4-FFF2-40B4-BE49-F238E27FC236}">
                  <a16:creationId xmlns:a16="http://schemas.microsoft.com/office/drawing/2014/main" id="{0BF75E9E-0440-E7C0-2B34-0043B82AA7F1}"/>
                </a:ext>
              </a:extLst>
            </p:cNvPr>
            <p:cNvSpPr txBox="1">
              <a:spLocks noChangeArrowheads="1"/>
            </p:cNvSpPr>
            <p:nvPr/>
          </p:nvSpPr>
          <p:spPr bwMode="auto">
            <a:xfrm>
              <a:off x="2265363" y="3168650"/>
              <a:ext cx="3867150" cy="304800"/>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RTT:</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gaia.cs.umass.edu</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to</a:t>
              </a:r>
              <a:r>
                <a:rPr kumimoji="0" lang="en-US" sz="1400" b="0" i="0" u="none" strike="noStrike" kern="1200" cap="none" spc="0" normalizeH="0" baseline="0" noProof="0" dirty="0">
                  <a:ln>
                    <a:noFill/>
                  </a:ln>
                  <a:solidFill>
                    <a:srgbClr val="FFFFFF"/>
                  </a:solidFill>
                  <a:effectLst/>
                  <a:uLnTx/>
                  <a:uFillTx/>
                  <a:latin typeface="Arial" charset="0"/>
                  <a:ea typeface="ＭＳ Ｐゴシック" charset="0"/>
                  <a:cs typeface="+mn-cs"/>
                </a:rPr>
                <a:t> </a:t>
              </a: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fantasia.eurecom.fr</a:t>
              </a:r>
            </a:p>
          </p:txBody>
        </p:sp>
        <p:sp>
          <p:nvSpPr>
            <p:cNvPr id="32" name="Text Box 20">
              <a:extLst>
                <a:ext uri="{FF2B5EF4-FFF2-40B4-BE49-F238E27FC236}">
                  <a16:creationId xmlns:a16="http://schemas.microsoft.com/office/drawing/2014/main" id="{8E18F7FE-10BA-DED2-95FB-FE245E267198}"/>
                </a:ext>
              </a:extLst>
            </p:cNvPr>
            <p:cNvSpPr txBox="1">
              <a:spLocks noChangeArrowheads="1"/>
            </p:cNvSpPr>
            <p:nvPr/>
          </p:nvSpPr>
          <p:spPr bwMode="auto">
            <a:xfrm>
              <a:off x="6221413" y="5230813"/>
              <a:ext cx="1181100"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sampleRTT</a:t>
              </a:r>
            </a:p>
          </p:txBody>
        </p:sp>
        <p:sp>
          <p:nvSpPr>
            <p:cNvPr id="33" name="Text Box 21">
              <a:extLst>
                <a:ext uri="{FF2B5EF4-FFF2-40B4-BE49-F238E27FC236}">
                  <a16:creationId xmlns:a16="http://schemas.microsoft.com/office/drawing/2014/main" id="{6250A20D-E39F-6D4F-0D49-48B4BD3C8A23}"/>
                </a:ext>
              </a:extLst>
            </p:cNvPr>
            <p:cNvSpPr txBox="1">
              <a:spLocks noChangeArrowheads="1"/>
            </p:cNvSpPr>
            <p:nvPr/>
          </p:nvSpPr>
          <p:spPr bwMode="auto">
            <a:xfrm>
              <a:off x="6215063" y="5548313"/>
              <a:ext cx="1431925"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EstimatedRTT</a:t>
              </a:r>
            </a:p>
          </p:txBody>
        </p:sp>
        <p:sp>
          <p:nvSpPr>
            <p:cNvPr id="34" name="AutoShape 22">
              <a:extLst>
                <a:ext uri="{FF2B5EF4-FFF2-40B4-BE49-F238E27FC236}">
                  <a16:creationId xmlns:a16="http://schemas.microsoft.com/office/drawing/2014/main" id="{7332528A-26BE-67E5-2195-C42634A95565}"/>
                </a:ext>
              </a:extLst>
            </p:cNvPr>
            <p:cNvSpPr>
              <a:spLocks noChangeArrowheads="1"/>
            </p:cNvSpPr>
            <p:nvPr/>
          </p:nvSpPr>
          <p:spPr bwMode="auto">
            <a:xfrm>
              <a:off x="6005513" y="5343525"/>
              <a:ext cx="147637" cy="142875"/>
            </a:xfrm>
            <a:prstGeom prst="diamond">
              <a:avLst/>
            </a:prstGeom>
            <a:solidFill>
              <a:srgbClr val="00009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5" name="AutoShape 23">
              <a:extLst>
                <a:ext uri="{FF2B5EF4-FFF2-40B4-BE49-F238E27FC236}">
                  <a16:creationId xmlns:a16="http://schemas.microsoft.com/office/drawing/2014/main" id="{C0140271-4FD9-2D87-F010-CEE3A70E690B}"/>
                </a:ext>
              </a:extLst>
            </p:cNvPr>
            <p:cNvSpPr>
              <a:spLocks noChangeArrowheads="1"/>
            </p:cNvSpPr>
            <p:nvPr/>
          </p:nvSpPr>
          <p:spPr bwMode="auto">
            <a:xfrm rot="2776382">
              <a:off x="6011069" y="5633244"/>
              <a:ext cx="147637" cy="142875"/>
            </a:xfrm>
            <a:prstGeom prst="diamond">
              <a:avLst/>
            </a:prstGeom>
            <a:solidFill>
              <a:srgbClr val="FF66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Tahoma" charset="0"/>
                <a:ea typeface="ＭＳ Ｐゴシック" charset="0"/>
                <a:cs typeface="+mn-cs"/>
              </a:endParaRPr>
            </a:p>
          </p:txBody>
        </p:sp>
        <p:sp>
          <p:nvSpPr>
            <p:cNvPr id="36" name="Rectangle 24">
              <a:extLst>
                <a:ext uri="{FF2B5EF4-FFF2-40B4-BE49-F238E27FC236}">
                  <a16:creationId xmlns:a16="http://schemas.microsoft.com/office/drawing/2014/main" id="{CD471DAB-AA96-88C1-46CF-F88DB4201446}"/>
                </a:ext>
              </a:extLst>
            </p:cNvPr>
            <p:cNvSpPr>
              <a:spLocks noChangeArrowheads="1"/>
            </p:cNvSpPr>
            <p:nvPr/>
          </p:nvSpPr>
          <p:spPr bwMode="auto">
            <a:xfrm>
              <a:off x="4108450" y="6389688"/>
              <a:ext cx="1863725" cy="46831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37" name="Group 15">
              <a:extLst>
                <a:ext uri="{FF2B5EF4-FFF2-40B4-BE49-F238E27FC236}">
                  <a16:creationId xmlns:a16="http://schemas.microsoft.com/office/drawing/2014/main" id="{5E92150F-F109-2BF6-994A-A998620C90AF}"/>
                </a:ext>
              </a:extLst>
            </p:cNvPr>
            <p:cNvGrpSpPr>
              <a:grpSpLocks/>
            </p:cNvGrpSpPr>
            <p:nvPr/>
          </p:nvGrpSpPr>
          <p:grpSpPr bwMode="auto">
            <a:xfrm>
              <a:off x="4041775" y="6386513"/>
              <a:ext cx="1512888" cy="336550"/>
              <a:chOff x="2343" y="3645"/>
              <a:chExt cx="953" cy="212"/>
            </a:xfrm>
          </p:grpSpPr>
          <p:sp>
            <p:nvSpPr>
              <p:cNvPr id="38" name="Rectangle 16">
                <a:extLst>
                  <a:ext uri="{FF2B5EF4-FFF2-40B4-BE49-F238E27FC236}">
                    <a16:creationId xmlns:a16="http://schemas.microsoft.com/office/drawing/2014/main" id="{BBDEDB6F-E4DE-CB3C-6848-935264222665}"/>
                  </a:ext>
                </a:extLst>
              </p:cNvPr>
              <p:cNvSpPr>
                <a:spLocks noChangeArrowheads="1"/>
              </p:cNvSpPr>
              <p:nvPr/>
            </p:nvSpPr>
            <p:spPr bwMode="auto">
              <a:xfrm>
                <a:off x="2592" y="3695"/>
                <a:ext cx="527" cy="9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39" name="Text Box 17">
                <a:extLst>
                  <a:ext uri="{FF2B5EF4-FFF2-40B4-BE49-F238E27FC236}">
                    <a16:creationId xmlns:a16="http://schemas.microsoft.com/office/drawing/2014/main" id="{6D247009-7579-BEED-2E74-AA1372FDB34B}"/>
                  </a:ext>
                </a:extLst>
              </p:cNvPr>
              <p:cNvSpPr txBox="1">
                <a:spLocks noChangeArrowheads="1"/>
              </p:cNvSpPr>
              <p:nvPr/>
            </p:nvSpPr>
            <p:spPr bwMode="auto">
              <a:xfrm>
                <a:off x="2343" y="3645"/>
                <a:ext cx="953" cy="21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time (seconds)</a:t>
                </a:r>
              </a:p>
            </p:txBody>
          </p:sp>
        </p:grpSp>
      </p:grpSp>
      <p:sp>
        <p:nvSpPr>
          <p:cNvPr id="42" name="Text Box 3">
            <a:extLst>
              <a:ext uri="{FF2B5EF4-FFF2-40B4-BE49-F238E27FC236}">
                <a16:creationId xmlns:a16="http://schemas.microsoft.com/office/drawing/2014/main" id="{0E8D8DAC-D908-8D25-73CC-ED610D36A027}"/>
              </a:ext>
            </a:extLst>
          </p:cNvPr>
          <p:cNvSpPr txBox="1">
            <a:spLocks noChangeArrowheads="1"/>
          </p:cNvSpPr>
          <p:nvPr/>
        </p:nvSpPr>
        <p:spPr bwMode="auto">
          <a:xfrm>
            <a:off x="1112560" y="4850624"/>
            <a:ext cx="9052479"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(1-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)*EstimatedRTT + </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srgbClr val="000000"/>
                </a:solidFill>
                <a:effectLst/>
                <a:uLnTx/>
                <a:uFillTx/>
                <a:latin typeface="Courier New" charset="0"/>
                <a:ea typeface="ＭＳ Ｐゴシック" charset="0"/>
                <a:cs typeface="+mn-cs"/>
              </a:rPr>
              <a:t>*SampleRTT</a:t>
            </a:r>
          </a:p>
        </p:txBody>
      </p:sp>
      <p:sp>
        <p:nvSpPr>
          <p:cNvPr id="43" name="Rectangle 4">
            <a:extLst>
              <a:ext uri="{FF2B5EF4-FFF2-40B4-BE49-F238E27FC236}">
                <a16:creationId xmlns:a16="http://schemas.microsoft.com/office/drawing/2014/main" id="{20951746-2EC7-8C10-FDC3-9FF7F5FC9142}"/>
              </a:ext>
            </a:extLst>
          </p:cNvPr>
          <p:cNvSpPr>
            <a:spLocks noChangeArrowheads="1"/>
          </p:cNvSpPr>
          <p:nvPr/>
        </p:nvSpPr>
        <p:spPr bwMode="auto">
          <a:xfrm>
            <a:off x="2089419" y="5476641"/>
            <a:ext cx="8013162" cy="142449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0" fontAlgn="base" latinLnBrk="0" hangingPunct="0">
              <a:lnSpc>
                <a:spcPct val="85000"/>
              </a:lnSpc>
              <a:spcBef>
                <a:spcPct val="20000"/>
              </a:spcBef>
              <a:spcAft>
                <a:spcPct val="0"/>
              </a:spcAft>
              <a:buSzPct val="100000"/>
              <a:buFont typeface="Arial" panose="020B0604020202020204" pitchFamily="34" charset="0"/>
              <a:buChar char="•"/>
              <a:tabLst/>
              <a:defRPr/>
            </a:pP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E</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xponential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w</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eighted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m</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oving </a:t>
            </a:r>
            <a:r>
              <a:rPr kumimoji="0" lang="en-US" sz="2400" b="0" i="0" u="sng" strike="noStrike" kern="1200" cap="none" spc="0" normalizeH="0" baseline="0" noProof="0" dirty="0">
                <a:ln>
                  <a:noFill/>
                </a:ln>
                <a:solidFill>
                  <a:srgbClr val="000000"/>
                </a:solidFill>
                <a:effectLst/>
                <a:uLnTx/>
                <a:uFillTx/>
                <a:latin typeface="Calibri" panose="020F0502020204030204"/>
                <a:ea typeface="ＭＳ Ｐゴシック" charset="0"/>
                <a:cs typeface="+mn-cs"/>
              </a:rPr>
              <a:t>a</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verage (EWMA)</a:t>
            </a:r>
          </a:p>
          <a:p>
            <a:pPr marL="342900" marR="0" lvl="0" indent="-342900" algn="l" defTabSz="914400" rtl="0" eaLnBrk="0" fontAlgn="base" latinLnBrk="0" hangingPunct="0">
              <a:lnSpc>
                <a:spcPct val="85000"/>
              </a:lnSpc>
              <a:spcBef>
                <a:spcPct val="20000"/>
              </a:spcBef>
              <a:spcAft>
                <a:spcPct val="0"/>
              </a:spcAft>
              <a:buSzPct val="100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Influence of past sample decreases exponentially fast</a:t>
            </a:r>
          </a:p>
          <a:p>
            <a:pPr marL="342900" marR="0" lvl="0" indent="-342900" algn="l" defTabSz="914400" rtl="0" eaLnBrk="0" fontAlgn="base" latinLnBrk="0" hangingPunct="0">
              <a:lnSpc>
                <a:spcPct val="85000"/>
              </a:lnSpc>
              <a:spcBef>
                <a:spcPct val="20000"/>
              </a:spcBef>
              <a:spcAft>
                <a:spcPct val="0"/>
              </a:spcAft>
              <a:buSzPct val="100000"/>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Typical value: </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 </a:t>
            </a:r>
            <a:r>
              <a:rPr kumimoji="0" lang="en-US" sz="2400" b="1"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sym typeface="Symbol" charset="0"/>
              </a:rPr>
              <a:t>=</a:t>
            </a:r>
            <a:r>
              <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charset="0"/>
                <a:cs typeface="+mn-cs"/>
              </a:rPr>
              <a:t> 0.125</a:t>
            </a:r>
          </a:p>
        </p:txBody>
      </p:sp>
    </p:spTree>
    <p:extLst>
      <p:ext uri="{BB962C8B-B14F-4D97-AF65-F5344CB8AC3E}">
        <p14:creationId xmlns:p14="http://schemas.microsoft.com/office/powerpoint/2010/main" val="210540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dissolve">
                                      <p:cBhvr>
                                        <p:cTn id="7" dur="5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dissolve">
                                      <p:cBhvr>
                                        <p:cTn id="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399345" y="212915"/>
            <a:ext cx="11393310" cy="894622"/>
          </a:xfrm>
        </p:spPr>
        <p:txBody>
          <a:bodyPr>
            <a:normAutofit/>
          </a:bodyPr>
          <a:lstStyle/>
          <a:p>
            <a:r>
              <a:rPr lang="en-US" sz="4800" dirty="0"/>
              <a:t>TCP timeout and round trip time (RTT)</a:t>
            </a:r>
            <a:endParaRPr lang="en-US" sz="4400" b="0" dirty="0"/>
          </a:p>
        </p:txBody>
      </p:sp>
      <p:sp>
        <p:nvSpPr>
          <p:cNvPr id="59" name="Rectangle 5">
            <a:extLst>
              <a:ext uri="{FF2B5EF4-FFF2-40B4-BE49-F238E27FC236}">
                <a16:creationId xmlns:a16="http://schemas.microsoft.com/office/drawing/2014/main" id="{818E497C-5ADD-8648-BF4A-762A1B89120F}"/>
              </a:ext>
            </a:extLst>
          </p:cNvPr>
          <p:cNvSpPr txBox="1">
            <a:spLocks noChangeArrowheads="1"/>
          </p:cNvSpPr>
          <p:nvPr/>
        </p:nvSpPr>
        <p:spPr>
          <a:xfrm>
            <a:off x="635138" y="1537841"/>
            <a:ext cx="11327678" cy="11291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altLang="en-US" dirty="0">
                <a:solidFill>
                  <a:prstClr val="black"/>
                </a:solidFill>
                <a:latin typeface="Calibri" panose="020F0502020204030204"/>
                <a:ea typeface="ＭＳ Ｐゴシック" panose="020B0600070205080204" pitchFamily="34" charset="-128"/>
              </a:rPr>
              <a:t>T</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imeout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interval:</a:t>
            </a:r>
            <a:r>
              <a:rPr kumimoji="0" lang="en-US" altLang="en-US" sz="2800" b="1"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plus “</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safety margin”</a:t>
            </a:r>
          </a:p>
          <a:p>
            <a:pPr marR="0" lvl="1" algn="l" defTabSz="914400" rtl="0" eaLnBrk="1" fontAlgn="auto" latinLnBrk="0" hangingPunct="1">
              <a:lnSpc>
                <a:spcPct val="90000"/>
              </a:lnSpc>
              <a:spcBef>
                <a:spcPts val="1000"/>
              </a:spcBef>
              <a:spcAft>
                <a:spcPts val="0"/>
              </a:spcAft>
              <a:buClrTx/>
              <a:buSzTx/>
              <a:tabLst/>
              <a:defRPr/>
            </a:pPr>
            <a:r>
              <a:rPr lang="en-US" altLang="en-US" sz="2800" dirty="0">
                <a:solidFill>
                  <a:prstClr val="black"/>
                </a:solidFill>
                <a:latin typeface="Calibri" panose="020F0502020204030204"/>
                <a:ea typeface="ＭＳ Ｐゴシック" panose="020B0600070205080204" pitchFamily="34" charset="-128"/>
              </a:rPr>
              <a:t>L</a:t>
            </a:r>
            <a:r>
              <a:rPr kumimoji="0" lang="en-US" altLang="en-US" sz="2800" b="0" i="0" u="none" strike="noStrike" kern="1200" cap="none" spc="0" normalizeH="0" baseline="0" noProof="0" dirty="0" err="1">
                <a:ln>
                  <a:noFill/>
                </a:ln>
                <a:solidFill>
                  <a:prstClr val="black"/>
                </a:solidFill>
                <a:effectLst/>
                <a:uLnTx/>
                <a:uFillTx/>
                <a:latin typeface="Calibri" panose="020F0502020204030204"/>
                <a:ea typeface="ＭＳ Ｐゴシック" panose="020B0600070205080204" pitchFamily="34" charset="-128"/>
                <a:cs typeface="+mn-cs"/>
              </a:rPr>
              <a:t>arge</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variation in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want a larger safety margin</a:t>
            </a:r>
          </a:p>
        </p:txBody>
      </p:sp>
      <p:grpSp>
        <p:nvGrpSpPr>
          <p:cNvPr id="5" name="Group 4">
            <a:extLst>
              <a:ext uri="{FF2B5EF4-FFF2-40B4-BE49-F238E27FC236}">
                <a16:creationId xmlns:a16="http://schemas.microsoft.com/office/drawing/2014/main" id="{98DFD149-D3B6-7049-8FD3-A4E0D481C064}"/>
              </a:ext>
            </a:extLst>
          </p:cNvPr>
          <p:cNvGrpSpPr/>
          <p:nvPr/>
        </p:nvGrpSpPr>
        <p:grpSpPr>
          <a:xfrm>
            <a:off x="1061454" y="2679700"/>
            <a:ext cx="9671649" cy="1193800"/>
            <a:chOff x="858254" y="2667000"/>
            <a:chExt cx="9671649" cy="1193800"/>
          </a:xfrm>
        </p:grpSpPr>
        <p:sp>
          <p:nvSpPr>
            <p:cNvPr id="70" name="Rectangle 69">
              <a:extLst>
                <a:ext uri="{FF2B5EF4-FFF2-40B4-BE49-F238E27FC236}">
                  <a16:creationId xmlns:a16="http://schemas.microsoft.com/office/drawing/2014/main" id="{6D78BD41-D638-4D4B-B561-317912C0037E}"/>
                </a:ext>
              </a:extLst>
            </p:cNvPr>
            <p:cNvSpPr/>
            <p:nvPr/>
          </p:nvSpPr>
          <p:spPr>
            <a:xfrm>
              <a:off x="858254" y="2667000"/>
              <a:ext cx="9671649" cy="46166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2" name="Rectangle 13">
              <a:extLst>
                <a:ext uri="{FF2B5EF4-FFF2-40B4-BE49-F238E27FC236}">
                  <a16:creationId xmlns:a16="http://schemas.microsoft.com/office/drawing/2014/main" id="{13338CC9-61FA-4847-87D5-4B4830DB87F4}"/>
                </a:ext>
              </a:extLst>
            </p:cNvPr>
            <p:cNvSpPr>
              <a:spLocks noChangeArrowheads="1"/>
            </p:cNvSpPr>
            <p:nvPr/>
          </p:nvSpPr>
          <p:spPr bwMode="auto">
            <a:xfrm>
              <a:off x="859979" y="2701243"/>
              <a:ext cx="7876636" cy="6921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marR="0" lvl="0" indent="-34290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TimeoutInterval = EstimatedRTT + 4*</a:t>
              </a:r>
              <a:r>
                <a:rPr kumimoji="0" lang="en-US" sz="2400" b="1" i="0" u="none" strike="noStrike" kern="1200" cap="none" spc="0" normalizeH="0" baseline="0" noProof="0" dirty="0" err="1">
                  <a:ln>
                    <a:noFill/>
                  </a:ln>
                  <a:solidFill>
                    <a:prstClr val="black"/>
                  </a:solidFill>
                  <a:effectLst/>
                  <a:uLnTx/>
                  <a:uFillTx/>
                  <a:latin typeface="Courier New" charset="0"/>
                  <a:ea typeface="ＭＳ Ｐゴシック" charset="0"/>
                  <a:cs typeface="+mn-cs"/>
                </a:rPr>
                <a:t>DevRTT</a:t>
              </a:r>
              <a:endPar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endParaRPr>
            </a:p>
          </p:txBody>
        </p:sp>
        <p:sp>
          <p:nvSpPr>
            <p:cNvPr id="63" name="Text Box 14">
              <a:extLst>
                <a:ext uri="{FF2B5EF4-FFF2-40B4-BE49-F238E27FC236}">
                  <a16:creationId xmlns:a16="http://schemas.microsoft.com/office/drawing/2014/main" id="{29ECD817-A810-F04B-85CA-8D6E49B8D6DC}"/>
                </a:ext>
              </a:extLst>
            </p:cNvPr>
            <p:cNvSpPr txBox="1">
              <a:spLocks noChangeArrowheads="1"/>
            </p:cNvSpPr>
            <p:nvPr/>
          </p:nvSpPr>
          <p:spPr bwMode="auto">
            <a:xfrm>
              <a:off x="4304854" y="3442606"/>
              <a:ext cx="1811338"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99"/>
                  </a:solidFill>
                  <a:effectLst/>
                  <a:uLnTx/>
                  <a:uFillTx/>
                  <a:latin typeface="Tahoma" charset="0"/>
                  <a:ea typeface="ＭＳ Ｐゴシック" charset="0"/>
                  <a:cs typeface="+mn-cs"/>
                </a:rPr>
                <a:t>estimated RTT</a:t>
              </a:r>
            </a:p>
          </p:txBody>
        </p:sp>
        <p:sp>
          <p:nvSpPr>
            <p:cNvPr id="64" name="Text Box 16">
              <a:extLst>
                <a:ext uri="{FF2B5EF4-FFF2-40B4-BE49-F238E27FC236}">
                  <a16:creationId xmlns:a16="http://schemas.microsoft.com/office/drawing/2014/main" id="{B6E79AC7-559E-CA4D-B400-169E15D6448A}"/>
                </a:ext>
              </a:extLst>
            </p:cNvPr>
            <p:cNvSpPr txBox="1">
              <a:spLocks noChangeArrowheads="1"/>
            </p:cNvSpPr>
            <p:nvPr/>
          </p:nvSpPr>
          <p:spPr bwMode="auto">
            <a:xfrm>
              <a:off x="6736904" y="3461656"/>
              <a:ext cx="1917700"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r>
                <a:rPr kumimoji="0" lang="en-US" altLang="ja-JP"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rPr>
                <a:t>safety margin</a:t>
              </a:r>
              <a:r>
                <a:rPr kumimoji="0" lang="ja-JP" altLang="en-US" sz="2000" b="0" i="0" u="none" strike="noStrike" kern="1200" cap="none" spc="0" normalizeH="0" baseline="0" noProof="0">
                  <a:ln>
                    <a:noFill/>
                  </a:ln>
                  <a:solidFill>
                    <a:srgbClr val="000099"/>
                  </a:solidFill>
                  <a:effectLst/>
                  <a:uLnTx/>
                  <a:uFillTx/>
                  <a:latin typeface="Tahoma" panose="020B0604030504040204" pitchFamily="34" charset="0"/>
                  <a:ea typeface="ＭＳ Ｐゴシック" panose="020B0600070205080204" pitchFamily="34" charset="-128"/>
                  <a:cs typeface="+mn-cs"/>
                </a:rPr>
                <a:t>”</a:t>
              </a:r>
              <a:endParaRPr kumimoji="0" lang="en-US" altLang="en-US" sz="2000" b="0" i="0" u="none" strike="noStrike" kern="1200" cap="none" spc="0" normalizeH="0" baseline="0" noProof="0" dirty="0">
                <a:ln>
                  <a:noFill/>
                </a:ln>
                <a:solidFill>
                  <a:srgbClr val="000099"/>
                </a:solidFill>
                <a:effectLst/>
                <a:uLnTx/>
                <a:uFillTx/>
                <a:latin typeface="Tahoma" panose="020B0604030504040204" pitchFamily="34" charset="0"/>
                <a:ea typeface="ＭＳ Ｐゴシック" panose="020B0600070205080204" pitchFamily="34" charset="-128"/>
                <a:cs typeface="+mn-cs"/>
              </a:endParaRPr>
            </a:p>
          </p:txBody>
        </p:sp>
        <p:sp>
          <p:nvSpPr>
            <p:cNvPr id="65" name="Line 17">
              <a:extLst>
                <a:ext uri="{FF2B5EF4-FFF2-40B4-BE49-F238E27FC236}">
                  <a16:creationId xmlns:a16="http://schemas.microsoft.com/office/drawing/2014/main" id="{FF049043-4FEA-C546-ADC2-E314E7D23CA5}"/>
                </a:ext>
              </a:extLst>
            </p:cNvPr>
            <p:cNvSpPr>
              <a:spLocks noChangeShapeType="1"/>
            </p:cNvSpPr>
            <p:nvPr/>
          </p:nvSpPr>
          <p:spPr bwMode="auto">
            <a:xfrm flipV="1">
              <a:off x="5101779" y="3082243"/>
              <a:ext cx="0" cy="44608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66" name="Line 19">
              <a:extLst>
                <a:ext uri="{FF2B5EF4-FFF2-40B4-BE49-F238E27FC236}">
                  <a16:creationId xmlns:a16="http://schemas.microsoft.com/office/drawing/2014/main" id="{F55903EC-FD0A-654A-913F-52F13FFBE690}"/>
                </a:ext>
              </a:extLst>
            </p:cNvPr>
            <p:cNvSpPr>
              <a:spLocks noChangeShapeType="1"/>
            </p:cNvSpPr>
            <p:nvPr/>
          </p:nvSpPr>
          <p:spPr bwMode="auto">
            <a:xfrm flipV="1">
              <a:off x="7673529" y="3088593"/>
              <a:ext cx="0" cy="446088"/>
            </a:xfrm>
            <a:prstGeom prst="line">
              <a:avLst/>
            </a:prstGeom>
            <a:noFill/>
            <a:ln w="19050">
              <a:solidFill>
                <a:srgbClr val="000099"/>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pic>
          <p:nvPicPr>
            <p:cNvPr id="67" name="Picture 20" descr="alarm_clock_ringing">
              <a:extLst>
                <a:ext uri="{FF2B5EF4-FFF2-40B4-BE49-F238E27FC236}">
                  <a16:creationId xmlns:a16="http://schemas.microsoft.com/office/drawing/2014/main" id="{DF906935-706B-2B43-B876-CAD3FE51C7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5043" y="3238052"/>
              <a:ext cx="646558" cy="622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8" name="TextBox 1">
            <a:extLst>
              <a:ext uri="{FF2B5EF4-FFF2-40B4-BE49-F238E27FC236}">
                <a16:creationId xmlns:a16="http://schemas.microsoft.com/office/drawing/2014/main" id="{04CEDEED-587A-DF46-A338-0F70AC9A28A9}"/>
              </a:ext>
            </a:extLst>
          </p:cNvPr>
          <p:cNvSpPr txBox="1">
            <a:spLocks noChangeArrowheads="1"/>
          </p:cNvSpPr>
          <p:nvPr/>
        </p:nvSpPr>
        <p:spPr bwMode="auto">
          <a:xfrm>
            <a:off x="876299" y="6343507"/>
            <a:ext cx="1062028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600">
                <a:solidFill>
                  <a:schemeClr val="tx1"/>
                </a:solidFill>
                <a:latin typeface="Tahoma" panose="020B0604030504040204" pitchFamily="34" charset="0"/>
                <a:ea typeface="ＭＳ Ｐゴシック" panose="020B0600070205080204" pitchFamily="34" charset="-128"/>
              </a:defRPr>
            </a:lvl1pPr>
            <a:lvl2pPr marL="742950" indent="-285750">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Check out the online interactive exercises for more examples: </a:t>
            </a: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hlinkClick r:id="rId4"/>
              </a:rPr>
              <a:t>http://gaia.cs.umass.edu/kurose_ross/interactive/TCP_RTT.php</a:t>
            </a:r>
            <a:r>
              <a:rPr kumimoji="0" lang="en-US" altLang="en-US" sz="14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rPr>
              <a:t> </a:t>
            </a:r>
            <a:endParaRPr kumimoji="0" lang="en-US" altLang="en-US" sz="1200" b="0" i="0" u="none" strike="noStrike" kern="1200" cap="none" spc="0" normalizeH="0" baseline="0" noProof="0" dirty="0">
              <a:ln>
                <a:noFill/>
              </a:ln>
              <a:solidFill>
                <a:prstClr val="black"/>
              </a:solidFill>
              <a:effectLst/>
              <a:uLnTx/>
              <a:uFillTx/>
              <a:latin typeface="Arial" panose="020B0604020202020204" pitchFamily="34" charset="0"/>
              <a:ea typeface="ＭＳ Ｐゴシック" panose="020B0600070205080204" pitchFamily="34" charset="-128"/>
              <a:cs typeface="+mn-cs"/>
            </a:endParaRPr>
          </a:p>
        </p:txBody>
      </p:sp>
      <p:grpSp>
        <p:nvGrpSpPr>
          <p:cNvPr id="4" name="Group 3">
            <a:extLst>
              <a:ext uri="{FF2B5EF4-FFF2-40B4-BE49-F238E27FC236}">
                <a16:creationId xmlns:a16="http://schemas.microsoft.com/office/drawing/2014/main" id="{32E77073-7604-A04F-8597-12BF5941CCE7}"/>
              </a:ext>
            </a:extLst>
          </p:cNvPr>
          <p:cNvGrpSpPr/>
          <p:nvPr/>
        </p:nvGrpSpPr>
        <p:grpSpPr>
          <a:xfrm>
            <a:off x="1304479" y="4827690"/>
            <a:ext cx="10446405" cy="940044"/>
            <a:chOff x="1837879" y="3151290"/>
            <a:chExt cx="10446405" cy="940044"/>
          </a:xfrm>
        </p:grpSpPr>
        <p:sp>
          <p:nvSpPr>
            <p:cNvPr id="69" name="Rectangle 68">
              <a:extLst>
                <a:ext uri="{FF2B5EF4-FFF2-40B4-BE49-F238E27FC236}">
                  <a16:creationId xmlns:a16="http://schemas.microsoft.com/office/drawing/2014/main" id="{6D88E7C6-ABA1-FA45-A2D5-10F964EB5DB8}"/>
                </a:ext>
              </a:extLst>
            </p:cNvPr>
            <p:cNvSpPr/>
            <p:nvPr/>
          </p:nvSpPr>
          <p:spPr>
            <a:xfrm>
              <a:off x="1837879" y="3151290"/>
              <a:ext cx="9532486" cy="52228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Text Box 7">
              <a:extLst>
                <a:ext uri="{FF2B5EF4-FFF2-40B4-BE49-F238E27FC236}">
                  <a16:creationId xmlns:a16="http://schemas.microsoft.com/office/drawing/2014/main" id="{2F6AE672-95B4-DF44-B435-567781B49E2D}"/>
                </a:ext>
              </a:extLst>
            </p:cNvPr>
            <p:cNvSpPr txBox="1">
              <a:spLocks noChangeArrowheads="1"/>
            </p:cNvSpPr>
            <p:nvPr/>
          </p:nvSpPr>
          <p:spPr bwMode="auto">
            <a:xfrm>
              <a:off x="1837879" y="3151831"/>
              <a:ext cx="10018644" cy="461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urier" pitchFamily="2"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(1-</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)*DevRTT + </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400" b="1" i="0" u="none" strike="noStrike" kern="1200" cap="none" spc="0" normalizeH="0" baseline="0" noProof="0" dirty="0">
                  <a:ln>
                    <a:noFill/>
                  </a:ln>
                  <a:solidFill>
                    <a:prstClr val="black"/>
                  </a:solidFill>
                  <a:effectLst/>
                  <a:uLnTx/>
                  <a:uFillTx/>
                  <a:latin typeface="Courier New" charset="0"/>
                  <a:ea typeface="ＭＳ Ｐゴシック" charset="0"/>
                  <a:cs typeface="+mn-cs"/>
                </a:rPr>
                <a:t>*|SampleRTT-EstimatedRTT|</a:t>
              </a:r>
            </a:p>
          </p:txBody>
        </p:sp>
        <p:sp>
          <p:nvSpPr>
            <p:cNvPr id="61" name="Text Box 12">
              <a:extLst>
                <a:ext uri="{FF2B5EF4-FFF2-40B4-BE49-F238E27FC236}">
                  <a16:creationId xmlns:a16="http://schemas.microsoft.com/office/drawing/2014/main" id="{D33A459F-5B30-B942-A281-437341BBF16B}"/>
                </a:ext>
              </a:extLst>
            </p:cNvPr>
            <p:cNvSpPr txBox="1">
              <a:spLocks noChangeArrowheads="1"/>
            </p:cNvSpPr>
            <p:nvPr/>
          </p:nvSpPr>
          <p:spPr bwMode="auto">
            <a:xfrm>
              <a:off x="8898147" y="3694459"/>
              <a:ext cx="3386137" cy="39687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rPr>
                <a:t>(typically, </a:t>
              </a:r>
              <a:r>
                <a:rPr kumimoji="0" lang="en-US" sz="2000" b="0"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a:t>
              </a:r>
              <a:r>
                <a:rPr kumimoji="0" lang="en-US" sz="2000" b="1" i="0" u="none" strike="noStrike" kern="1200" cap="none" spc="0" normalizeH="0" baseline="0" noProof="0" dirty="0">
                  <a:ln>
                    <a:noFill/>
                  </a:ln>
                  <a:solidFill>
                    <a:prstClr val="black"/>
                  </a:solidFill>
                  <a:effectLst/>
                  <a:uLnTx/>
                  <a:uFillTx/>
                  <a:latin typeface="Courier New" charset="0"/>
                  <a:ea typeface="ＭＳ Ｐゴシック" charset="0"/>
                  <a:cs typeface="+mn-cs"/>
                  <a:sym typeface="Symbol" charset="0"/>
                </a:rPr>
                <a:t> </a:t>
              </a:r>
              <a:r>
                <a:rPr kumimoji="0" lang="en-US" sz="2000" b="0" i="0" u="none" strike="noStrike" kern="1200" cap="none" spc="0" normalizeH="0" baseline="0" noProof="0" dirty="0">
                  <a:ln>
                    <a:noFill/>
                  </a:ln>
                  <a:solidFill>
                    <a:prstClr val="black"/>
                  </a:solidFill>
                  <a:effectLst/>
                  <a:uLnTx/>
                  <a:uFillTx/>
                  <a:latin typeface="Calibri" panose="020F0502020204030204"/>
                  <a:ea typeface="ＭＳ Ｐゴシック" charset="0"/>
                  <a:cs typeface="+mn-cs"/>
                  <a:sym typeface="Symbol" charset="0"/>
                </a:rPr>
                <a:t>= 0.25)</a:t>
              </a:r>
            </a:p>
          </p:txBody>
        </p:sp>
      </p:grpSp>
      <p:sp>
        <p:nvSpPr>
          <p:cNvPr id="16" name="Rectangle 5">
            <a:extLst>
              <a:ext uri="{FF2B5EF4-FFF2-40B4-BE49-F238E27FC236}">
                <a16:creationId xmlns:a16="http://schemas.microsoft.com/office/drawing/2014/main" id="{4DBD9BE8-0206-984D-9734-DB015980BF63}"/>
              </a:ext>
            </a:extLst>
          </p:cNvPr>
          <p:cNvSpPr txBox="1">
            <a:spLocks noChangeArrowheads="1"/>
          </p:cNvSpPr>
          <p:nvPr/>
        </p:nvSpPr>
        <p:spPr>
          <a:xfrm>
            <a:off x="660538" y="4192141"/>
            <a:ext cx="11327678" cy="544960"/>
          </a:xfrm>
          <a:prstGeom prst="rect">
            <a:avLst/>
          </a:prstGeom>
        </p:spPr>
        <p:txBody>
          <a:bodyPr vert="horz" lIns="91440" tIns="45720" rIns="91440" bIns="45720" rtlCol="0">
            <a:norm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altLang="en-US" sz="2800" b="1" i="0" u="none" strike="noStrike" kern="1200" cap="none" spc="0" normalizeH="0" baseline="0" noProof="0" dirty="0">
                <a:ln>
                  <a:noFill/>
                </a:ln>
                <a:solidFill>
                  <a:prstClr val="black"/>
                </a:solidFill>
                <a:effectLst/>
                <a:uLnTx/>
                <a:uFillTx/>
                <a:latin typeface="Courier New" panose="02070309020205020404" pitchFamily="49" charset="0"/>
                <a:ea typeface="ＭＳ Ｐゴシック" panose="020B0600070205080204" pitchFamily="34" charset="-128"/>
                <a:cs typeface="Courier New" panose="02070309020205020404" pitchFamily="49" charset="0"/>
              </a:rPr>
              <a:t>DevRTT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EWMA of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SampleRTT </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deviation from </a:t>
            </a:r>
            <a:r>
              <a:rPr kumimoji="0" lang="en-US" altLang="en-US" sz="2800" b="1" i="0" u="none" strike="noStrike" kern="1200" cap="none" spc="0" normalizeH="0" baseline="0" noProof="0" dirty="0">
                <a:ln>
                  <a:noFill/>
                </a:ln>
                <a:solidFill>
                  <a:prstClr val="black"/>
                </a:solidFill>
                <a:effectLst/>
                <a:uLnTx/>
                <a:uFillTx/>
                <a:latin typeface="Courier" pitchFamily="2" charset="0"/>
                <a:ea typeface="ＭＳ Ｐゴシック" panose="020B0600070205080204" pitchFamily="34" charset="-128"/>
                <a:cs typeface="+mn-cs"/>
              </a:rPr>
              <a:t>EstimatedRTT</a:t>
            </a: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a:t>
            </a:r>
          </a:p>
        </p:txBody>
      </p:sp>
      <p:sp>
        <p:nvSpPr>
          <p:cNvPr id="6" name="TextBox 5">
            <a:extLst>
              <a:ext uri="{FF2B5EF4-FFF2-40B4-BE49-F238E27FC236}">
                <a16:creationId xmlns:a16="http://schemas.microsoft.com/office/drawing/2014/main" id="{1A512D5B-339D-DD8A-4892-22A3DCA47647}"/>
              </a:ext>
            </a:extLst>
          </p:cNvPr>
          <p:cNvSpPr txBox="1"/>
          <p:nvPr/>
        </p:nvSpPr>
        <p:spPr>
          <a:xfrm>
            <a:off x="8582236" y="2757590"/>
            <a:ext cx="2369283" cy="369332"/>
          </a:xfrm>
          <a:prstGeom prst="rect">
            <a:avLst/>
          </a:prstGeom>
          <a:noFill/>
        </p:spPr>
        <p:txBody>
          <a:bodyPr wrap="square">
            <a:spAutoFit/>
          </a:bodyPr>
          <a:lstStyle/>
          <a:p>
            <a:r>
              <a:rPr kumimoji="0" lang="en-US" sz="18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r>
              <a:rPr kumimoji="0" lang="en-US" sz="1800" b="1" i="0" u="none" strike="noStrike" kern="1200" cap="none" spc="0" normalizeH="0" baseline="0" noProof="0" dirty="0">
                <a:ln>
                  <a:noFill/>
                </a:ln>
                <a:solidFill>
                  <a:srgbClr val="C00000"/>
                </a:solidFill>
                <a:effectLst/>
                <a:uLnTx/>
                <a:uFillTx/>
                <a:latin typeface="Courier New" charset="0"/>
                <a:ea typeface="ＭＳ Ｐゴシック" charset="0"/>
                <a:cs typeface="+mn-cs"/>
              </a:rPr>
              <a:t>RTT</a:t>
            </a:r>
            <a:r>
              <a:rPr lang="en-US" b="1" dirty="0">
                <a:solidFill>
                  <a:srgbClr val="C00000"/>
                </a:solidFill>
                <a:latin typeface="Courier New" charset="0"/>
                <a:ea typeface="ＭＳ Ｐゴシック" charset="0"/>
              </a:rPr>
              <a:t> deviation</a:t>
            </a:r>
            <a:r>
              <a:rPr kumimoji="0" lang="en-US" sz="1800" b="1" i="0" u="none" strike="noStrike" kern="1200" cap="none" spc="0" normalizeH="0" baseline="0" noProof="0" dirty="0">
                <a:ln>
                  <a:noFill/>
                </a:ln>
                <a:solidFill>
                  <a:prstClr val="black"/>
                </a:solidFill>
                <a:effectLst/>
                <a:uLnTx/>
                <a:uFillTx/>
                <a:latin typeface="Courier New" charset="0"/>
                <a:ea typeface="ＭＳ Ｐゴシック" charset="0"/>
                <a:cs typeface="+mn-cs"/>
              </a:rPr>
              <a:t>)</a:t>
            </a:r>
            <a:endParaRPr lang="en-US" dirty="0"/>
          </a:p>
        </p:txBody>
      </p:sp>
    </p:spTree>
    <p:extLst>
      <p:ext uri="{BB962C8B-B14F-4D97-AF65-F5344CB8AC3E}">
        <p14:creationId xmlns:p14="http://schemas.microsoft.com/office/powerpoint/2010/main" val="309363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dissolv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CEA0-1F67-97E8-1A33-86C7CF016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A444A-32BD-FC4B-B80F-8274F0DA1CAE}"/>
              </a:ext>
            </a:extLst>
          </p:cNvPr>
          <p:cNvSpPr txBox="1">
            <a:spLocks/>
          </p:cNvSpPr>
          <p:nvPr/>
        </p:nvSpPr>
        <p:spPr>
          <a:xfrm>
            <a:off x="546662" y="152400"/>
            <a:ext cx="6551791" cy="165099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6000">
                <a:cs typeface="Calibri" panose="020F0502020204030204" pitchFamily="34" charset="0"/>
              </a:rPr>
              <a:t>Roadmap</a:t>
            </a:r>
            <a:endParaRPr lang="en-US" sz="6000" dirty="0"/>
          </a:p>
        </p:txBody>
      </p:sp>
      <p:sp>
        <p:nvSpPr>
          <p:cNvPr id="3" name="Rectangle 4">
            <a:extLst>
              <a:ext uri="{FF2B5EF4-FFF2-40B4-BE49-F238E27FC236}">
                <a16:creationId xmlns:a16="http://schemas.microsoft.com/office/drawing/2014/main" id="{5DBF90BC-AB5E-CE36-5769-B407B3437784}"/>
              </a:ext>
            </a:extLst>
          </p:cNvPr>
          <p:cNvSpPr txBox="1">
            <a:spLocks noChangeArrowheads="1"/>
          </p:cNvSpPr>
          <p:nvPr/>
        </p:nvSpPr>
        <p:spPr>
          <a:xfrm>
            <a:off x="327703" y="1646990"/>
            <a:ext cx="11536594" cy="497839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Reliable data transmission</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TCP connection setup</a:t>
            </a:r>
          </a:p>
          <a:p>
            <a:pPr marL="403225" indent="-285750">
              <a:spcBef>
                <a:spcPts val="800"/>
              </a:spcBef>
              <a:spcAft>
                <a:spcPts val="600"/>
              </a:spcAft>
              <a:buClr>
                <a:schemeClr val="bg1">
                  <a:lumMod val="85000"/>
                </a:schemeClr>
              </a:buClr>
            </a:pPr>
            <a:r>
              <a:rPr lang="en-US" altLang="en-US" sz="3600" i="1" dirty="0">
                <a:solidFill>
                  <a:schemeClr val="bg1">
                    <a:lumMod val="85000"/>
                  </a:schemeClr>
                </a:solidFill>
                <a:latin typeface="Calibri" panose="020F0502020204030204" pitchFamily="34" charset="0"/>
                <a:cs typeface="Calibri" panose="020F0502020204030204" pitchFamily="34" charset="0"/>
              </a:rPr>
              <a:t>TCP implementation: RTT estimation</a:t>
            </a:r>
          </a:p>
          <a:p>
            <a:pPr marL="403225" indent="-285750">
              <a:spcBef>
                <a:spcPts val="800"/>
              </a:spcBef>
              <a:spcAft>
                <a:spcPts val="600"/>
              </a:spcAft>
              <a:buClr>
                <a:schemeClr val="bg1">
                  <a:lumMod val="85000"/>
                </a:schemeClr>
              </a:buClr>
            </a:pPr>
            <a:r>
              <a:rPr lang="en-US" altLang="en-US" sz="3600" b="1" i="1" dirty="0">
                <a:latin typeface="Calibri" panose="020F0502020204030204" pitchFamily="34" charset="0"/>
                <a:cs typeface="Calibri" panose="020F0502020204030204" pitchFamily="34" charset="0"/>
              </a:rPr>
              <a:t>TCP implementation: Byte notation, segments, sequence numbers &amp; ACK number</a:t>
            </a:r>
          </a:p>
          <a:p>
            <a:pPr marL="117475" indent="0">
              <a:spcBef>
                <a:spcPts val="800"/>
              </a:spcBef>
              <a:spcAft>
                <a:spcPts val="600"/>
              </a:spcAft>
              <a:buClr>
                <a:schemeClr val="bg1">
                  <a:lumMod val="85000"/>
                </a:schemeClr>
              </a:buClr>
              <a:buNone/>
            </a:pPr>
            <a:endParaRPr lang="en-US" altLang="en-US" sz="3600" i="1" dirty="0">
              <a:solidFill>
                <a:schemeClr val="bg1">
                  <a:lumMod val="85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59748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2;p26">
            <a:extLst>
              <a:ext uri="{FF2B5EF4-FFF2-40B4-BE49-F238E27FC236}">
                <a16:creationId xmlns:a16="http://schemas.microsoft.com/office/drawing/2014/main" id="{064FDA47-0DC7-495C-5EC5-CB537968AD9C}"/>
              </a:ext>
            </a:extLst>
          </p:cNvPr>
          <p:cNvSpPr txBox="1">
            <a:spLocks/>
          </p:cNvSpPr>
          <p:nvPr/>
        </p:nvSpPr>
        <p:spPr>
          <a:xfrm>
            <a:off x="702815" y="257452"/>
            <a:ext cx="10786369" cy="719091"/>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t>Notation Change: Bytes vs. Packets</a:t>
            </a:r>
          </a:p>
        </p:txBody>
      </p:sp>
      <p:sp>
        <p:nvSpPr>
          <p:cNvPr id="3" name="Google Shape;253;p26">
            <a:extLst>
              <a:ext uri="{FF2B5EF4-FFF2-40B4-BE49-F238E27FC236}">
                <a16:creationId xmlns:a16="http://schemas.microsoft.com/office/drawing/2014/main" id="{EB9BE14D-BA0C-3BF2-1B67-10394B4FDF77}"/>
              </a:ext>
            </a:extLst>
          </p:cNvPr>
          <p:cNvSpPr txBox="1">
            <a:spLocks/>
          </p:cNvSpPr>
          <p:nvPr/>
        </p:nvSpPr>
        <p:spPr>
          <a:xfrm>
            <a:off x="702815" y="1511909"/>
            <a:ext cx="10786369" cy="4746848"/>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 typeface="Arial" panose="020B0604020202020204" pitchFamily="34" charset="0"/>
              <a:buNone/>
            </a:pPr>
            <a:r>
              <a:rPr lang="en-US" dirty="0"/>
              <a:t>So far, we've used </a:t>
            </a:r>
            <a:r>
              <a:rPr lang="en-US" b="1" i="1" dirty="0"/>
              <a:t>packets</a:t>
            </a:r>
            <a:r>
              <a:rPr lang="en-US" dirty="0"/>
              <a:t> as the primary unit of data:</a:t>
            </a:r>
          </a:p>
          <a:p>
            <a:pPr>
              <a:spcBef>
                <a:spcPts val="600"/>
              </a:spcBef>
            </a:pPr>
            <a:r>
              <a:rPr lang="en-US" dirty="0"/>
              <a:t>Each packet has a number</a:t>
            </a:r>
          </a:p>
          <a:p>
            <a:pPr>
              <a:spcBef>
                <a:spcPts val="600"/>
              </a:spcBef>
            </a:pPr>
            <a:r>
              <a:rPr lang="en-US" dirty="0"/>
              <a:t>Acks reference packet numbers</a:t>
            </a:r>
          </a:p>
          <a:p>
            <a:pPr marL="0" indent="0">
              <a:spcBef>
                <a:spcPts val="600"/>
              </a:spcBef>
              <a:buFont typeface="Arial" panose="020B0604020202020204" pitchFamily="34" charset="0"/>
              <a:buNone/>
            </a:pPr>
            <a:endParaRPr lang="en-US" dirty="0"/>
          </a:p>
          <a:p>
            <a:pPr marL="0" indent="0">
              <a:spcBef>
                <a:spcPts val="600"/>
              </a:spcBef>
              <a:buFont typeface="Arial" panose="020B0604020202020204" pitchFamily="34" charset="0"/>
              <a:buNone/>
            </a:pPr>
            <a:r>
              <a:rPr lang="en-US" dirty="0"/>
              <a:t>TCP is implemented with </a:t>
            </a:r>
            <a:r>
              <a:rPr lang="en-US" b="1" i="1" dirty="0">
                <a:solidFill>
                  <a:srgbClr val="C00000"/>
                </a:solidFill>
              </a:rPr>
              <a:t>bytes</a:t>
            </a:r>
            <a:r>
              <a:rPr lang="en-US" dirty="0"/>
              <a:t> as the primary unit of data</a:t>
            </a:r>
          </a:p>
          <a:p>
            <a:pPr>
              <a:spcBef>
                <a:spcPts val="600"/>
              </a:spcBef>
            </a:pPr>
            <a:r>
              <a:rPr lang="en-US" dirty="0"/>
              <a:t>Each byte has a number </a:t>
            </a:r>
            <a:r>
              <a:rPr lang="en-US" dirty="0">
                <a:sym typeface="Wingdings" panose="05000000000000000000" pitchFamily="2" charset="2"/>
              </a:rPr>
              <a:t> </a:t>
            </a:r>
            <a:r>
              <a:rPr lang="en-US" dirty="0"/>
              <a:t>Packets (number) are defined by the number of the </a:t>
            </a:r>
            <a:r>
              <a:rPr lang="en-US" dirty="0">
                <a:solidFill>
                  <a:srgbClr val="C00000"/>
                </a:solidFill>
              </a:rPr>
              <a:t>first byte </a:t>
            </a:r>
            <a:r>
              <a:rPr lang="en-US" dirty="0"/>
              <a:t>inside</a:t>
            </a:r>
          </a:p>
          <a:p>
            <a:pPr>
              <a:spcBef>
                <a:spcPts val="600"/>
              </a:spcBef>
            </a:pPr>
            <a:r>
              <a:rPr lang="en-US" dirty="0"/>
              <a:t>ACKs reference byte numbers</a:t>
            </a:r>
          </a:p>
          <a:p>
            <a:pPr marL="0" indent="0">
              <a:spcBef>
                <a:spcPts val="600"/>
              </a:spcBef>
              <a:buFont typeface="Arial" panose="020B0604020202020204" pitchFamily="34" charset="0"/>
              <a:buNone/>
            </a:pPr>
            <a:endParaRPr lang="en-US" dirty="0"/>
          </a:p>
          <a:p>
            <a:pPr marL="0" indent="0">
              <a:spcBef>
                <a:spcPts val="600"/>
              </a:spcBef>
              <a:buFont typeface="Arial" panose="020B0604020202020204" pitchFamily="34" charset="0"/>
              <a:buNone/>
            </a:pPr>
            <a:r>
              <a:rPr lang="en-US" dirty="0"/>
              <a:t>You should be prepared to reason in terms of either.</a:t>
            </a:r>
          </a:p>
        </p:txBody>
      </p:sp>
    </p:spTree>
    <p:extLst>
      <p:ext uri="{BB962C8B-B14F-4D97-AF65-F5344CB8AC3E}">
        <p14:creationId xmlns:p14="http://schemas.microsoft.com/office/powerpoint/2010/main" val="3442389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58;p27">
            <a:extLst>
              <a:ext uri="{FF2B5EF4-FFF2-40B4-BE49-F238E27FC236}">
                <a16:creationId xmlns:a16="http://schemas.microsoft.com/office/drawing/2014/main" id="{BB448736-E34A-6771-F51D-410C85D9FA5C}"/>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a:t>TCP Segments</a:t>
            </a:r>
            <a:endParaRPr lang="en-US" dirty="0"/>
          </a:p>
        </p:txBody>
      </p:sp>
      <p:sp>
        <p:nvSpPr>
          <p:cNvPr id="3" name="Google Shape;259;p27">
            <a:extLst>
              <a:ext uri="{FF2B5EF4-FFF2-40B4-BE49-F238E27FC236}">
                <a16:creationId xmlns:a16="http://schemas.microsoft.com/office/drawing/2014/main" id="{A11E1D0F-7BC7-1016-914A-E6A934A9A17C}"/>
              </a:ext>
            </a:extLst>
          </p:cNvPr>
          <p:cNvSpPr txBox="1">
            <a:spLocks/>
          </p:cNvSpPr>
          <p:nvPr/>
        </p:nvSpPr>
        <p:spPr>
          <a:xfrm>
            <a:off x="1641150" y="825623"/>
            <a:ext cx="8909700" cy="10260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Font typeface="Arial" panose="020B0604020202020204" pitchFamily="34" charset="0"/>
              <a:buNone/>
            </a:pPr>
            <a:r>
              <a:rPr lang="en-US" dirty="0"/>
              <a:t>TCP provides a reliable, in-order </a:t>
            </a:r>
            <a:r>
              <a:rPr lang="en-US" dirty="0">
                <a:solidFill>
                  <a:srgbClr val="C00000"/>
                </a:solidFill>
              </a:rPr>
              <a:t>bytestream</a:t>
            </a:r>
          </a:p>
          <a:p>
            <a:pPr marL="0" indent="0">
              <a:spcBef>
                <a:spcPts val="600"/>
              </a:spcBef>
              <a:buFont typeface="Arial" panose="020B0604020202020204" pitchFamily="34" charset="0"/>
              <a:buNone/>
            </a:pPr>
            <a:r>
              <a:rPr lang="en-US" dirty="0"/>
              <a:t>We have to split this bytestream into packets</a:t>
            </a:r>
          </a:p>
        </p:txBody>
      </p:sp>
      <p:grpSp>
        <p:nvGrpSpPr>
          <p:cNvPr id="85" name="Group 84">
            <a:extLst>
              <a:ext uri="{FF2B5EF4-FFF2-40B4-BE49-F238E27FC236}">
                <a16:creationId xmlns:a16="http://schemas.microsoft.com/office/drawing/2014/main" id="{402A628D-84EB-B042-741D-DBB19C9E12A5}"/>
              </a:ext>
            </a:extLst>
          </p:cNvPr>
          <p:cNvGrpSpPr/>
          <p:nvPr/>
        </p:nvGrpSpPr>
        <p:grpSpPr>
          <a:xfrm>
            <a:off x="1135352" y="1963482"/>
            <a:ext cx="10698480" cy="4846320"/>
            <a:chOff x="2008611" y="2294343"/>
            <a:chExt cx="6615000" cy="3510000"/>
          </a:xfrm>
        </p:grpSpPr>
        <p:sp>
          <p:nvSpPr>
            <p:cNvPr id="4" name="Google Shape;260;p27">
              <a:extLst>
                <a:ext uri="{FF2B5EF4-FFF2-40B4-BE49-F238E27FC236}">
                  <a16:creationId xmlns:a16="http://schemas.microsoft.com/office/drawing/2014/main" id="{392D9F54-1B18-B61D-9633-C9962EE14D52}"/>
                </a:ext>
              </a:extLst>
            </p:cNvPr>
            <p:cNvSpPr/>
            <p:nvPr/>
          </p:nvSpPr>
          <p:spPr>
            <a:xfrm rot="5400000">
              <a:off x="17350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dirty="0">
                  <a:solidFill>
                    <a:srgbClr val="C00000"/>
                  </a:solidFill>
                  <a:latin typeface="Roboto"/>
                  <a:ea typeface="Roboto"/>
                  <a:cs typeface="Roboto"/>
                  <a:sym typeface="Roboto"/>
                </a:rPr>
                <a:t>Byte 1</a:t>
              </a:r>
              <a:endParaRPr sz="1000" b="1" dirty="0">
                <a:solidFill>
                  <a:srgbClr val="C00000"/>
                </a:solidFill>
                <a:latin typeface="Roboto"/>
                <a:ea typeface="Roboto"/>
                <a:cs typeface="Roboto"/>
                <a:sym typeface="Roboto"/>
              </a:endParaRPr>
            </a:p>
          </p:txBody>
        </p:sp>
        <p:sp>
          <p:nvSpPr>
            <p:cNvPr id="5" name="Google Shape;261;p27">
              <a:extLst>
                <a:ext uri="{FF2B5EF4-FFF2-40B4-BE49-F238E27FC236}">
                  <a16:creationId xmlns:a16="http://schemas.microsoft.com/office/drawing/2014/main" id="{69F5C0CA-5BE0-9CFE-5533-CAB07F4214D5}"/>
                </a:ext>
              </a:extLst>
            </p:cNvPr>
            <p:cNvSpPr/>
            <p:nvPr/>
          </p:nvSpPr>
          <p:spPr>
            <a:xfrm rot="5400000">
              <a:off x="19099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6" name="Google Shape;262;p27">
              <a:extLst>
                <a:ext uri="{FF2B5EF4-FFF2-40B4-BE49-F238E27FC236}">
                  <a16:creationId xmlns:a16="http://schemas.microsoft.com/office/drawing/2014/main" id="{DDEE6646-EE13-56E1-F6A9-F7BD1348EA43}"/>
                </a:ext>
              </a:extLst>
            </p:cNvPr>
            <p:cNvSpPr/>
            <p:nvPr/>
          </p:nvSpPr>
          <p:spPr>
            <a:xfrm rot="5400000">
              <a:off x="20848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7" name="Google Shape;263;p27">
              <a:extLst>
                <a:ext uri="{FF2B5EF4-FFF2-40B4-BE49-F238E27FC236}">
                  <a16:creationId xmlns:a16="http://schemas.microsoft.com/office/drawing/2014/main" id="{135E26EC-5EA1-1FAD-F7EB-3B00D9BCC773}"/>
                </a:ext>
              </a:extLst>
            </p:cNvPr>
            <p:cNvSpPr/>
            <p:nvPr/>
          </p:nvSpPr>
          <p:spPr>
            <a:xfrm rot="5400000">
              <a:off x="22597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8" name="Google Shape;264;p27">
              <a:extLst>
                <a:ext uri="{FF2B5EF4-FFF2-40B4-BE49-F238E27FC236}">
                  <a16:creationId xmlns:a16="http://schemas.microsoft.com/office/drawing/2014/main" id="{69C75D64-C9CA-26CC-67C9-EE745B5C45B0}"/>
                </a:ext>
              </a:extLst>
            </p:cNvPr>
            <p:cNvSpPr/>
            <p:nvPr/>
          </p:nvSpPr>
          <p:spPr>
            <a:xfrm rot="5400000">
              <a:off x="24346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 name="Google Shape;265;p27">
              <a:extLst>
                <a:ext uri="{FF2B5EF4-FFF2-40B4-BE49-F238E27FC236}">
                  <a16:creationId xmlns:a16="http://schemas.microsoft.com/office/drawing/2014/main" id="{89E6BB59-E271-4D53-CFBA-4D6C9AFAA703}"/>
                </a:ext>
              </a:extLst>
            </p:cNvPr>
            <p:cNvSpPr/>
            <p:nvPr/>
          </p:nvSpPr>
          <p:spPr>
            <a:xfrm rot="5400000">
              <a:off x="26095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 name="Google Shape;266;p27">
              <a:extLst>
                <a:ext uri="{FF2B5EF4-FFF2-40B4-BE49-F238E27FC236}">
                  <a16:creationId xmlns:a16="http://schemas.microsoft.com/office/drawing/2014/main" id="{EAE7467D-11C9-F9BD-AD42-DCC4AE8E5ECC}"/>
                </a:ext>
              </a:extLst>
            </p:cNvPr>
            <p:cNvSpPr/>
            <p:nvPr/>
          </p:nvSpPr>
          <p:spPr>
            <a:xfrm rot="5400000">
              <a:off x="27844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 name="Google Shape;267;p27">
              <a:extLst>
                <a:ext uri="{FF2B5EF4-FFF2-40B4-BE49-F238E27FC236}">
                  <a16:creationId xmlns:a16="http://schemas.microsoft.com/office/drawing/2014/main" id="{8C023D14-3C56-CB70-D93D-9C5CB9CBEB32}"/>
                </a:ext>
              </a:extLst>
            </p:cNvPr>
            <p:cNvSpPr/>
            <p:nvPr/>
          </p:nvSpPr>
          <p:spPr>
            <a:xfrm rot="5400000">
              <a:off x="29593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12" name="Google Shape;268;p27">
              <a:extLst>
                <a:ext uri="{FF2B5EF4-FFF2-40B4-BE49-F238E27FC236}">
                  <a16:creationId xmlns:a16="http://schemas.microsoft.com/office/drawing/2014/main" id="{95224FA5-DBB7-52D6-460A-2945262CDB67}"/>
                </a:ext>
              </a:extLst>
            </p:cNvPr>
            <p:cNvSpPr/>
            <p:nvPr/>
          </p:nvSpPr>
          <p:spPr>
            <a:xfrm rot="5400000">
              <a:off x="31342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13" name="Google Shape;269;p27">
              <a:extLst>
                <a:ext uri="{FF2B5EF4-FFF2-40B4-BE49-F238E27FC236}">
                  <a16:creationId xmlns:a16="http://schemas.microsoft.com/office/drawing/2014/main" id="{A191E38D-871C-4D80-DC17-F46BC4BB8ADC}"/>
                </a:ext>
              </a:extLst>
            </p:cNvPr>
            <p:cNvSpPr/>
            <p:nvPr/>
          </p:nvSpPr>
          <p:spPr>
            <a:xfrm rot="5400000">
              <a:off x="33091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 name="Google Shape;270;p27">
              <a:extLst>
                <a:ext uri="{FF2B5EF4-FFF2-40B4-BE49-F238E27FC236}">
                  <a16:creationId xmlns:a16="http://schemas.microsoft.com/office/drawing/2014/main" id="{1AAF8B6B-7878-3EEC-41ED-0F2653440C02}"/>
                </a:ext>
              </a:extLst>
            </p:cNvPr>
            <p:cNvSpPr/>
            <p:nvPr/>
          </p:nvSpPr>
          <p:spPr>
            <a:xfrm rot="5400000">
              <a:off x="34840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 name="Google Shape;271;p27">
              <a:extLst>
                <a:ext uri="{FF2B5EF4-FFF2-40B4-BE49-F238E27FC236}">
                  <a16:creationId xmlns:a16="http://schemas.microsoft.com/office/drawing/2014/main" id="{49DE676C-94C4-CE93-3E56-F78F405845F0}"/>
                </a:ext>
              </a:extLst>
            </p:cNvPr>
            <p:cNvSpPr/>
            <p:nvPr/>
          </p:nvSpPr>
          <p:spPr>
            <a:xfrm rot="5400000">
              <a:off x="36589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 name="Google Shape;272;p27">
              <a:extLst>
                <a:ext uri="{FF2B5EF4-FFF2-40B4-BE49-F238E27FC236}">
                  <a16:creationId xmlns:a16="http://schemas.microsoft.com/office/drawing/2014/main" id="{C0302F5F-0746-A57A-17D6-1B850A0E089F}"/>
                </a:ext>
              </a:extLst>
            </p:cNvPr>
            <p:cNvSpPr/>
            <p:nvPr/>
          </p:nvSpPr>
          <p:spPr>
            <a:xfrm rot="5400000">
              <a:off x="38338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 name="Google Shape;273;p27">
              <a:extLst>
                <a:ext uri="{FF2B5EF4-FFF2-40B4-BE49-F238E27FC236}">
                  <a16:creationId xmlns:a16="http://schemas.microsoft.com/office/drawing/2014/main" id="{4B0AF675-28F9-0DBE-1E17-C601C8C79356}"/>
                </a:ext>
              </a:extLst>
            </p:cNvPr>
            <p:cNvSpPr/>
            <p:nvPr/>
          </p:nvSpPr>
          <p:spPr>
            <a:xfrm rot="5400000">
              <a:off x="40087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 name="Google Shape;274;p27">
              <a:extLst>
                <a:ext uri="{FF2B5EF4-FFF2-40B4-BE49-F238E27FC236}">
                  <a16:creationId xmlns:a16="http://schemas.microsoft.com/office/drawing/2014/main" id="{E3E9F948-F94C-9348-2CD0-21741574DF5C}"/>
                </a:ext>
              </a:extLst>
            </p:cNvPr>
            <p:cNvSpPr/>
            <p:nvPr/>
          </p:nvSpPr>
          <p:spPr>
            <a:xfrm rot="5400000">
              <a:off x="41836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9" name="Google Shape;275;p27">
              <a:extLst>
                <a:ext uri="{FF2B5EF4-FFF2-40B4-BE49-F238E27FC236}">
                  <a16:creationId xmlns:a16="http://schemas.microsoft.com/office/drawing/2014/main" id="{E24A780E-F6E2-84EA-E26C-AA696F022F3C}"/>
                </a:ext>
              </a:extLst>
            </p:cNvPr>
            <p:cNvSpPr/>
            <p:nvPr/>
          </p:nvSpPr>
          <p:spPr>
            <a:xfrm rot="5400000">
              <a:off x="43585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0" name="Google Shape;276;p27">
              <a:extLst>
                <a:ext uri="{FF2B5EF4-FFF2-40B4-BE49-F238E27FC236}">
                  <a16:creationId xmlns:a16="http://schemas.microsoft.com/office/drawing/2014/main" id="{ED11755D-794C-9536-3C23-676262C0C3C7}"/>
                </a:ext>
              </a:extLst>
            </p:cNvPr>
            <p:cNvSpPr/>
            <p:nvPr/>
          </p:nvSpPr>
          <p:spPr>
            <a:xfrm rot="5400000">
              <a:off x="45334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1" name="Google Shape;277;p27">
              <a:extLst>
                <a:ext uri="{FF2B5EF4-FFF2-40B4-BE49-F238E27FC236}">
                  <a16:creationId xmlns:a16="http://schemas.microsoft.com/office/drawing/2014/main" id="{0CBB08D4-480C-39E1-F24D-D720DFEBC439}"/>
                </a:ext>
              </a:extLst>
            </p:cNvPr>
            <p:cNvSpPr/>
            <p:nvPr/>
          </p:nvSpPr>
          <p:spPr>
            <a:xfrm rot="5400000">
              <a:off x="47083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2" name="Google Shape;278;p27">
              <a:extLst>
                <a:ext uri="{FF2B5EF4-FFF2-40B4-BE49-F238E27FC236}">
                  <a16:creationId xmlns:a16="http://schemas.microsoft.com/office/drawing/2014/main" id="{64CB568E-5381-F30E-97BA-BBA59580D513}"/>
                </a:ext>
              </a:extLst>
            </p:cNvPr>
            <p:cNvSpPr/>
            <p:nvPr/>
          </p:nvSpPr>
          <p:spPr>
            <a:xfrm rot="5400000">
              <a:off x="48832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3" name="Google Shape;279;p27">
              <a:extLst>
                <a:ext uri="{FF2B5EF4-FFF2-40B4-BE49-F238E27FC236}">
                  <a16:creationId xmlns:a16="http://schemas.microsoft.com/office/drawing/2014/main" id="{A853ED5B-CD00-C52F-3FB6-C6F568F77E97}"/>
                </a:ext>
              </a:extLst>
            </p:cNvPr>
            <p:cNvSpPr/>
            <p:nvPr/>
          </p:nvSpPr>
          <p:spPr>
            <a:xfrm rot="5400000">
              <a:off x="50581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4" name="Google Shape;280;p27">
              <a:extLst>
                <a:ext uri="{FF2B5EF4-FFF2-40B4-BE49-F238E27FC236}">
                  <a16:creationId xmlns:a16="http://schemas.microsoft.com/office/drawing/2014/main" id="{A5FC8E45-197B-EF6E-9BAA-84F781865C1F}"/>
                </a:ext>
              </a:extLst>
            </p:cNvPr>
            <p:cNvSpPr/>
            <p:nvPr/>
          </p:nvSpPr>
          <p:spPr>
            <a:xfrm rot="5400000">
              <a:off x="52330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5" name="Google Shape;281;p27">
              <a:extLst>
                <a:ext uri="{FF2B5EF4-FFF2-40B4-BE49-F238E27FC236}">
                  <a16:creationId xmlns:a16="http://schemas.microsoft.com/office/drawing/2014/main" id="{301C895D-A94C-8B25-3687-DE15860DAC8E}"/>
                </a:ext>
              </a:extLst>
            </p:cNvPr>
            <p:cNvSpPr/>
            <p:nvPr/>
          </p:nvSpPr>
          <p:spPr>
            <a:xfrm rot="5400000">
              <a:off x="54079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6" name="Google Shape;282;p27">
              <a:extLst>
                <a:ext uri="{FF2B5EF4-FFF2-40B4-BE49-F238E27FC236}">
                  <a16:creationId xmlns:a16="http://schemas.microsoft.com/office/drawing/2014/main" id="{887FA774-227D-13B6-CA8F-923D28F71422}"/>
                </a:ext>
              </a:extLst>
            </p:cNvPr>
            <p:cNvSpPr/>
            <p:nvPr/>
          </p:nvSpPr>
          <p:spPr>
            <a:xfrm rot="5400000">
              <a:off x="55828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7" name="Google Shape;283;p27">
              <a:extLst>
                <a:ext uri="{FF2B5EF4-FFF2-40B4-BE49-F238E27FC236}">
                  <a16:creationId xmlns:a16="http://schemas.microsoft.com/office/drawing/2014/main" id="{9EDE0006-0515-74DE-D04C-5AAE00ED26CF}"/>
                </a:ext>
              </a:extLst>
            </p:cNvPr>
            <p:cNvSpPr/>
            <p:nvPr/>
          </p:nvSpPr>
          <p:spPr>
            <a:xfrm rot="5400000">
              <a:off x="57577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 name="Google Shape;284;p27">
              <a:extLst>
                <a:ext uri="{FF2B5EF4-FFF2-40B4-BE49-F238E27FC236}">
                  <a16:creationId xmlns:a16="http://schemas.microsoft.com/office/drawing/2014/main" id="{BF535BF3-82C1-42AE-89FD-8C29409DACCD}"/>
                </a:ext>
              </a:extLst>
            </p:cNvPr>
            <p:cNvSpPr/>
            <p:nvPr/>
          </p:nvSpPr>
          <p:spPr>
            <a:xfrm rot="5400000">
              <a:off x="59326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 name="Google Shape;285;p27">
              <a:extLst>
                <a:ext uri="{FF2B5EF4-FFF2-40B4-BE49-F238E27FC236}">
                  <a16:creationId xmlns:a16="http://schemas.microsoft.com/office/drawing/2014/main" id="{CE658D60-05CE-D1A1-4598-FD61BE7306A8}"/>
                </a:ext>
              </a:extLst>
            </p:cNvPr>
            <p:cNvSpPr/>
            <p:nvPr/>
          </p:nvSpPr>
          <p:spPr>
            <a:xfrm rot="5400000">
              <a:off x="61075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 name="Google Shape;286;p27">
              <a:extLst>
                <a:ext uri="{FF2B5EF4-FFF2-40B4-BE49-F238E27FC236}">
                  <a16:creationId xmlns:a16="http://schemas.microsoft.com/office/drawing/2014/main" id="{CD343119-4078-D488-5E73-BC0CEB0E143C}"/>
                </a:ext>
              </a:extLst>
            </p:cNvPr>
            <p:cNvSpPr/>
            <p:nvPr/>
          </p:nvSpPr>
          <p:spPr>
            <a:xfrm rot="5400000">
              <a:off x="62824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 name="Google Shape;287;p27">
              <a:extLst>
                <a:ext uri="{FF2B5EF4-FFF2-40B4-BE49-F238E27FC236}">
                  <a16:creationId xmlns:a16="http://schemas.microsoft.com/office/drawing/2014/main" id="{D28EBB3D-D7D3-D17F-4155-80551E7FBA05}"/>
                </a:ext>
              </a:extLst>
            </p:cNvPr>
            <p:cNvSpPr/>
            <p:nvPr/>
          </p:nvSpPr>
          <p:spPr>
            <a:xfrm rot="5400000">
              <a:off x="64573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 name="Google Shape;288;p27">
              <a:extLst>
                <a:ext uri="{FF2B5EF4-FFF2-40B4-BE49-F238E27FC236}">
                  <a16:creationId xmlns:a16="http://schemas.microsoft.com/office/drawing/2014/main" id="{22DC8B1D-1983-DE8A-DF99-C591B51423F0}"/>
                </a:ext>
              </a:extLst>
            </p:cNvPr>
            <p:cNvSpPr/>
            <p:nvPr/>
          </p:nvSpPr>
          <p:spPr>
            <a:xfrm rot="5400000">
              <a:off x="66322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 name="Google Shape;289;p27">
              <a:extLst>
                <a:ext uri="{FF2B5EF4-FFF2-40B4-BE49-F238E27FC236}">
                  <a16:creationId xmlns:a16="http://schemas.microsoft.com/office/drawing/2014/main" id="{B0664C35-D31A-FB2B-CD63-C4AAB8C45C74}"/>
                </a:ext>
              </a:extLst>
            </p:cNvPr>
            <p:cNvSpPr/>
            <p:nvPr/>
          </p:nvSpPr>
          <p:spPr>
            <a:xfrm rot="5400000">
              <a:off x="68071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4" name="Google Shape;290;p27">
              <a:extLst>
                <a:ext uri="{FF2B5EF4-FFF2-40B4-BE49-F238E27FC236}">
                  <a16:creationId xmlns:a16="http://schemas.microsoft.com/office/drawing/2014/main" id="{EC71CE27-6DAD-1529-A92A-06892D3C01FD}"/>
                </a:ext>
              </a:extLst>
            </p:cNvPr>
            <p:cNvSpPr/>
            <p:nvPr/>
          </p:nvSpPr>
          <p:spPr>
            <a:xfrm rot="5400000">
              <a:off x="69820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 name="Google Shape;291;p27">
              <a:extLst>
                <a:ext uri="{FF2B5EF4-FFF2-40B4-BE49-F238E27FC236}">
                  <a16:creationId xmlns:a16="http://schemas.microsoft.com/office/drawing/2014/main" id="{BA254016-C915-79BB-2C82-5555E65D1670}"/>
                </a:ext>
              </a:extLst>
            </p:cNvPr>
            <p:cNvSpPr/>
            <p:nvPr/>
          </p:nvSpPr>
          <p:spPr>
            <a:xfrm rot="5400000">
              <a:off x="71569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6" name="Google Shape;292;p27">
              <a:extLst>
                <a:ext uri="{FF2B5EF4-FFF2-40B4-BE49-F238E27FC236}">
                  <a16:creationId xmlns:a16="http://schemas.microsoft.com/office/drawing/2014/main" id="{71883EF6-57EF-FF8D-0AB1-0330C0F02D85}"/>
                </a:ext>
              </a:extLst>
            </p:cNvPr>
            <p:cNvSpPr/>
            <p:nvPr/>
          </p:nvSpPr>
          <p:spPr>
            <a:xfrm rot="5400000">
              <a:off x="7331811" y="28388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 name="Google Shape;293;p27">
              <a:extLst>
                <a:ext uri="{FF2B5EF4-FFF2-40B4-BE49-F238E27FC236}">
                  <a16:creationId xmlns:a16="http://schemas.microsoft.com/office/drawing/2014/main" id="{1D77512E-E925-B8F3-BF45-3E9E1F89777F}"/>
                </a:ext>
              </a:extLst>
            </p:cNvPr>
            <p:cNvSpPr/>
            <p:nvPr/>
          </p:nvSpPr>
          <p:spPr>
            <a:xfrm rot="5400000">
              <a:off x="7506711" y="2838843"/>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 name="Google Shape;294;p27">
              <a:extLst>
                <a:ext uri="{FF2B5EF4-FFF2-40B4-BE49-F238E27FC236}">
                  <a16:creationId xmlns:a16="http://schemas.microsoft.com/office/drawing/2014/main" id="{ED54AA19-E695-763F-893A-12FCB3AC3480}"/>
                </a:ext>
              </a:extLst>
            </p:cNvPr>
            <p:cNvSpPr/>
            <p:nvPr/>
          </p:nvSpPr>
          <p:spPr>
            <a:xfrm rot="5400000">
              <a:off x="7681611" y="2838843"/>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 name="Google Shape;295;p27">
              <a:extLst>
                <a:ext uri="{FF2B5EF4-FFF2-40B4-BE49-F238E27FC236}">
                  <a16:creationId xmlns:a16="http://schemas.microsoft.com/office/drawing/2014/main" id="{177A64C6-8131-3597-AEF9-3E3EFD905A7E}"/>
                </a:ext>
              </a:extLst>
            </p:cNvPr>
            <p:cNvSpPr/>
            <p:nvPr/>
          </p:nvSpPr>
          <p:spPr>
            <a:xfrm rot="5400000">
              <a:off x="7856511" y="2838843"/>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 name="Google Shape;296;p27">
              <a:extLst>
                <a:ext uri="{FF2B5EF4-FFF2-40B4-BE49-F238E27FC236}">
                  <a16:creationId xmlns:a16="http://schemas.microsoft.com/office/drawing/2014/main" id="{26A120DF-AFB6-94DE-7735-6061C7DF10E3}"/>
                </a:ext>
              </a:extLst>
            </p:cNvPr>
            <p:cNvSpPr txBox="1"/>
            <p:nvPr/>
          </p:nvSpPr>
          <p:spPr>
            <a:xfrm>
              <a:off x="2008611" y="2294343"/>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41" name="Google Shape;297;p27">
              <a:extLst>
                <a:ext uri="{FF2B5EF4-FFF2-40B4-BE49-F238E27FC236}">
                  <a16:creationId xmlns:a16="http://schemas.microsoft.com/office/drawing/2014/main" id="{38FBCAF3-8425-DDDE-10BF-F8D1B65678F0}"/>
                </a:ext>
              </a:extLst>
            </p:cNvPr>
            <p:cNvSpPr/>
            <p:nvPr/>
          </p:nvSpPr>
          <p:spPr>
            <a:xfrm rot="5400000">
              <a:off x="20536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42" name="Google Shape;298;p27">
              <a:extLst>
                <a:ext uri="{FF2B5EF4-FFF2-40B4-BE49-F238E27FC236}">
                  <a16:creationId xmlns:a16="http://schemas.microsoft.com/office/drawing/2014/main" id="{A70EB63F-3011-EA27-3E89-28D9517FFB1C}"/>
                </a:ext>
              </a:extLst>
            </p:cNvPr>
            <p:cNvSpPr/>
            <p:nvPr/>
          </p:nvSpPr>
          <p:spPr>
            <a:xfrm rot="5400000">
              <a:off x="22285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43" name="Google Shape;299;p27">
              <a:extLst>
                <a:ext uri="{FF2B5EF4-FFF2-40B4-BE49-F238E27FC236}">
                  <a16:creationId xmlns:a16="http://schemas.microsoft.com/office/drawing/2014/main" id="{51E41990-B8BD-31CB-5C81-1043FEBD59CB}"/>
                </a:ext>
              </a:extLst>
            </p:cNvPr>
            <p:cNvSpPr/>
            <p:nvPr/>
          </p:nvSpPr>
          <p:spPr>
            <a:xfrm rot="5400000">
              <a:off x="24034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44" name="Google Shape;300;p27">
              <a:extLst>
                <a:ext uri="{FF2B5EF4-FFF2-40B4-BE49-F238E27FC236}">
                  <a16:creationId xmlns:a16="http://schemas.microsoft.com/office/drawing/2014/main" id="{FDEC4170-B0A9-8F76-A912-59B399AD28C0}"/>
                </a:ext>
              </a:extLst>
            </p:cNvPr>
            <p:cNvSpPr/>
            <p:nvPr/>
          </p:nvSpPr>
          <p:spPr>
            <a:xfrm rot="5400000">
              <a:off x="25783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45" name="Google Shape;301;p27">
              <a:extLst>
                <a:ext uri="{FF2B5EF4-FFF2-40B4-BE49-F238E27FC236}">
                  <a16:creationId xmlns:a16="http://schemas.microsoft.com/office/drawing/2014/main" id="{EC2BABB7-6DAF-683A-277F-61E4EC6520B1}"/>
                </a:ext>
              </a:extLst>
            </p:cNvPr>
            <p:cNvSpPr/>
            <p:nvPr/>
          </p:nvSpPr>
          <p:spPr>
            <a:xfrm rot="5400000">
              <a:off x="27532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6" name="Google Shape;302;p27">
              <a:extLst>
                <a:ext uri="{FF2B5EF4-FFF2-40B4-BE49-F238E27FC236}">
                  <a16:creationId xmlns:a16="http://schemas.microsoft.com/office/drawing/2014/main" id="{B9D5B6C6-C6FE-DF48-3DC2-27BCA097FEB7}"/>
                </a:ext>
              </a:extLst>
            </p:cNvPr>
            <p:cNvSpPr/>
            <p:nvPr/>
          </p:nvSpPr>
          <p:spPr>
            <a:xfrm rot="5400000">
              <a:off x="29281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 name="Google Shape;303;p27">
              <a:extLst>
                <a:ext uri="{FF2B5EF4-FFF2-40B4-BE49-F238E27FC236}">
                  <a16:creationId xmlns:a16="http://schemas.microsoft.com/office/drawing/2014/main" id="{188CDC39-2B90-1510-347E-1217B9C68B30}"/>
                </a:ext>
              </a:extLst>
            </p:cNvPr>
            <p:cNvSpPr/>
            <p:nvPr/>
          </p:nvSpPr>
          <p:spPr>
            <a:xfrm rot="5400000">
              <a:off x="31030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 name="Google Shape;304;p27">
              <a:extLst>
                <a:ext uri="{FF2B5EF4-FFF2-40B4-BE49-F238E27FC236}">
                  <a16:creationId xmlns:a16="http://schemas.microsoft.com/office/drawing/2014/main" id="{B3275190-1FAC-F907-B932-1F31FAF17509}"/>
                </a:ext>
              </a:extLst>
            </p:cNvPr>
            <p:cNvSpPr/>
            <p:nvPr/>
          </p:nvSpPr>
          <p:spPr>
            <a:xfrm rot="5400000">
              <a:off x="32779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49" name="Google Shape;305;p27">
              <a:extLst>
                <a:ext uri="{FF2B5EF4-FFF2-40B4-BE49-F238E27FC236}">
                  <a16:creationId xmlns:a16="http://schemas.microsoft.com/office/drawing/2014/main" id="{44B85B64-AC77-F73B-172D-988DF9366A8E}"/>
                </a:ext>
              </a:extLst>
            </p:cNvPr>
            <p:cNvSpPr/>
            <p:nvPr/>
          </p:nvSpPr>
          <p:spPr>
            <a:xfrm rot="5400000">
              <a:off x="34528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50" name="Google Shape;306;p27">
              <a:extLst>
                <a:ext uri="{FF2B5EF4-FFF2-40B4-BE49-F238E27FC236}">
                  <a16:creationId xmlns:a16="http://schemas.microsoft.com/office/drawing/2014/main" id="{A72C8A4F-F07B-2FA8-186F-56B5391A25F3}"/>
                </a:ext>
              </a:extLst>
            </p:cNvPr>
            <p:cNvSpPr/>
            <p:nvPr/>
          </p:nvSpPr>
          <p:spPr>
            <a:xfrm rot="5400000">
              <a:off x="36277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 name="Google Shape;307;p27">
              <a:extLst>
                <a:ext uri="{FF2B5EF4-FFF2-40B4-BE49-F238E27FC236}">
                  <a16:creationId xmlns:a16="http://schemas.microsoft.com/office/drawing/2014/main" id="{0C8F1193-6EBA-D685-97E9-0864D75706AD}"/>
                </a:ext>
              </a:extLst>
            </p:cNvPr>
            <p:cNvSpPr/>
            <p:nvPr/>
          </p:nvSpPr>
          <p:spPr>
            <a:xfrm rot="5400000">
              <a:off x="38026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 name="Google Shape;308;p27">
              <a:extLst>
                <a:ext uri="{FF2B5EF4-FFF2-40B4-BE49-F238E27FC236}">
                  <a16:creationId xmlns:a16="http://schemas.microsoft.com/office/drawing/2014/main" id="{18A27EAE-2ACB-A61E-7C47-C3BAA422FEC6}"/>
                </a:ext>
              </a:extLst>
            </p:cNvPr>
            <p:cNvSpPr/>
            <p:nvPr/>
          </p:nvSpPr>
          <p:spPr>
            <a:xfrm rot="5400000">
              <a:off x="39775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 name="Google Shape;309;p27">
              <a:extLst>
                <a:ext uri="{FF2B5EF4-FFF2-40B4-BE49-F238E27FC236}">
                  <a16:creationId xmlns:a16="http://schemas.microsoft.com/office/drawing/2014/main" id="{B05FDC90-FF3F-16E8-4E3A-F0EE17E5620C}"/>
                </a:ext>
              </a:extLst>
            </p:cNvPr>
            <p:cNvSpPr/>
            <p:nvPr/>
          </p:nvSpPr>
          <p:spPr>
            <a:xfrm rot="5400000">
              <a:off x="41524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 name="Google Shape;310;p27">
              <a:extLst>
                <a:ext uri="{FF2B5EF4-FFF2-40B4-BE49-F238E27FC236}">
                  <a16:creationId xmlns:a16="http://schemas.microsoft.com/office/drawing/2014/main" id="{95C34CA9-6B14-76EF-32F9-3842CD39BCB8}"/>
                </a:ext>
              </a:extLst>
            </p:cNvPr>
            <p:cNvSpPr/>
            <p:nvPr/>
          </p:nvSpPr>
          <p:spPr>
            <a:xfrm rot="5400000">
              <a:off x="43273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 name="Google Shape;311;p27">
              <a:extLst>
                <a:ext uri="{FF2B5EF4-FFF2-40B4-BE49-F238E27FC236}">
                  <a16:creationId xmlns:a16="http://schemas.microsoft.com/office/drawing/2014/main" id="{175873AC-D353-268A-B57B-B1CBD14164EB}"/>
                </a:ext>
              </a:extLst>
            </p:cNvPr>
            <p:cNvSpPr/>
            <p:nvPr/>
          </p:nvSpPr>
          <p:spPr>
            <a:xfrm rot="5400000">
              <a:off x="45022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6" name="Google Shape;312;p27">
              <a:extLst>
                <a:ext uri="{FF2B5EF4-FFF2-40B4-BE49-F238E27FC236}">
                  <a16:creationId xmlns:a16="http://schemas.microsoft.com/office/drawing/2014/main" id="{FE81D3C1-A2BE-E491-162A-2AFC0C1D1465}"/>
                </a:ext>
              </a:extLst>
            </p:cNvPr>
            <p:cNvSpPr/>
            <p:nvPr/>
          </p:nvSpPr>
          <p:spPr>
            <a:xfrm rot="5400000">
              <a:off x="46771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 name="Google Shape;313;p27">
              <a:extLst>
                <a:ext uri="{FF2B5EF4-FFF2-40B4-BE49-F238E27FC236}">
                  <a16:creationId xmlns:a16="http://schemas.microsoft.com/office/drawing/2014/main" id="{7281F2DA-BF7C-5189-6AE4-3853ED3448DF}"/>
                </a:ext>
              </a:extLst>
            </p:cNvPr>
            <p:cNvSpPr/>
            <p:nvPr/>
          </p:nvSpPr>
          <p:spPr>
            <a:xfrm rot="5400000">
              <a:off x="48520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 name="Google Shape;314;p27">
              <a:extLst>
                <a:ext uri="{FF2B5EF4-FFF2-40B4-BE49-F238E27FC236}">
                  <a16:creationId xmlns:a16="http://schemas.microsoft.com/office/drawing/2014/main" id="{E794C781-F763-55E0-9078-27E348D82FE6}"/>
                </a:ext>
              </a:extLst>
            </p:cNvPr>
            <p:cNvSpPr/>
            <p:nvPr/>
          </p:nvSpPr>
          <p:spPr>
            <a:xfrm rot="5400000">
              <a:off x="50269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 name="Google Shape;315;p27">
              <a:extLst>
                <a:ext uri="{FF2B5EF4-FFF2-40B4-BE49-F238E27FC236}">
                  <a16:creationId xmlns:a16="http://schemas.microsoft.com/office/drawing/2014/main" id="{9D5C4987-D80C-6C43-EB88-DD3F3A25FDCC}"/>
                </a:ext>
              </a:extLst>
            </p:cNvPr>
            <p:cNvSpPr/>
            <p:nvPr/>
          </p:nvSpPr>
          <p:spPr>
            <a:xfrm rot="5400000">
              <a:off x="52018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 name="Google Shape;316;p27">
              <a:extLst>
                <a:ext uri="{FF2B5EF4-FFF2-40B4-BE49-F238E27FC236}">
                  <a16:creationId xmlns:a16="http://schemas.microsoft.com/office/drawing/2014/main" id="{3F4793CE-EFED-80AB-B921-37C9240CF542}"/>
                </a:ext>
              </a:extLst>
            </p:cNvPr>
            <p:cNvSpPr/>
            <p:nvPr/>
          </p:nvSpPr>
          <p:spPr>
            <a:xfrm rot="5400000">
              <a:off x="53767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 name="Google Shape;317;p27">
              <a:extLst>
                <a:ext uri="{FF2B5EF4-FFF2-40B4-BE49-F238E27FC236}">
                  <a16:creationId xmlns:a16="http://schemas.microsoft.com/office/drawing/2014/main" id="{A8B6D903-2A67-A39E-3C16-8EBC9FAFC1E2}"/>
                </a:ext>
              </a:extLst>
            </p:cNvPr>
            <p:cNvSpPr/>
            <p:nvPr/>
          </p:nvSpPr>
          <p:spPr>
            <a:xfrm rot="5400000">
              <a:off x="55516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 name="Google Shape;318;p27">
              <a:extLst>
                <a:ext uri="{FF2B5EF4-FFF2-40B4-BE49-F238E27FC236}">
                  <a16:creationId xmlns:a16="http://schemas.microsoft.com/office/drawing/2014/main" id="{1A11F72F-D248-595A-99C1-74D27B1E1282}"/>
                </a:ext>
              </a:extLst>
            </p:cNvPr>
            <p:cNvSpPr/>
            <p:nvPr/>
          </p:nvSpPr>
          <p:spPr>
            <a:xfrm rot="5400000">
              <a:off x="57265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 name="Google Shape;319;p27">
              <a:extLst>
                <a:ext uri="{FF2B5EF4-FFF2-40B4-BE49-F238E27FC236}">
                  <a16:creationId xmlns:a16="http://schemas.microsoft.com/office/drawing/2014/main" id="{A2F4EA33-C77C-2F31-3F41-32E906FA334C}"/>
                </a:ext>
              </a:extLst>
            </p:cNvPr>
            <p:cNvSpPr/>
            <p:nvPr/>
          </p:nvSpPr>
          <p:spPr>
            <a:xfrm rot="5400000">
              <a:off x="59014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4" name="Google Shape;320;p27">
              <a:extLst>
                <a:ext uri="{FF2B5EF4-FFF2-40B4-BE49-F238E27FC236}">
                  <a16:creationId xmlns:a16="http://schemas.microsoft.com/office/drawing/2014/main" id="{87E045ED-33C9-C69F-5528-4F3514113114}"/>
                </a:ext>
              </a:extLst>
            </p:cNvPr>
            <p:cNvSpPr/>
            <p:nvPr/>
          </p:nvSpPr>
          <p:spPr>
            <a:xfrm rot="5400000">
              <a:off x="60763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 name="Google Shape;321;p27">
              <a:extLst>
                <a:ext uri="{FF2B5EF4-FFF2-40B4-BE49-F238E27FC236}">
                  <a16:creationId xmlns:a16="http://schemas.microsoft.com/office/drawing/2014/main" id="{CBCED401-8840-F588-B58A-B3E8F4CFAC2D}"/>
                </a:ext>
              </a:extLst>
            </p:cNvPr>
            <p:cNvSpPr/>
            <p:nvPr/>
          </p:nvSpPr>
          <p:spPr>
            <a:xfrm rot="5400000">
              <a:off x="62512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6" name="Google Shape;322;p27">
              <a:extLst>
                <a:ext uri="{FF2B5EF4-FFF2-40B4-BE49-F238E27FC236}">
                  <a16:creationId xmlns:a16="http://schemas.microsoft.com/office/drawing/2014/main" id="{669FA4CE-EC91-9DCD-2C8B-BC26C2B089B6}"/>
                </a:ext>
              </a:extLst>
            </p:cNvPr>
            <p:cNvSpPr/>
            <p:nvPr/>
          </p:nvSpPr>
          <p:spPr>
            <a:xfrm rot="5400000">
              <a:off x="64261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 name="Google Shape;323;p27">
              <a:extLst>
                <a:ext uri="{FF2B5EF4-FFF2-40B4-BE49-F238E27FC236}">
                  <a16:creationId xmlns:a16="http://schemas.microsoft.com/office/drawing/2014/main" id="{90178CC3-A505-BF80-219B-880868FFFA4F}"/>
                </a:ext>
              </a:extLst>
            </p:cNvPr>
            <p:cNvSpPr/>
            <p:nvPr/>
          </p:nvSpPr>
          <p:spPr>
            <a:xfrm rot="5400000">
              <a:off x="66010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 name="Google Shape;324;p27">
              <a:extLst>
                <a:ext uri="{FF2B5EF4-FFF2-40B4-BE49-F238E27FC236}">
                  <a16:creationId xmlns:a16="http://schemas.microsoft.com/office/drawing/2014/main" id="{A01F513C-971B-9FA2-5A6C-45D67A24ADA2}"/>
                </a:ext>
              </a:extLst>
            </p:cNvPr>
            <p:cNvSpPr/>
            <p:nvPr/>
          </p:nvSpPr>
          <p:spPr>
            <a:xfrm rot="5400000">
              <a:off x="67759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 name="Google Shape;325;p27">
              <a:extLst>
                <a:ext uri="{FF2B5EF4-FFF2-40B4-BE49-F238E27FC236}">
                  <a16:creationId xmlns:a16="http://schemas.microsoft.com/office/drawing/2014/main" id="{4F7AAECD-02A0-4E15-2AA6-8FB2A90CE02A}"/>
                </a:ext>
              </a:extLst>
            </p:cNvPr>
            <p:cNvSpPr/>
            <p:nvPr/>
          </p:nvSpPr>
          <p:spPr>
            <a:xfrm rot="5400000">
              <a:off x="69508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 name="Google Shape;326;p27">
              <a:extLst>
                <a:ext uri="{FF2B5EF4-FFF2-40B4-BE49-F238E27FC236}">
                  <a16:creationId xmlns:a16="http://schemas.microsoft.com/office/drawing/2014/main" id="{A8277D07-2096-69CB-22AB-F1D0520CC03F}"/>
                </a:ext>
              </a:extLst>
            </p:cNvPr>
            <p:cNvSpPr/>
            <p:nvPr/>
          </p:nvSpPr>
          <p:spPr>
            <a:xfrm rot="5400000">
              <a:off x="71257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 name="Google Shape;327;p27">
              <a:extLst>
                <a:ext uri="{FF2B5EF4-FFF2-40B4-BE49-F238E27FC236}">
                  <a16:creationId xmlns:a16="http://schemas.microsoft.com/office/drawing/2014/main" id="{862423D4-5A75-9C23-9A08-BB01934F7600}"/>
                </a:ext>
              </a:extLst>
            </p:cNvPr>
            <p:cNvSpPr/>
            <p:nvPr/>
          </p:nvSpPr>
          <p:spPr>
            <a:xfrm rot="5400000">
              <a:off x="73006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 name="Google Shape;328;p27">
              <a:extLst>
                <a:ext uri="{FF2B5EF4-FFF2-40B4-BE49-F238E27FC236}">
                  <a16:creationId xmlns:a16="http://schemas.microsoft.com/office/drawing/2014/main" id="{523ECF30-6B69-7C3A-FC00-9004DA64EBA8}"/>
                </a:ext>
              </a:extLst>
            </p:cNvPr>
            <p:cNvSpPr/>
            <p:nvPr/>
          </p:nvSpPr>
          <p:spPr>
            <a:xfrm rot="5400000">
              <a:off x="74755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 name="Google Shape;329;p27">
              <a:extLst>
                <a:ext uri="{FF2B5EF4-FFF2-40B4-BE49-F238E27FC236}">
                  <a16:creationId xmlns:a16="http://schemas.microsoft.com/office/drawing/2014/main" id="{33871252-5C84-C462-34BA-B7D3752C9449}"/>
                </a:ext>
              </a:extLst>
            </p:cNvPr>
            <p:cNvSpPr/>
            <p:nvPr/>
          </p:nvSpPr>
          <p:spPr>
            <a:xfrm rot="5400000">
              <a:off x="7650411" y="5084943"/>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4" name="Google Shape;330;p27">
              <a:extLst>
                <a:ext uri="{FF2B5EF4-FFF2-40B4-BE49-F238E27FC236}">
                  <a16:creationId xmlns:a16="http://schemas.microsoft.com/office/drawing/2014/main" id="{28E0110D-B9FD-EED9-26BC-512E71CBCAAF}"/>
                </a:ext>
              </a:extLst>
            </p:cNvPr>
            <p:cNvSpPr/>
            <p:nvPr/>
          </p:nvSpPr>
          <p:spPr>
            <a:xfrm rot="5400000">
              <a:off x="7825311" y="5084943"/>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5" name="Google Shape;331;p27">
              <a:extLst>
                <a:ext uri="{FF2B5EF4-FFF2-40B4-BE49-F238E27FC236}">
                  <a16:creationId xmlns:a16="http://schemas.microsoft.com/office/drawing/2014/main" id="{68544C43-615F-FFBD-AF64-7D8FF05CB5D8}"/>
                </a:ext>
              </a:extLst>
            </p:cNvPr>
            <p:cNvSpPr/>
            <p:nvPr/>
          </p:nvSpPr>
          <p:spPr>
            <a:xfrm rot="5400000">
              <a:off x="8000211" y="5084943"/>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6" name="Google Shape;332;p27">
              <a:extLst>
                <a:ext uri="{FF2B5EF4-FFF2-40B4-BE49-F238E27FC236}">
                  <a16:creationId xmlns:a16="http://schemas.microsoft.com/office/drawing/2014/main" id="{0A9612B0-EA7E-E19A-96BF-126D2967FEBC}"/>
                </a:ext>
              </a:extLst>
            </p:cNvPr>
            <p:cNvSpPr/>
            <p:nvPr/>
          </p:nvSpPr>
          <p:spPr>
            <a:xfrm rot="5400000">
              <a:off x="8175111" y="5084943"/>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7" name="Google Shape;333;p27">
              <a:extLst>
                <a:ext uri="{FF2B5EF4-FFF2-40B4-BE49-F238E27FC236}">
                  <a16:creationId xmlns:a16="http://schemas.microsoft.com/office/drawing/2014/main" id="{D4F0EEEE-BFBD-567E-A5FD-CBD3561F3BCC}"/>
                </a:ext>
              </a:extLst>
            </p:cNvPr>
            <p:cNvSpPr txBox="1"/>
            <p:nvPr/>
          </p:nvSpPr>
          <p:spPr>
            <a:xfrm>
              <a:off x="2327211" y="5533443"/>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78" name="Google Shape;334;p27">
              <a:extLst>
                <a:ext uri="{FF2B5EF4-FFF2-40B4-BE49-F238E27FC236}">
                  <a16:creationId xmlns:a16="http://schemas.microsoft.com/office/drawing/2014/main" id="{655C33E6-7A0C-F711-7830-094C05F4AA04}"/>
                </a:ext>
              </a:extLst>
            </p:cNvPr>
            <p:cNvCxnSpPr>
              <a:stCxn id="6" idx="3"/>
              <a:endCxn id="43" idx="1"/>
            </p:cNvCxnSpPr>
            <p:nvPr/>
          </p:nvCxnSpPr>
          <p:spPr>
            <a:xfrm>
              <a:off x="2445861" y="3287343"/>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79" name="Google Shape;335;p27">
              <a:extLst>
                <a:ext uri="{FF2B5EF4-FFF2-40B4-BE49-F238E27FC236}">
                  <a16:creationId xmlns:a16="http://schemas.microsoft.com/office/drawing/2014/main" id="{9C7DD3E1-0D1D-F1BC-FF8F-928D4465EF65}"/>
                </a:ext>
              </a:extLst>
            </p:cNvPr>
            <p:cNvCxnSpPr>
              <a:endCxn id="48" idx="1"/>
            </p:cNvCxnSpPr>
            <p:nvPr/>
          </p:nvCxnSpPr>
          <p:spPr>
            <a:xfrm>
              <a:off x="3320361" y="3287343"/>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80" name="Google Shape;336;p27">
              <a:extLst>
                <a:ext uri="{FF2B5EF4-FFF2-40B4-BE49-F238E27FC236}">
                  <a16:creationId xmlns:a16="http://schemas.microsoft.com/office/drawing/2014/main" id="{838A8120-4F2D-EDDA-EE43-85A603564998}"/>
                </a:ext>
              </a:extLst>
            </p:cNvPr>
            <p:cNvCxnSpPr>
              <a:stCxn id="16" idx="3"/>
              <a:endCxn id="53" idx="1"/>
            </p:cNvCxnSpPr>
            <p:nvPr/>
          </p:nvCxnSpPr>
          <p:spPr>
            <a:xfrm>
              <a:off x="4194861" y="3287343"/>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81" name="Google Shape;337;p27">
              <a:extLst>
                <a:ext uri="{FF2B5EF4-FFF2-40B4-BE49-F238E27FC236}">
                  <a16:creationId xmlns:a16="http://schemas.microsoft.com/office/drawing/2014/main" id="{A13F558C-BB88-81FA-94E5-3967862969CD}"/>
                </a:ext>
              </a:extLst>
            </p:cNvPr>
            <p:cNvCxnSpPr>
              <a:stCxn id="21" idx="3"/>
              <a:endCxn id="58" idx="1"/>
            </p:cNvCxnSpPr>
            <p:nvPr/>
          </p:nvCxnSpPr>
          <p:spPr>
            <a:xfrm>
              <a:off x="5069361" y="3287343"/>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82" name="Google Shape;338;p27">
              <a:extLst>
                <a:ext uri="{FF2B5EF4-FFF2-40B4-BE49-F238E27FC236}">
                  <a16:creationId xmlns:a16="http://schemas.microsoft.com/office/drawing/2014/main" id="{F4721030-C277-E44E-199D-90E53F965CAF}"/>
                </a:ext>
              </a:extLst>
            </p:cNvPr>
            <p:cNvCxnSpPr>
              <a:stCxn id="26" idx="3"/>
              <a:endCxn id="63" idx="1"/>
            </p:cNvCxnSpPr>
            <p:nvPr/>
          </p:nvCxnSpPr>
          <p:spPr>
            <a:xfrm>
              <a:off x="5943861" y="3287343"/>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83" name="Google Shape;339;p27">
              <a:extLst>
                <a:ext uri="{FF2B5EF4-FFF2-40B4-BE49-F238E27FC236}">
                  <a16:creationId xmlns:a16="http://schemas.microsoft.com/office/drawing/2014/main" id="{F4B316D6-2D38-0035-D868-F940DB9D63CC}"/>
                </a:ext>
              </a:extLst>
            </p:cNvPr>
            <p:cNvCxnSpPr>
              <a:stCxn id="31" idx="3"/>
              <a:endCxn id="68" idx="1"/>
            </p:cNvCxnSpPr>
            <p:nvPr/>
          </p:nvCxnSpPr>
          <p:spPr>
            <a:xfrm>
              <a:off x="6818361" y="3287343"/>
              <a:ext cx="318600" cy="1524000"/>
            </a:xfrm>
            <a:prstGeom prst="straightConnector1">
              <a:avLst/>
            </a:prstGeom>
            <a:noFill/>
            <a:ln w="9525" cap="flat" cmpd="sng">
              <a:solidFill>
                <a:schemeClr val="dk2"/>
              </a:solidFill>
              <a:prstDash val="solid"/>
              <a:round/>
              <a:headEnd type="none" w="med" len="med"/>
              <a:tailEnd type="triangle" w="med" len="med"/>
            </a:ln>
          </p:spPr>
        </p:cxnSp>
        <p:cxnSp>
          <p:nvCxnSpPr>
            <p:cNvPr id="84" name="Google Shape;340;p27">
              <a:extLst>
                <a:ext uri="{FF2B5EF4-FFF2-40B4-BE49-F238E27FC236}">
                  <a16:creationId xmlns:a16="http://schemas.microsoft.com/office/drawing/2014/main" id="{780E50A9-DA74-3432-DE26-6B284B2695AD}"/>
                </a:ext>
              </a:extLst>
            </p:cNvPr>
            <p:cNvCxnSpPr>
              <a:stCxn id="36" idx="3"/>
              <a:endCxn id="73" idx="1"/>
            </p:cNvCxnSpPr>
            <p:nvPr/>
          </p:nvCxnSpPr>
          <p:spPr>
            <a:xfrm>
              <a:off x="7692861" y="3287343"/>
              <a:ext cx="318600" cy="1524000"/>
            </a:xfrm>
            <a:prstGeom prst="straightConnector1">
              <a:avLst/>
            </a:prstGeom>
            <a:noFill/>
            <a:ln w="9525" cap="flat" cmpd="sng">
              <a:solidFill>
                <a:schemeClr val="dk2"/>
              </a:solidFill>
              <a:prstDash val="solid"/>
              <a:round/>
              <a:headEnd type="none" w="med" len="med"/>
              <a:tailEnd type="triangle" w="med" len="med"/>
            </a:ln>
          </p:spPr>
        </p:cxnSp>
      </p:grpSp>
    </p:spTree>
    <p:extLst>
      <p:ext uri="{BB962C8B-B14F-4D97-AF65-F5344CB8AC3E}">
        <p14:creationId xmlns:p14="http://schemas.microsoft.com/office/powerpoint/2010/main" val="926139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50A02-9FE6-2C8B-FC81-CEA3D9510EC6}"/>
            </a:ext>
          </a:extLst>
        </p:cNvPr>
        <p:cNvGrpSpPr/>
        <p:nvPr/>
      </p:nvGrpSpPr>
      <p:grpSpPr>
        <a:xfrm>
          <a:off x="0" y="0"/>
          <a:ext cx="0" cy="0"/>
          <a:chOff x="0" y="0"/>
          <a:chExt cx="0" cy="0"/>
        </a:xfrm>
      </p:grpSpPr>
      <p:sp>
        <p:nvSpPr>
          <p:cNvPr id="2" name="Google Shape;258;p27">
            <a:extLst>
              <a:ext uri="{FF2B5EF4-FFF2-40B4-BE49-F238E27FC236}">
                <a16:creationId xmlns:a16="http://schemas.microsoft.com/office/drawing/2014/main" id="{0A4C53FC-A73E-2199-3F80-50B5B04BD89B}"/>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a:t>TCP Segments</a:t>
            </a:r>
            <a:endParaRPr lang="en-US" dirty="0"/>
          </a:p>
        </p:txBody>
      </p:sp>
      <p:sp>
        <p:nvSpPr>
          <p:cNvPr id="3" name="Google Shape;259;p27">
            <a:extLst>
              <a:ext uri="{FF2B5EF4-FFF2-40B4-BE49-F238E27FC236}">
                <a16:creationId xmlns:a16="http://schemas.microsoft.com/office/drawing/2014/main" id="{F935E962-8BD2-D78F-36F9-F7EB2F2E5532}"/>
              </a:ext>
            </a:extLst>
          </p:cNvPr>
          <p:cNvSpPr txBox="1">
            <a:spLocks/>
          </p:cNvSpPr>
          <p:nvPr/>
        </p:nvSpPr>
        <p:spPr>
          <a:xfrm>
            <a:off x="799975" y="825623"/>
            <a:ext cx="10592049" cy="1026000"/>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ts val="600"/>
              </a:spcBef>
              <a:buNone/>
            </a:pPr>
            <a:r>
              <a:rPr lang="en-US" dirty="0"/>
              <a:t>A segment is sent when the segment is full (max segment size),</a:t>
            </a:r>
          </a:p>
          <a:p>
            <a:pPr marL="0" lvl="0" indent="0">
              <a:spcBef>
                <a:spcPts val="600"/>
              </a:spcBef>
              <a:buNone/>
            </a:pPr>
            <a:r>
              <a:rPr lang="en-US" dirty="0"/>
              <a:t>or when the segment is not full, but times out waiting for more data</a:t>
            </a:r>
          </a:p>
        </p:txBody>
      </p:sp>
      <p:grpSp>
        <p:nvGrpSpPr>
          <p:cNvPr id="184" name="Group 183">
            <a:extLst>
              <a:ext uri="{FF2B5EF4-FFF2-40B4-BE49-F238E27FC236}">
                <a16:creationId xmlns:a16="http://schemas.microsoft.com/office/drawing/2014/main" id="{FA48BD40-8191-0D7A-79E4-E23EE9CAD3ED}"/>
              </a:ext>
            </a:extLst>
          </p:cNvPr>
          <p:cNvGrpSpPr/>
          <p:nvPr/>
        </p:nvGrpSpPr>
        <p:grpSpPr>
          <a:xfrm>
            <a:off x="1048549" y="1851623"/>
            <a:ext cx="10698480" cy="4846320"/>
            <a:chOff x="1122650" y="1486475"/>
            <a:chExt cx="7048200" cy="3510000"/>
          </a:xfrm>
        </p:grpSpPr>
        <p:sp>
          <p:nvSpPr>
            <p:cNvPr id="86" name="Google Shape;345;p28">
              <a:extLst>
                <a:ext uri="{FF2B5EF4-FFF2-40B4-BE49-F238E27FC236}">
                  <a16:creationId xmlns:a16="http://schemas.microsoft.com/office/drawing/2014/main" id="{4EAE4C60-9E75-1279-FAEE-47F1A5817940}"/>
                </a:ext>
              </a:extLst>
            </p:cNvPr>
            <p:cNvSpPr/>
            <p:nvPr/>
          </p:nvSpPr>
          <p:spPr>
            <a:xfrm>
              <a:off x="18744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87" name="Google Shape;346;p28">
              <a:extLst>
                <a:ext uri="{FF2B5EF4-FFF2-40B4-BE49-F238E27FC236}">
                  <a16:creationId xmlns:a16="http://schemas.microsoft.com/office/drawing/2014/main" id="{A1C2718E-D63F-D14C-414B-7A3D3A18A2BB}"/>
                </a:ext>
              </a:extLst>
            </p:cNvPr>
            <p:cNvCxnSpPr>
              <a:endCxn id="138" idx="1"/>
            </p:cNvCxnSpPr>
            <p:nvPr/>
          </p:nvCxnSpPr>
          <p:spPr>
            <a:xfrm>
              <a:off x="2661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88" name="Google Shape;348;p28">
              <a:extLst>
                <a:ext uri="{FF2B5EF4-FFF2-40B4-BE49-F238E27FC236}">
                  <a16:creationId xmlns:a16="http://schemas.microsoft.com/office/drawing/2014/main" id="{8DAFEDE6-4251-C7B0-3C6F-A0B4AD9C372C}"/>
                </a:ext>
              </a:extLst>
            </p:cNvPr>
            <p:cNvCxnSpPr>
              <a:endCxn id="139" idx="1"/>
            </p:cNvCxnSpPr>
            <p:nvPr/>
          </p:nvCxnSpPr>
          <p:spPr>
            <a:xfrm>
              <a:off x="28364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89" name="Google Shape;350;p28">
              <a:extLst>
                <a:ext uri="{FF2B5EF4-FFF2-40B4-BE49-F238E27FC236}">
                  <a16:creationId xmlns:a16="http://schemas.microsoft.com/office/drawing/2014/main" id="{09DFBD12-B93D-9EED-E8E8-4FC7DEE1D43D}"/>
                </a:ext>
              </a:extLst>
            </p:cNvPr>
            <p:cNvCxnSpPr>
              <a:endCxn id="140" idx="1"/>
            </p:cNvCxnSpPr>
            <p:nvPr/>
          </p:nvCxnSpPr>
          <p:spPr>
            <a:xfrm>
              <a:off x="30113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90" name="Google Shape;352;p28">
              <a:extLst>
                <a:ext uri="{FF2B5EF4-FFF2-40B4-BE49-F238E27FC236}">
                  <a16:creationId xmlns:a16="http://schemas.microsoft.com/office/drawing/2014/main" id="{BEB14F64-8ED0-07B7-E87A-3E242239A858}"/>
                </a:ext>
              </a:extLst>
            </p:cNvPr>
            <p:cNvCxnSpPr>
              <a:endCxn id="141" idx="1"/>
            </p:cNvCxnSpPr>
            <p:nvPr/>
          </p:nvCxnSpPr>
          <p:spPr>
            <a:xfrm>
              <a:off x="3186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91" name="Google Shape;354;p28">
              <a:extLst>
                <a:ext uri="{FF2B5EF4-FFF2-40B4-BE49-F238E27FC236}">
                  <a16:creationId xmlns:a16="http://schemas.microsoft.com/office/drawing/2014/main" id="{507C05F5-8120-8865-9200-A9390A3F568E}"/>
                </a:ext>
              </a:extLst>
            </p:cNvPr>
            <p:cNvCxnSpPr>
              <a:endCxn id="142" idx="1"/>
            </p:cNvCxnSpPr>
            <p:nvPr/>
          </p:nvCxnSpPr>
          <p:spPr>
            <a:xfrm>
              <a:off x="3361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92" name="Google Shape;356;p28">
              <a:extLst>
                <a:ext uri="{FF2B5EF4-FFF2-40B4-BE49-F238E27FC236}">
                  <a16:creationId xmlns:a16="http://schemas.microsoft.com/office/drawing/2014/main" id="{738BDA8E-75DA-9316-D8FD-40491E29AAFD}"/>
                </a:ext>
              </a:extLst>
            </p:cNvPr>
            <p:cNvCxnSpPr>
              <a:endCxn id="137" idx="1"/>
            </p:cNvCxnSpPr>
            <p:nvPr/>
          </p:nvCxnSpPr>
          <p:spPr>
            <a:xfrm>
              <a:off x="2486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93" name="Google Shape;358;p28">
              <a:extLst>
                <a:ext uri="{FF2B5EF4-FFF2-40B4-BE49-F238E27FC236}">
                  <a16:creationId xmlns:a16="http://schemas.microsoft.com/office/drawing/2014/main" id="{7C4C44CB-18CE-9A4B-0680-4A9773072395}"/>
                </a:ext>
              </a:extLst>
            </p:cNvPr>
            <p:cNvCxnSpPr>
              <a:endCxn id="136" idx="1"/>
            </p:cNvCxnSpPr>
            <p:nvPr/>
          </p:nvCxnSpPr>
          <p:spPr>
            <a:xfrm>
              <a:off x="2311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94" name="Google Shape;360;p28">
              <a:extLst>
                <a:ext uri="{FF2B5EF4-FFF2-40B4-BE49-F238E27FC236}">
                  <a16:creationId xmlns:a16="http://schemas.microsoft.com/office/drawing/2014/main" id="{F342C945-42F8-9E8B-B4F8-21DDD923203F}"/>
                </a:ext>
              </a:extLst>
            </p:cNvPr>
            <p:cNvCxnSpPr>
              <a:endCxn id="135" idx="1"/>
            </p:cNvCxnSpPr>
            <p:nvPr/>
          </p:nvCxnSpPr>
          <p:spPr>
            <a:xfrm>
              <a:off x="2136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95" name="Google Shape;362;p28">
              <a:extLst>
                <a:ext uri="{FF2B5EF4-FFF2-40B4-BE49-F238E27FC236}">
                  <a16:creationId xmlns:a16="http://schemas.microsoft.com/office/drawing/2014/main" id="{756DEADB-D4B0-3837-FB16-AE8A47E32297}"/>
                </a:ext>
              </a:extLst>
            </p:cNvPr>
            <p:cNvCxnSpPr>
              <a:endCxn id="134" idx="1"/>
            </p:cNvCxnSpPr>
            <p:nvPr/>
          </p:nvCxnSpPr>
          <p:spPr>
            <a:xfrm>
              <a:off x="19619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96" name="Google Shape;366;p28">
              <a:extLst>
                <a:ext uri="{FF2B5EF4-FFF2-40B4-BE49-F238E27FC236}">
                  <a16:creationId xmlns:a16="http://schemas.microsoft.com/office/drawing/2014/main" id="{88D748EA-FA4A-CA29-AD71-4DF961AB20B9}"/>
                </a:ext>
              </a:extLst>
            </p:cNvPr>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dirty="0">
                  <a:latin typeface="Roboto"/>
                  <a:ea typeface="Roboto"/>
                  <a:cs typeface="Roboto"/>
                  <a:sym typeface="Roboto"/>
                </a:rPr>
                <a:t>Byte 1</a:t>
              </a:r>
              <a:endParaRPr sz="1000" dirty="0">
                <a:latin typeface="Roboto"/>
                <a:ea typeface="Roboto"/>
                <a:cs typeface="Roboto"/>
                <a:sym typeface="Roboto"/>
              </a:endParaRPr>
            </a:p>
          </p:txBody>
        </p:sp>
        <p:sp>
          <p:nvSpPr>
            <p:cNvPr id="97" name="Google Shape;367;p28">
              <a:extLst>
                <a:ext uri="{FF2B5EF4-FFF2-40B4-BE49-F238E27FC236}">
                  <a16:creationId xmlns:a16="http://schemas.microsoft.com/office/drawing/2014/main" id="{F4C00EA3-CD38-B855-2A80-69DA74B77ACE}"/>
                </a:ext>
              </a:extLst>
            </p:cNvPr>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98" name="Google Shape;368;p28">
              <a:extLst>
                <a:ext uri="{FF2B5EF4-FFF2-40B4-BE49-F238E27FC236}">
                  <a16:creationId xmlns:a16="http://schemas.microsoft.com/office/drawing/2014/main" id="{124CBFE8-5D03-4FE5-54C0-7926CF890AEF}"/>
                </a:ext>
              </a:extLst>
            </p:cNvPr>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99" name="Google Shape;369;p28">
              <a:extLst>
                <a:ext uri="{FF2B5EF4-FFF2-40B4-BE49-F238E27FC236}">
                  <a16:creationId xmlns:a16="http://schemas.microsoft.com/office/drawing/2014/main" id="{42A5446E-2E7C-B9B8-EBF9-E135EA691972}"/>
                </a:ext>
              </a:extLst>
            </p:cNvPr>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100" name="Google Shape;370;p28">
              <a:extLst>
                <a:ext uri="{FF2B5EF4-FFF2-40B4-BE49-F238E27FC236}">
                  <a16:creationId xmlns:a16="http://schemas.microsoft.com/office/drawing/2014/main" id="{2FD50C8D-C15B-25A6-1E9C-48F52C927B99}"/>
                </a:ext>
              </a:extLst>
            </p:cNvPr>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1" name="Google Shape;371;p28">
              <a:extLst>
                <a:ext uri="{FF2B5EF4-FFF2-40B4-BE49-F238E27FC236}">
                  <a16:creationId xmlns:a16="http://schemas.microsoft.com/office/drawing/2014/main" id="{0BF60ED5-2B5C-5804-AD69-EC705EDC648F}"/>
                </a:ext>
              </a:extLst>
            </p:cNvPr>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 name="Google Shape;372;p28">
              <a:extLst>
                <a:ext uri="{FF2B5EF4-FFF2-40B4-BE49-F238E27FC236}">
                  <a16:creationId xmlns:a16="http://schemas.microsoft.com/office/drawing/2014/main" id="{68FF5EEA-CB42-3AC3-4E3C-62115BAE9B89}"/>
                </a:ext>
              </a:extLst>
            </p:cNvPr>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3" name="Google Shape;373;p28">
              <a:extLst>
                <a:ext uri="{FF2B5EF4-FFF2-40B4-BE49-F238E27FC236}">
                  <a16:creationId xmlns:a16="http://schemas.microsoft.com/office/drawing/2014/main" id="{CD7DC158-64AC-2A33-5BDE-662FB3028D1F}"/>
                </a:ext>
              </a:extLst>
            </p:cNvPr>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104" name="Google Shape;374;p28">
              <a:extLst>
                <a:ext uri="{FF2B5EF4-FFF2-40B4-BE49-F238E27FC236}">
                  <a16:creationId xmlns:a16="http://schemas.microsoft.com/office/drawing/2014/main" id="{B1FE5FAF-7EFC-E31A-36E4-C4C9C22C5AB2}"/>
                </a:ext>
              </a:extLst>
            </p:cNvPr>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105" name="Google Shape;375;p28">
              <a:extLst>
                <a:ext uri="{FF2B5EF4-FFF2-40B4-BE49-F238E27FC236}">
                  <a16:creationId xmlns:a16="http://schemas.microsoft.com/office/drawing/2014/main" id="{3A59C75C-CA24-85CE-6BA8-D74A0CCD1376}"/>
                </a:ext>
              </a:extLst>
            </p:cNvPr>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6" name="Google Shape;376;p28">
              <a:extLst>
                <a:ext uri="{FF2B5EF4-FFF2-40B4-BE49-F238E27FC236}">
                  <a16:creationId xmlns:a16="http://schemas.microsoft.com/office/drawing/2014/main" id="{6873514C-733F-220E-AE94-5254F2251271}"/>
                </a:ext>
              </a:extLst>
            </p:cNvPr>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7" name="Google Shape;377;p28">
              <a:extLst>
                <a:ext uri="{FF2B5EF4-FFF2-40B4-BE49-F238E27FC236}">
                  <a16:creationId xmlns:a16="http://schemas.microsoft.com/office/drawing/2014/main" id="{AAAFD2EF-B81A-E0D4-63BA-32F8A91CD174}"/>
                </a:ext>
              </a:extLst>
            </p:cNvPr>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8" name="Google Shape;378;p28">
              <a:extLst>
                <a:ext uri="{FF2B5EF4-FFF2-40B4-BE49-F238E27FC236}">
                  <a16:creationId xmlns:a16="http://schemas.microsoft.com/office/drawing/2014/main" id="{EA69C90C-C89C-B4EB-C9CD-581DCB26B089}"/>
                </a:ext>
              </a:extLst>
            </p:cNvPr>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9" name="Google Shape;379;p28">
              <a:extLst>
                <a:ext uri="{FF2B5EF4-FFF2-40B4-BE49-F238E27FC236}">
                  <a16:creationId xmlns:a16="http://schemas.microsoft.com/office/drawing/2014/main" id="{39A70030-CF7A-1879-32A2-12A2F35F499F}"/>
                </a:ext>
              </a:extLst>
            </p:cNvPr>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0" name="Google Shape;380;p28">
              <a:extLst>
                <a:ext uri="{FF2B5EF4-FFF2-40B4-BE49-F238E27FC236}">
                  <a16:creationId xmlns:a16="http://schemas.microsoft.com/office/drawing/2014/main" id="{83D8C001-144D-C5D0-1448-99DADDE28D2F}"/>
                </a:ext>
              </a:extLst>
            </p:cNvPr>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1" name="Google Shape;381;p28">
              <a:extLst>
                <a:ext uri="{FF2B5EF4-FFF2-40B4-BE49-F238E27FC236}">
                  <a16:creationId xmlns:a16="http://schemas.microsoft.com/office/drawing/2014/main" id="{78CFAAB5-A535-D052-577A-A71106FACC49}"/>
                </a:ext>
              </a:extLst>
            </p:cNvPr>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2" name="Google Shape;382;p28">
              <a:extLst>
                <a:ext uri="{FF2B5EF4-FFF2-40B4-BE49-F238E27FC236}">
                  <a16:creationId xmlns:a16="http://schemas.microsoft.com/office/drawing/2014/main" id="{38734BEA-D8FA-71A2-0FEC-92DC7C4AC565}"/>
                </a:ext>
              </a:extLst>
            </p:cNvPr>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3" name="Google Shape;383;p28">
              <a:extLst>
                <a:ext uri="{FF2B5EF4-FFF2-40B4-BE49-F238E27FC236}">
                  <a16:creationId xmlns:a16="http://schemas.microsoft.com/office/drawing/2014/main" id="{BEE405BB-77A6-9ED5-5317-2D7277D214CC}"/>
                </a:ext>
              </a:extLst>
            </p:cNvPr>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4" name="Google Shape;384;p28">
              <a:extLst>
                <a:ext uri="{FF2B5EF4-FFF2-40B4-BE49-F238E27FC236}">
                  <a16:creationId xmlns:a16="http://schemas.microsoft.com/office/drawing/2014/main" id="{1913D1AE-FE3F-DB98-8586-A3F25C7D77E0}"/>
                </a:ext>
              </a:extLst>
            </p:cNvPr>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5" name="Google Shape;385;p28">
              <a:extLst>
                <a:ext uri="{FF2B5EF4-FFF2-40B4-BE49-F238E27FC236}">
                  <a16:creationId xmlns:a16="http://schemas.microsoft.com/office/drawing/2014/main" id="{7AB29574-943D-9112-BDAC-88975786472F}"/>
                </a:ext>
              </a:extLst>
            </p:cNvPr>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6" name="Google Shape;386;p28">
              <a:extLst>
                <a:ext uri="{FF2B5EF4-FFF2-40B4-BE49-F238E27FC236}">
                  <a16:creationId xmlns:a16="http://schemas.microsoft.com/office/drawing/2014/main" id="{56D4E3F7-3808-AAFA-058A-F38385DE0794}"/>
                </a:ext>
              </a:extLst>
            </p:cNvPr>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7" name="Google Shape;387;p28">
              <a:extLst>
                <a:ext uri="{FF2B5EF4-FFF2-40B4-BE49-F238E27FC236}">
                  <a16:creationId xmlns:a16="http://schemas.microsoft.com/office/drawing/2014/main" id="{B9F32155-CEE0-4864-CBFD-FBC33CFE999E}"/>
                </a:ext>
              </a:extLst>
            </p:cNvPr>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8" name="Google Shape;388;p28">
              <a:extLst>
                <a:ext uri="{FF2B5EF4-FFF2-40B4-BE49-F238E27FC236}">
                  <a16:creationId xmlns:a16="http://schemas.microsoft.com/office/drawing/2014/main" id="{D4AE3C81-6088-CFB0-C44E-07C99D5ED564}"/>
                </a:ext>
              </a:extLst>
            </p:cNvPr>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9" name="Google Shape;389;p28">
              <a:extLst>
                <a:ext uri="{FF2B5EF4-FFF2-40B4-BE49-F238E27FC236}">
                  <a16:creationId xmlns:a16="http://schemas.microsoft.com/office/drawing/2014/main" id="{52704181-E4D0-8DC1-7089-DB7F16A4DA94}"/>
                </a:ext>
              </a:extLst>
            </p:cNvPr>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 name="Google Shape;390;p28">
              <a:extLst>
                <a:ext uri="{FF2B5EF4-FFF2-40B4-BE49-F238E27FC236}">
                  <a16:creationId xmlns:a16="http://schemas.microsoft.com/office/drawing/2014/main" id="{06AB1D6B-BBA0-A300-34EF-1029F2F81A0E}"/>
                </a:ext>
              </a:extLst>
            </p:cNvPr>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1" name="Google Shape;391;p28">
              <a:extLst>
                <a:ext uri="{FF2B5EF4-FFF2-40B4-BE49-F238E27FC236}">
                  <a16:creationId xmlns:a16="http://schemas.microsoft.com/office/drawing/2014/main" id="{A05409CA-4C83-AFB9-BB0C-40C17D455C2E}"/>
                </a:ext>
              </a:extLst>
            </p:cNvPr>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2" name="Google Shape;392;p28">
              <a:extLst>
                <a:ext uri="{FF2B5EF4-FFF2-40B4-BE49-F238E27FC236}">
                  <a16:creationId xmlns:a16="http://schemas.microsoft.com/office/drawing/2014/main" id="{FDE861B4-2FCB-1015-DEF2-D1A28DC736F5}"/>
                </a:ext>
              </a:extLst>
            </p:cNvPr>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3" name="Google Shape;393;p28">
              <a:extLst>
                <a:ext uri="{FF2B5EF4-FFF2-40B4-BE49-F238E27FC236}">
                  <a16:creationId xmlns:a16="http://schemas.microsoft.com/office/drawing/2014/main" id="{6456572E-AA22-96F6-7036-47EB673CD3CF}"/>
                </a:ext>
              </a:extLst>
            </p:cNvPr>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4" name="Google Shape;394;p28">
              <a:extLst>
                <a:ext uri="{FF2B5EF4-FFF2-40B4-BE49-F238E27FC236}">
                  <a16:creationId xmlns:a16="http://schemas.microsoft.com/office/drawing/2014/main" id="{67210314-7224-7911-6975-D001B4635F4D}"/>
                </a:ext>
              </a:extLst>
            </p:cNvPr>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5" name="Google Shape;395;p28">
              <a:extLst>
                <a:ext uri="{FF2B5EF4-FFF2-40B4-BE49-F238E27FC236}">
                  <a16:creationId xmlns:a16="http://schemas.microsoft.com/office/drawing/2014/main" id="{47A0B025-B950-8CE2-B32F-3C569527649C}"/>
                </a:ext>
              </a:extLst>
            </p:cNvPr>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6" name="Google Shape;396;p28">
              <a:extLst>
                <a:ext uri="{FF2B5EF4-FFF2-40B4-BE49-F238E27FC236}">
                  <a16:creationId xmlns:a16="http://schemas.microsoft.com/office/drawing/2014/main" id="{3F629122-BB0D-F3B6-5A88-264604798668}"/>
                </a:ext>
              </a:extLst>
            </p:cNvPr>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7" name="Google Shape;397;p28">
              <a:extLst>
                <a:ext uri="{FF2B5EF4-FFF2-40B4-BE49-F238E27FC236}">
                  <a16:creationId xmlns:a16="http://schemas.microsoft.com/office/drawing/2014/main" id="{C6B342B1-00E5-42BF-F541-3208A9C60AB9}"/>
                </a:ext>
              </a:extLst>
            </p:cNvPr>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8" name="Google Shape;398;p28">
              <a:extLst>
                <a:ext uri="{FF2B5EF4-FFF2-40B4-BE49-F238E27FC236}">
                  <a16:creationId xmlns:a16="http://schemas.microsoft.com/office/drawing/2014/main" id="{D6B3FF34-89AD-31B0-0598-608B4EC8856E}"/>
                </a:ext>
              </a:extLst>
            </p:cNvPr>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9" name="Google Shape;399;p28">
              <a:extLst>
                <a:ext uri="{FF2B5EF4-FFF2-40B4-BE49-F238E27FC236}">
                  <a16:creationId xmlns:a16="http://schemas.microsoft.com/office/drawing/2014/main" id="{FF1EB802-DD4E-7C57-35B6-1DFAE0FB01D3}"/>
                </a:ext>
              </a:extLst>
            </p:cNvPr>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0" name="Google Shape;400;p28">
              <a:extLst>
                <a:ext uri="{FF2B5EF4-FFF2-40B4-BE49-F238E27FC236}">
                  <a16:creationId xmlns:a16="http://schemas.microsoft.com/office/drawing/2014/main" id="{4B904808-A4A5-769D-87CA-5A9398F5476C}"/>
                </a:ext>
              </a:extLst>
            </p:cNvPr>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1" name="Google Shape;401;p28">
              <a:extLst>
                <a:ext uri="{FF2B5EF4-FFF2-40B4-BE49-F238E27FC236}">
                  <a16:creationId xmlns:a16="http://schemas.microsoft.com/office/drawing/2014/main" id="{DAEEA527-6E95-9108-0D95-C65817374211}"/>
                </a:ext>
              </a:extLst>
            </p:cNvPr>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2" name="Google Shape;402;p28">
              <a:extLst>
                <a:ext uri="{FF2B5EF4-FFF2-40B4-BE49-F238E27FC236}">
                  <a16:creationId xmlns:a16="http://schemas.microsoft.com/office/drawing/2014/main" id="{673673B6-B23B-134B-D9C9-BB9905C7BE15}"/>
                </a:ext>
              </a:extLst>
            </p:cNvPr>
            <p:cNvSpPr txBox="1"/>
            <p:nvPr/>
          </p:nvSpPr>
          <p:spPr>
            <a:xfrm>
              <a:off x="1555850" y="14864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133" name="Google Shape;403;p28">
              <a:extLst>
                <a:ext uri="{FF2B5EF4-FFF2-40B4-BE49-F238E27FC236}">
                  <a16:creationId xmlns:a16="http://schemas.microsoft.com/office/drawing/2014/main" id="{C974C018-54F7-8B30-2965-8E338365A955}"/>
                </a:ext>
              </a:extLst>
            </p:cNvPr>
            <p:cNvSpPr/>
            <p:nvPr/>
          </p:nvSpPr>
          <p:spPr>
            <a:xfrm>
              <a:off x="15558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134" name="Google Shape;363;p28">
              <a:extLst>
                <a:ext uri="{FF2B5EF4-FFF2-40B4-BE49-F238E27FC236}">
                  <a16:creationId xmlns:a16="http://schemas.microsoft.com/office/drawing/2014/main" id="{8F3EBDE3-DBA1-CA50-34AE-E2735E80558F}"/>
                </a:ext>
              </a:extLst>
            </p:cNvPr>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1</a:t>
              </a:r>
              <a:endParaRPr sz="1000">
                <a:latin typeface="Roboto"/>
                <a:ea typeface="Roboto"/>
                <a:cs typeface="Roboto"/>
                <a:sym typeface="Roboto"/>
              </a:endParaRPr>
            </a:p>
          </p:txBody>
        </p:sp>
        <p:sp>
          <p:nvSpPr>
            <p:cNvPr id="135" name="Google Shape;361;p28">
              <a:extLst>
                <a:ext uri="{FF2B5EF4-FFF2-40B4-BE49-F238E27FC236}">
                  <a16:creationId xmlns:a16="http://schemas.microsoft.com/office/drawing/2014/main" id="{E48ED791-7084-6441-B0AF-1A1E5B09E8FA}"/>
                </a:ext>
              </a:extLst>
            </p:cNvPr>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2</a:t>
              </a:r>
              <a:endParaRPr sz="1000">
                <a:latin typeface="Roboto"/>
                <a:ea typeface="Roboto"/>
                <a:cs typeface="Roboto"/>
                <a:sym typeface="Roboto"/>
              </a:endParaRPr>
            </a:p>
          </p:txBody>
        </p:sp>
        <p:sp>
          <p:nvSpPr>
            <p:cNvPr id="136" name="Google Shape;359;p28">
              <a:extLst>
                <a:ext uri="{FF2B5EF4-FFF2-40B4-BE49-F238E27FC236}">
                  <a16:creationId xmlns:a16="http://schemas.microsoft.com/office/drawing/2014/main" id="{29CBD908-93B3-0827-CFCE-888AB69FFF2E}"/>
                </a:ext>
              </a:extLst>
            </p:cNvPr>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3</a:t>
              </a:r>
              <a:endParaRPr sz="1000">
                <a:latin typeface="Roboto"/>
                <a:ea typeface="Roboto"/>
                <a:cs typeface="Roboto"/>
                <a:sym typeface="Roboto"/>
              </a:endParaRPr>
            </a:p>
          </p:txBody>
        </p:sp>
        <p:sp>
          <p:nvSpPr>
            <p:cNvPr id="137" name="Google Shape;357;p28">
              <a:extLst>
                <a:ext uri="{FF2B5EF4-FFF2-40B4-BE49-F238E27FC236}">
                  <a16:creationId xmlns:a16="http://schemas.microsoft.com/office/drawing/2014/main" id="{62BB222D-F38B-7A33-E164-34FCBDB1229C}"/>
                </a:ext>
              </a:extLst>
            </p:cNvPr>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4</a:t>
              </a:r>
              <a:endParaRPr sz="1000">
                <a:latin typeface="Roboto"/>
                <a:ea typeface="Roboto"/>
                <a:cs typeface="Roboto"/>
                <a:sym typeface="Roboto"/>
              </a:endParaRPr>
            </a:p>
          </p:txBody>
        </p:sp>
        <p:sp>
          <p:nvSpPr>
            <p:cNvPr id="138" name="Google Shape;347;p28">
              <a:extLst>
                <a:ext uri="{FF2B5EF4-FFF2-40B4-BE49-F238E27FC236}">
                  <a16:creationId xmlns:a16="http://schemas.microsoft.com/office/drawing/2014/main" id="{344DA21D-66E6-4267-8CF6-111AAE97765C}"/>
                </a:ext>
              </a:extLst>
            </p:cNvPr>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9" name="Google Shape;349;p28">
              <a:extLst>
                <a:ext uri="{FF2B5EF4-FFF2-40B4-BE49-F238E27FC236}">
                  <a16:creationId xmlns:a16="http://schemas.microsoft.com/office/drawing/2014/main" id="{61661BAF-3B01-8468-1E4A-F1EDA4616C71}"/>
                </a:ext>
              </a:extLst>
            </p:cNvPr>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0" name="Google Shape;351;p28">
              <a:extLst>
                <a:ext uri="{FF2B5EF4-FFF2-40B4-BE49-F238E27FC236}">
                  <a16:creationId xmlns:a16="http://schemas.microsoft.com/office/drawing/2014/main" id="{EB0B0FAB-1D05-7E0B-1091-1ECAEAC1633B}"/>
                </a:ext>
              </a:extLst>
            </p:cNvPr>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1" name="Google Shape;353;p28">
              <a:extLst>
                <a:ext uri="{FF2B5EF4-FFF2-40B4-BE49-F238E27FC236}">
                  <a16:creationId xmlns:a16="http://schemas.microsoft.com/office/drawing/2014/main" id="{2F61A92A-A547-ED3A-68B1-01E52ECF0E66}"/>
                </a:ext>
              </a:extLst>
            </p:cNvPr>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79</a:t>
              </a:r>
              <a:endParaRPr sz="1000">
                <a:latin typeface="Roboto"/>
                <a:ea typeface="Roboto"/>
                <a:cs typeface="Roboto"/>
                <a:sym typeface="Roboto"/>
              </a:endParaRPr>
            </a:p>
          </p:txBody>
        </p:sp>
        <p:sp>
          <p:nvSpPr>
            <p:cNvPr id="142" name="Google Shape;355;p28">
              <a:extLst>
                <a:ext uri="{FF2B5EF4-FFF2-40B4-BE49-F238E27FC236}">
                  <a16:creationId xmlns:a16="http://schemas.microsoft.com/office/drawing/2014/main" id="{BDE795AA-0C6B-1C0E-5C9D-B318834A5A14}"/>
                </a:ext>
              </a:extLst>
            </p:cNvPr>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Byte 80</a:t>
              </a:r>
              <a:endParaRPr sz="1000">
                <a:latin typeface="Roboto"/>
                <a:ea typeface="Roboto"/>
                <a:cs typeface="Roboto"/>
                <a:sym typeface="Roboto"/>
              </a:endParaRPr>
            </a:p>
          </p:txBody>
        </p:sp>
        <p:sp>
          <p:nvSpPr>
            <p:cNvPr id="143" name="Google Shape;404;p28">
              <a:extLst>
                <a:ext uri="{FF2B5EF4-FFF2-40B4-BE49-F238E27FC236}">
                  <a16:creationId xmlns:a16="http://schemas.microsoft.com/office/drawing/2014/main" id="{D241D2C0-89D4-BBB6-2B9B-7EE01E952E70}"/>
                </a:ext>
              </a:extLst>
            </p:cNvPr>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4" name="Google Shape;405;p28">
              <a:extLst>
                <a:ext uri="{FF2B5EF4-FFF2-40B4-BE49-F238E27FC236}">
                  <a16:creationId xmlns:a16="http://schemas.microsoft.com/office/drawing/2014/main" id="{D3E0FF1D-22DA-FA30-409F-D57914BCBF39}"/>
                </a:ext>
              </a:extLst>
            </p:cNvPr>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5" name="Google Shape;406;p28">
              <a:extLst>
                <a:ext uri="{FF2B5EF4-FFF2-40B4-BE49-F238E27FC236}">
                  <a16:creationId xmlns:a16="http://schemas.microsoft.com/office/drawing/2014/main" id="{8646BA5D-E027-EB37-4FB1-F1E89411B7E5}"/>
                </a:ext>
              </a:extLst>
            </p:cNvPr>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6" name="Google Shape;407;p28">
              <a:extLst>
                <a:ext uri="{FF2B5EF4-FFF2-40B4-BE49-F238E27FC236}">
                  <a16:creationId xmlns:a16="http://schemas.microsoft.com/office/drawing/2014/main" id="{E14B6E25-598C-1A4C-19AB-11BAD7F95E39}"/>
                </a:ext>
              </a:extLst>
            </p:cNvPr>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7" name="Google Shape;408;p28">
              <a:extLst>
                <a:ext uri="{FF2B5EF4-FFF2-40B4-BE49-F238E27FC236}">
                  <a16:creationId xmlns:a16="http://schemas.microsoft.com/office/drawing/2014/main" id="{777A9883-7C29-CB9A-2EE9-6796D6F7FA62}"/>
                </a:ext>
              </a:extLst>
            </p:cNvPr>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8" name="Google Shape;409;p28">
              <a:extLst>
                <a:ext uri="{FF2B5EF4-FFF2-40B4-BE49-F238E27FC236}">
                  <a16:creationId xmlns:a16="http://schemas.microsoft.com/office/drawing/2014/main" id="{B3279C5A-198E-E978-531B-8D7F20E2332F}"/>
                </a:ext>
              </a:extLst>
            </p:cNvPr>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9" name="Google Shape;410;p28">
              <a:extLst>
                <a:ext uri="{FF2B5EF4-FFF2-40B4-BE49-F238E27FC236}">
                  <a16:creationId xmlns:a16="http://schemas.microsoft.com/office/drawing/2014/main" id="{A853923B-69CF-9435-E1AF-45165068552B}"/>
                </a:ext>
              </a:extLst>
            </p:cNvPr>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0" name="Google Shape;411;p28">
              <a:extLst>
                <a:ext uri="{FF2B5EF4-FFF2-40B4-BE49-F238E27FC236}">
                  <a16:creationId xmlns:a16="http://schemas.microsoft.com/office/drawing/2014/main" id="{71D19324-B448-E113-493C-4102039857E8}"/>
                </a:ext>
              </a:extLst>
            </p:cNvPr>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1" name="Google Shape;412;p28">
              <a:extLst>
                <a:ext uri="{FF2B5EF4-FFF2-40B4-BE49-F238E27FC236}">
                  <a16:creationId xmlns:a16="http://schemas.microsoft.com/office/drawing/2014/main" id="{F352A4EC-C468-3813-362B-37139485C9F6}"/>
                </a:ext>
              </a:extLst>
            </p:cNvPr>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2" name="Google Shape;413;p28">
              <a:extLst>
                <a:ext uri="{FF2B5EF4-FFF2-40B4-BE49-F238E27FC236}">
                  <a16:creationId xmlns:a16="http://schemas.microsoft.com/office/drawing/2014/main" id="{00117329-F343-DF54-142D-77FEADA6C1A9}"/>
                </a:ext>
              </a:extLst>
            </p:cNvPr>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3" name="Google Shape;414;p28">
              <a:extLst>
                <a:ext uri="{FF2B5EF4-FFF2-40B4-BE49-F238E27FC236}">
                  <a16:creationId xmlns:a16="http://schemas.microsoft.com/office/drawing/2014/main" id="{3C7CB09B-D681-4E8C-C5D4-39D98D168942}"/>
                </a:ext>
              </a:extLst>
            </p:cNvPr>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4" name="Google Shape;415;p28">
              <a:extLst>
                <a:ext uri="{FF2B5EF4-FFF2-40B4-BE49-F238E27FC236}">
                  <a16:creationId xmlns:a16="http://schemas.microsoft.com/office/drawing/2014/main" id="{9C97305D-DBD1-CFE8-41FA-99C7D0ECB4D5}"/>
                </a:ext>
              </a:extLst>
            </p:cNvPr>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5" name="Google Shape;416;p28">
              <a:extLst>
                <a:ext uri="{FF2B5EF4-FFF2-40B4-BE49-F238E27FC236}">
                  <a16:creationId xmlns:a16="http://schemas.microsoft.com/office/drawing/2014/main" id="{D796BDDD-4615-2E42-7B2B-C64BFAFCA57F}"/>
                </a:ext>
              </a:extLst>
            </p:cNvPr>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6" name="Google Shape;417;p28">
              <a:extLst>
                <a:ext uri="{FF2B5EF4-FFF2-40B4-BE49-F238E27FC236}">
                  <a16:creationId xmlns:a16="http://schemas.microsoft.com/office/drawing/2014/main" id="{E1E1F661-3EC9-9BA2-80F1-7F0A6BFE8B8F}"/>
                </a:ext>
              </a:extLst>
            </p:cNvPr>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7" name="Google Shape;418;p28">
              <a:extLst>
                <a:ext uri="{FF2B5EF4-FFF2-40B4-BE49-F238E27FC236}">
                  <a16:creationId xmlns:a16="http://schemas.microsoft.com/office/drawing/2014/main" id="{1F0E37EC-B720-E89A-0178-97DFFE436A3B}"/>
                </a:ext>
              </a:extLst>
            </p:cNvPr>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8" name="Google Shape;419;p28">
              <a:extLst>
                <a:ext uri="{FF2B5EF4-FFF2-40B4-BE49-F238E27FC236}">
                  <a16:creationId xmlns:a16="http://schemas.microsoft.com/office/drawing/2014/main" id="{101FADE1-F9D1-7B68-3306-3B9E1749CAA1}"/>
                </a:ext>
              </a:extLst>
            </p:cNvPr>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9" name="Google Shape;420;p28">
              <a:extLst>
                <a:ext uri="{FF2B5EF4-FFF2-40B4-BE49-F238E27FC236}">
                  <a16:creationId xmlns:a16="http://schemas.microsoft.com/office/drawing/2014/main" id="{DF67BF62-3DBF-E501-CF1D-FD12064BB5E7}"/>
                </a:ext>
              </a:extLst>
            </p:cNvPr>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0" name="Google Shape;421;p28">
              <a:extLst>
                <a:ext uri="{FF2B5EF4-FFF2-40B4-BE49-F238E27FC236}">
                  <a16:creationId xmlns:a16="http://schemas.microsoft.com/office/drawing/2014/main" id="{536CBD22-B015-BB91-7AAF-5E982FA677F8}"/>
                </a:ext>
              </a:extLst>
            </p:cNvPr>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1" name="Google Shape;422;p28">
              <a:extLst>
                <a:ext uri="{FF2B5EF4-FFF2-40B4-BE49-F238E27FC236}">
                  <a16:creationId xmlns:a16="http://schemas.microsoft.com/office/drawing/2014/main" id="{B04D2F77-4975-3E5C-AF7D-9E0CF1BDA60E}"/>
                </a:ext>
              </a:extLst>
            </p:cNvPr>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2" name="Google Shape;423;p28">
              <a:extLst>
                <a:ext uri="{FF2B5EF4-FFF2-40B4-BE49-F238E27FC236}">
                  <a16:creationId xmlns:a16="http://schemas.microsoft.com/office/drawing/2014/main" id="{5A48276B-93A1-1B32-194E-E46AA10BA5A9}"/>
                </a:ext>
              </a:extLst>
            </p:cNvPr>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3" name="Google Shape;424;p28">
              <a:extLst>
                <a:ext uri="{FF2B5EF4-FFF2-40B4-BE49-F238E27FC236}">
                  <a16:creationId xmlns:a16="http://schemas.microsoft.com/office/drawing/2014/main" id="{A57FDD85-AB0D-01CD-908E-A04AD8AEC41A}"/>
                </a:ext>
              </a:extLst>
            </p:cNvPr>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4" name="Google Shape;425;p28">
              <a:extLst>
                <a:ext uri="{FF2B5EF4-FFF2-40B4-BE49-F238E27FC236}">
                  <a16:creationId xmlns:a16="http://schemas.microsoft.com/office/drawing/2014/main" id="{2952EB07-EE07-F6F2-9EFF-FC4362FC0CF7}"/>
                </a:ext>
              </a:extLst>
            </p:cNvPr>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5" name="Google Shape;426;p28">
              <a:extLst>
                <a:ext uri="{FF2B5EF4-FFF2-40B4-BE49-F238E27FC236}">
                  <a16:creationId xmlns:a16="http://schemas.microsoft.com/office/drawing/2014/main" id="{A7DB2770-4F25-382A-E3D9-77F95C282BCE}"/>
                </a:ext>
              </a:extLst>
            </p:cNvPr>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6" name="Google Shape;427;p28">
              <a:extLst>
                <a:ext uri="{FF2B5EF4-FFF2-40B4-BE49-F238E27FC236}">
                  <a16:creationId xmlns:a16="http://schemas.microsoft.com/office/drawing/2014/main" id="{F35A103B-AA56-54C7-523C-18F2A1400220}"/>
                </a:ext>
              </a:extLst>
            </p:cNvPr>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7" name="Google Shape;428;p28">
              <a:extLst>
                <a:ext uri="{FF2B5EF4-FFF2-40B4-BE49-F238E27FC236}">
                  <a16:creationId xmlns:a16="http://schemas.microsoft.com/office/drawing/2014/main" id="{FB8153CA-996A-91EE-B9B7-7A84FF38F5D4}"/>
                </a:ext>
              </a:extLst>
            </p:cNvPr>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8" name="Google Shape;429;p28">
              <a:extLst>
                <a:ext uri="{FF2B5EF4-FFF2-40B4-BE49-F238E27FC236}">
                  <a16:creationId xmlns:a16="http://schemas.microsoft.com/office/drawing/2014/main" id="{05DEDD44-FC6A-2EF9-6AF4-71FAB3C3361F}"/>
                </a:ext>
              </a:extLst>
            </p:cNvPr>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9" name="Google Shape;430;p28">
              <a:extLst>
                <a:ext uri="{FF2B5EF4-FFF2-40B4-BE49-F238E27FC236}">
                  <a16:creationId xmlns:a16="http://schemas.microsoft.com/office/drawing/2014/main" id="{23820A57-1F99-E2F6-1770-B02A42E530B4}"/>
                </a:ext>
              </a:extLst>
            </p:cNvPr>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0" name="Google Shape;431;p28">
              <a:extLst>
                <a:ext uri="{FF2B5EF4-FFF2-40B4-BE49-F238E27FC236}">
                  <a16:creationId xmlns:a16="http://schemas.microsoft.com/office/drawing/2014/main" id="{7A3F9119-BC2F-248D-756A-F57AF097F465}"/>
                </a:ext>
              </a:extLst>
            </p:cNvPr>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171" name="Google Shape;432;p28">
              <a:extLst>
                <a:ext uri="{FF2B5EF4-FFF2-40B4-BE49-F238E27FC236}">
                  <a16:creationId xmlns:a16="http://schemas.microsoft.com/office/drawing/2014/main" id="{5F95ECF4-5874-093D-8D6B-DB632F2756D1}"/>
                </a:ext>
              </a:extLst>
            </p:cNvPr>
            <p:cNvCxnSpPr>
              <a:stCxn id="100" idx="3"/>
              <a:endCxn id="133" idx="0"/>
            </p:cNvCxnSpPr>
            <p:nvPr/>
          </p:nvCxnSpPr>
          <p:spPr>
            <a:xfrm>
              <a:off x="2342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2" name="Google Shape;433;p28">
              <a:extLst>
                <a:ext uri="{FF2B5EF4-FFF2-40B4-BE49-F238E27FC236}">
                  <a16:creationId xmlns:a16="http://schemas.microsoft.com/office/drawing/2014/main" id="{4EE779D7-6284-B424-0C2B-BB3EF2B64451}"/>
                </a:ext>
              </a:extLst>
            </p:cNvPr>
            <p:cNvCxnSpPr>
              <a:stCxn id="101" idx="3"/>
            </p:cNvCxnSpPr>
            <p:nvPr/>
          </p:nvCxnSpPr>
          <p:spPr>
            <a:xfrm>
              <a:off x="25178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3" name="Google Shape;434;p28">
              <a:extLst>
                <a:ext uri="{FF2B5EF4-FFF2-40B4-BE49-F238E27FC236}">
                  <a16:creationId xmlns:a16="http://schemas.microsoft.com/office/drawing/2014/main" id="{5741B2B2-EF97-2A76-1AB2-AE345F0F67CE}"/>
                </a:ext>
              </a:extLst>
            </p:cNvPr>
            <p:cNvCxnSpPr>
              <a:stCxn id="102" idx="3"/>
            </p:cNvCxnSpPr>
            <p:nvPr/>
          </p:nvCxnSpPr>
          <p:spPr>
            <a:xfrm>
              <a:off x="2692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4" name="Google Shape;435;p28">
              <a:extLst>
                <a:ext uri="{FF2B5EF4-FFF2-40B4-BE49-F238E27FC236}">
                  <a16:creationId xmlns:a16="http://schemas.microsoft.com/office/drawing/2014/main" id="{D1A41D0F-78A8-8599-EC16-58D5566206EA}"/>
                </a:ext>
              </a:extLst>
            </p:cNvPr>
            <p:cNvCxnSpPr>
              <a:stCxn id="103" idx="3"/>
            </p:cNvCxnSpPr>
            <p:nvPr/>
          </p:nvCxnSpPr>
          <p:spPr>
            <a:xfrm>
              <a:off x="2867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5" name="Google Shape;436;p28">
              <a:extLst>
                <a:ext uri="{FF2B5EF4-FFF2-40B4-BE49-F238E27FC236}">
                  <a16:creationId xmlns:a16="http://schemas.microsoft.com/office/drawing/2014/main" id="{43182CF4-0BFE-D2C8-3272-AC888A0C4B32}"/>
                </a:ext>
              </a:extLst>
            </p:cNvPr>
            <p:cNvCxnSpPr>
              <a:stCxn id="104" idx="3"/>
            </p:cNvCxnSpPr>
            <p:nvPr/>
          </p:nvCxnSpPr>
          <p:spPr>
            <a:xfrm>
              <a:off x="3042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6" name="Google Shape;437;p28">
              <a:extLst>
                <a:ext uri="{FF2B5EF4-FFF2-40B4-BE49-F238E27FC236}">
                  <a16:creationId xmlns:a16="http://schemas.microsoft.com/office/drawing/2014/main" id="{96D02728-D805-B041-A7F3-E93327F6B890}"/>
                </a:ext>
              </a:extLst>
            </p:cNvPr>
            <p:cNvCxnSpPr>
              <a:stCxn id="99" idx="3"/>
            </p:cNvCxnSpPr>
            <p:nvPr/>
          </p:nvCxnSpPr>
          <p:spPr>
            <a:xfrm>
              <a:off x="2168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7" name="Google Shape;438;p28">
              <a:extLst>
                <a:ext uri="{FF2B5EF4-FFF2-40B4-BE49-F238E27FC236}">
                  <a16:creationId xmlns:a16="http://schemas.microsoft.com/office/drawing/2014/main" id="{03C5F82D-561F-0592-CD68-C3A27ABADE04}"/>
                </a:ext>
              </a:extLst>
            </p:cNvPr>
            <p:cNvCxnSpPr>
              <a:stCxn id="98" idx="3"/>
            </p:cNvCxnSpPr>
            <p:nvPr/>
          </p:nvCxnSpPr>
          <p:spPr>
            <a:xfrm>
              <a:off x="1993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8" name="Google Shape;439;p28">
              <a:extLst>
                <a:ext uri="{FF2B5EF4-FFF2-40B4-BE49-F238E27FC236}">
                  <a16:creationId xmlns:a16="http://schemas.microsoft.com/office/drawing/2014/main" id="{46A680C4-8FBB-F1A7-70CE-EF89A09E92AE}"/>
                </a:ext>
              </a:extLst>
            </p:cNvPr>
            <p:cNvCxnSpPr>
              <a:stCxn id="97" idx="3"/>
            </p:cNvCxnSpPr>
            <p:nvPr/>
          </p:nvCxnSpPr>
          <p:spPr>
            <a:xfrm>
              <a:off x="1818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9" name="Google Shape;440;p28">
              <a:extLst>
                <a:ext uri="{FF2B5EF4-FFF2-40B4-BE49-F238E27FC236}">
                  <a16:creationId xmlns:a16="http://schemas.microsoft.com/office/drawing/2014/main" id="{D566EFD4-9483-931B-61C5-C651947B9202}"/>
                </a:ext>
              </a:extLst>
            </p:cNvPr>
            <p:cNvCxnSpPr>
              <a:stCxn id="96" idx="3"/>
            </p:cNvCxnSpPr>
            <p:nvPr/>
          </p:nvCxnSpPr>
          <p:spPr>
            <a:xfrm>
              <a:off x="16433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80" name="Google Shape;441;p28">
              <a:extLst>
                <a:ext uri="{FF2B5EF4-FFF2-40B4-BE49-F238E27FC236}">
                  <a16:creationId xmlns:a16="http://schemas.microsoft.com/office/drawing/2014/main" id="{A8EB6EB7-2A5C-D9D9-3D02-48A086143F51}"/>
                </a:ext>
              </a:extLst>
            </p:cNvPr>
            <p:cNvCxnSpPr>
              <a:stCxn id="133" idx="2"/>
              <a:endCxn id="86" idx="0"/>
            </p:cNvCxnSpPr>
            <p:nvPr/>
          </p:nvCxnSpPr>
          <p:spPr>
            <a:xfrm>
              <a:off x="23429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181" name="Google Shape;442;p28">
              <a:extLst>
                <a:ext uri="{FF2B5EF4-FFF2-40B4-BE49-F238E27FC236}">
                  <a16:creationId xmlns:a16="http://schemas.microsoft.com/office/drawing/2014/main" id="{45EFB6E0-F43B-4CD4-A311-0C60CB2D805A}"/>
                </a:ext>
              </a:extLst>
            </p:cNvPr>
            <p:cNvSpPr/>
            <p:nvPr/>
          </p:nvSpPr>
          <p:spPr>
            <a:xfrm>
              <a:off x="11226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182" name="Google Shape;443;p28">
              <a:extLst>
                <a:ext uri="{FF2B5EF4-FFF2-40B4-BE49-F238E27FC236}">
                  <a16:creationId xmlns:a16="http://schemas.microsoft.com/office/drawing/2014/main" id="{76CF2153-446E-893C-4596-7797BA9D1B65}"/>
                </a:ext>
              </a:extLst>
            </p:cNvPr>
            <p:cNvSpPr/>
            <p:nvPr/>
          </p:nvSpPr>
          <p:spPr>
            <a:xfrm>
              <a:off x="14412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183" name="Google Shape;444;p28">
              <a:extLst>
                <a:ext uri="{FF2B5EF4-FFF2-40B4-BE49-F238E27FC236}">
                  <a16:creationId xmlns:a16="http://schemas.microsoft.com/office/drawing/2014/main" id="{5B958130-6C7D-65A2-F2F8-0E5F5768931F}"/>
                </a:ext>
              </a:extLst>
            </p:cNvPr>
            <p:cNvSpPr txBox="1"/>
            <p:nvPr/>
          </p:nvSpPr>
          <p:spPr>
            <a:xfrm>
              <a:off x="3654650" y="2825825"/>
              <a:ext cx="26976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6AA84F"/>
                  </a:solidFill>
                  <a:latin typeface="Roboto"/>
                  <a:ea typeface="Roboto"/>
                  <a:cs typeface="Roboto"/>
                  <a:sym typeface="Roboto"/>
                </a:rPr>
                <a:t>TCP header carries a sequence number indicating where in the bytestream this segment fits.</a:t>
              </a:r>
              <a:endParaRPr dirty="0">
                <a:solidFill>
                  <a:srgbClr val="6AA84F"/>
                </a:solidFill>
                <a:latin typeface="Roboto"/>
                <a:ea typeface="Roboto"/>
                <a:cs typeface="Roboto"/>
                <a:sym typeface="Roboto"/>
              </a:endParaRPr>
            </a:p>
          </p:txBody>
        </p:sp>
      </p:grpSp>
    </p:spTree>
    <p:extLst>
      <p:ext uri="{BB962C8B-B14F-4D97-AF65-F5344CB8AC3E}">
        <p14:creationId xmlns:p14="http://schemas.microsoft.com/office/powerpoint/2010/main" val="1494006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AABE2-58F9-5263-1BEF-0B536307072A}"/>
            </a:ext>
          </a:extLst>
        </p:cNvPr>
        <p:cNvGrpSpPr/>
        <p:nvPr/>
      </p:nvGrpSpPr>
      <p:grpSpPr>
        <a:xfrm>
          <a:off x="0" y="0"/>
          <a:ext cx="0" cy="0"/>
          <a:chOff x="0" y="0"/>
          <a:chExt cx="0" cy="0"/>
        </a:xfrm>
      </p:grpSpPr>
      <p:sp>
        <p:nvSpPr>
          <p:cNvPr id="2" name="Google Shape;258;p27">
            <a:extLst>
              <a:ext uri="{FF2B5EF4-FFF2-40B4-BE49-F238E27FC236}">
                <a16:creationId xmlns:a16="http://schemas.microsoft.com/office/drawing/2014/main" id="{AA9357EE-37E5-FAB3-E033-D7FF6A2CBA42}"/>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a:t>TCP Segments</a:t>
            </a:r>
            <a:endParaRPr lang="en-US" dirty="0"/>
          </a:p>
        </p:txBody>
      </p:sp>
      <p:sp>
        <p:nvSpPr>
          <p:cNvPr id="4" name="Google Shape;450;p29">
            <a:extLst>
              <a:ext uri="{FF2B5EF4-FFF2-40B4-BE49-F238E27FC236}">
                <a16:creationId xmlns:a16="http://schemas.microsoft.com/office/drawing/2014/main" id="{F18569B0-822F-903F-BB16-B0672E0B8C3A}"/>
              </a:ext>
            </a:extLst>
          </p:cNvPr>
          <p:cNvSpPr txBox="1">
            <a:spLocks/>
          </p:cNvSpPr>
          <p:nvPr/>
        </p:nvSpPr>
        <p:spPr>
          <a:xfrm>
            <a:off x="871750" y="757007"/>
            <a:ext cx="10448500" cy="275895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b="1" dirty="0"/>
              <a:t>TCP/IP packet</a:t>
            </a:r>
            <a:r>
              <a:rPr lang="en-US" dirty="0"/>
              <a:t>: IP packet with TCP header and TCP data inside</a:t>
            </a:r>
          </a:p>
          <a:p>
            <a:pPr marL="0" indent="0">
              <a:spcBef>
                <a:spcPts val="600"/>
              </a:spcBef>
              <a:spcAft>
                <a:spcPts val="600"/>
              </a:spcAft>
              <a:buFont typeface="Arial" panose="020B0604020202020204" pitchFamily="34" charset="0"/>
              <a:buNone/>
            </a:pPr>
            <a:endParaRPr lang="en-US" sz="1600" dirty="0"/>
          </a:p>
          <a:p>
            <a:pPr marL="0" indent="0">
              <a:spcBef>
                <a:spcPts val="600"/>
              </a:spcBef>
              <a:spcAft>
                <a:spcPts val="600"/>
              </a:spcAft>
              <a:buFont typeface="Arial" panose="020B0604020202020204" pitchFamily="34" charset="0"/>
              <a:buNone/>
            </a:pPr>
            <a:r>
              <a:rPr lang="en-US" sz="2400" dirty="0"/>
              <a:t>Size limits (</a:t>
            </a:r>
            <a:r>
              <a:rPr lang="en-US" sz="2400" dirty="0">
                <a:hlinkClick r:id="rId3"/>
              </a:rPr>
              <a:t>RFC 879 standard</a:t>
            </a:r>
            <a:r>
              <a:rPr lang="en-US" sz="2400" dirty="0"/>
              <a:t>):</a:t>
            </a:r>
          </a:p>
          <a:p>
            <a:pPr marL="457200" indent="-342900">
              <a:spcBef>
                <a:spcPts val="600"/>
              </a:spcBef>
              <a:spcAft>
                <a:spcPts val="600"/>
              </a:spcAft>
              <a:buSzPts val="1800"/>
              <a:buFont typeface="Arial" panose="020B0604020202020204" pitchFamily="34" charset="0"/>
              <a:buChar char="●"/>
            </a:pPr>
            <a:r>
              <a:rPr lang="en-US" sz="2400" dirty="0"/>
              <a:t>IP packet: Maximum transmission unit (MTU, e.g., 1500 bytes)</a:t>
            </a:r>
          </a:p>
          <a:p>
            <a:pPr marL="457200" indent="-342900">
              <a:spcBef>
                <a:spcPts val="0"/>
              </a:spcBef>
              <a:spcAft>
                <a:spcPts val="600"/>
              </a:spcAft>
              <a:buSzPts val="1800"/>
              <a:buFont typeface="Arial" panose="020B0604020202020204" pitchFamily="34" charset="0"/>
              <a:buChar char="●"/>
            </a:pPr>
            <a:r>
              <a:rPr lang="en-US" sz="2400" dirty="0"/>
              <a:t>TCP segment: Maximum segment size (MSS)</a:t>
            </a:r>
          </a:p>
          <a:p>
            <a:pPr marL="457200" indent="-342900">
              <a:spcBef>
                <a:spcPts val="0"/>
              </a:spcBef>
              <a:spcAft>
                <a:spcPts val="600"/>
              </a:spcAft>
              <a:buSzPts val="1800"/>
              <a:buFont typeface="Arial" panose="020B0604020202020204" pitchFamily="34" charset="0"/>
              <a:buChar char="●"/>
            </a:pPr>
            <a:r>
              <a:rPr lang="en-US" sz="2400" b="1" i="1" dirty="0"/>
              <a:t>MSS = MTU – (IP header) – (TCP header)</a:t>
            </a:r>
          </a:p>
        </p:txBody>
      </p:sp>
      <p:grpSp>
        <p:nvGrpSpPr>
          <p:cNvPr id="17" name="Group 16">
            <a:extLst>
              <a:ext uri="{FF2B5EF4-FFF2-40B4-BE49-F238E27FC236}">
                <a16:creationId xmlns:a16="http://schemas.microsoft.com/office/drawing/2014/main" id="{17947C96-AB45-F6FC-D918-9AA8A2849353}"/>
              </a:ext>
            </a:extLst>
          </p:cNvPr>
          <p:cNvGrpSpPr/>
          <p:nvPr/>
        </p:nvGrpSpPr>
        <p:grpSpPr>
          <a:xfrm>
            <a:off x="2204756" y="3595456"/>
            <a:ext cx="7782488" cy="3262544"/>
            <a:chOff x="2089750" y="2980600"/>
            <a:chExt cx="4944300" cy="1785300"/>
          </a:xfrm>
        </p:grpSpPr>
        <p:sp>
          <p:nvSpPr>
            <p:cNvPr id="5" name="Google Shape;451;p29">
              <a:extLst>
                <a:ext uri="{FF2B5EF4-FFF2-40B4-BE49-F238E27FC236}">
                  <a16:creationId xmlns:a16="http://schemas.microsoft.com/office/drawing/2014/main" id="{6B80C29C-E5D7-A72A-F69F-F73E88D3A7F9}"/>
                </a:ext>
              </a:extLst>
            </p:cNvPr>
            <p:cNvSpPr/>
            <p:nvPr/>
          </p:nvSpPr>
          <p:spPr>
            <a:xfrm>
              <a:off x="3241750" y="3656050"/>
              <a:ext cx="1152000" cy="739200"/>
            </a:xfrm>
            <a:prstGeom prst="rect">
              <a:avLst/>
            </a:prstGeom>
            <a:solidFill>
              <a:srgbClr val="B6D7A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Header</a:t>
              </a:r>
              <a:endParaRPr>
                <a:latin typeface="Roboto"/>
                <a:ea typeface="Roboto"/>
                <a:cs typeface="Roboto"/>
                <a:sym typeface="Roboto"/>
              </a:endParaRPr>
            </a:p>
          </p:txBody>
        </p:sp>
        <p:sp>
          <p:nvSpPr>
            <p:cNvPr id="6" name="Google Shape;452;p29">
              <a:extLst>
                <a:ext uri="{FF2B5EF4-FFF2-40B4-BE49-F238E27FC236}">
                  <a16:creationId xmlns:a16="http://schemas.microsoft.com/office/drawing/2014/main" id="{6A64D8CD-5760-B8F6-64D3-31FAD0CCB508}"/>
                </a:ext>
              </a:extLst>
            </p:cNvPr>
            <p:cNvSpPr/>
            <p:nvPr/>
          </p:nvSpPr>
          <p:spPr>
            <a:xfrm>
              <a:off x="4393750" y="3656050"/>
              <a:ext cx="2640300" cy="739200"/>
            </a:xfrm>
            <a:prstGeom prst="rect">
              <a:avLst/>
            </a:prstGeom>
            <a:solidFill>
              <a:srgbClr val="9FC5E8"/>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Payload (Segment)</a:t>
              </a:r>
              <a:endParaRPr>
                <a:latin typeface="Roboto"/>
                <a:ea typeface="Roboto"/>
                <a:cs typeface="Roboto"/>
                <a:sym typeface="Roboto"/>
              </a:endParaRPr>
            </a:p>
          </p:txBody>
        </p:sp>
        <p:sp>
          <p:nvSpPr>
            <p:cNvPr id="7" name="Google Shape;453;p29">
              <a:extLst>
                <a:ext uri="{FF2B5EF4-FFF2-40B4-BE49-F238E27FC236}">
                  <a16:creationId xmlns:a16="http://schemas.microsoft.com/office/drawing/2014/main" id="{D0E8F129-DD04-3E69-6136-62E512FF43D0}"/>
                </a:ext>
              </a:extLst>
            </p:cNvPr>
            <p:cNvSpPr/>
            <p:nvPr/>
          </p:nvSpPr>
          <p:spPr>
            <a:xfrm>
              <a:off x="2089750" y="3656050"/>
              <a:ext cx="1152000" cy="739200"/>
            </a:xfrm>
            <a:prstGeom prst="rect">
              <a:avLst/>
            </a:prstGeom>
            <a:solidFill>
              <a:srgbClr val="F9CB9C"/>
            </a:solidFill>
            <a:ln w="9525" cap="flat" cmpd="sng">
              <a:solidFill>
                <a:srgbClr val="6666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IP Header</a:t>
              </a:r>
              <a:endParaRPr>
                <a:latin typeface="Roboto"/>
                <a:ea typeface="Roboto"/>
                <a:cs typeface="Roboto"/>
                <a:sym typeface="Roboto"/>
              </a:endParaRPr>
            </a:p>
          </p:txBody>
        </p:sp>
        <p:grpSp>
          <p:nvGrpSpPr>
            <p:cNvPr id="8" name="Google Shape;454;p29">
              <a:extLst>
                <a:ext uri="{FF2B5EF4-FFF2-40B4-BE49-F238E27FC236}">
                  <a16:creationId xmlns:a16="http://schemas.microsoft.com/office/drawing/2014/main" id="{574FEBBC-836B-C2EC-F018-6A7B3E5CFFC0}"/>
                </a:ext>
              </a:extLst>
            </p:cNvPr>
            <p:cNvGrpSpPr/>
            <p:nvPr/>
          </p:nvGrpSpPr>
          <p:grpSpPr>
            <a:xfrm>
              <a:off x="3241750" y="4504600"/>
              <a:ext cx="3792300" cy="261300"/>
              <a:chOff x="3241750" y="4504600"/>
              <a:chExt cx="3792300" cy="261300"/>
            </a:xfrm>
          </p:grpSpPr>
          <p:cxnSp>
            <p:nvCxnSpPr>
              <p:cNvPr id="9" name="Google Shape;455;p29">
                <a:extLst>
                  <a:ext uri="{FF2B5EF4-FFF2-40B4-BE49-F238E27FC236}">
                    <a16:creationId xmlns:a16="http://schemas.microsoft.com/office/drawing/2014/main" id="{FAA6BC6D-0807-0E76-E3E3-E8FC4FE8C16E}"/>
                  </a:ext>
                </a:extLst>
              </p:cNvPr>
              <p:cNvCxnSpPr/>
              <p:nvPr/>
            </p:nvCxnSpPr>
            <p:spPr>
              <a:xfrm>
                <a:off x="3241750" y="4635250"/>
                <a:ext cx="3792300" cy="0"/>
              </a:xfrm>
              <a:prstGeom prst="straightConnector1">
                <a:avLst/>
              </a:prstGeom>
              <a:noFill/>
              <a:ln w="9525" cap="flat" cmpd="sng">
                <a:solidFill>
                  <a:schemeClr val="accent2"/>
                </a:solidFill>
                <a:prstDash val="solid"/>
                <a:round/>
                <a:headEnd type="triangle" w="med" len="med"/>
                <a:tailEnd type="triangle" w="med" len="med"/>
              </a:ln>
            </p:spPr>
          </p:cxnSp>
          <p:sp>
            <p:nvSpPr>
              <p:cNvPr id="10" name="Google Shape;456;p29">
                <a:extLst>
                  <a:ext uri="{FF2B5EF4-FFF2-40B4-BE49-F238E27FC236}">
                    <a16:creationId xmlns:a16="http://schemas.microsoft.com/office/drawing/2014/main" id="{9516DC90-9D15-52BE-896C-DEC363F10C62}"/>
                  </a:ext>
                </a:extLst>
              </p:cNvPr>
              <p:cNvSpPr txBox="1"/>
              <p:nvPr/>
            </p:nvSpPr>
            <p:spPr>
              <a:xfrm>
                <a:off x="4681600" y="4504600"/>
                <a:ext cx="9126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IP Payload</a:t>
                </a:r>
                <a:endParaRPr>
                  <a:solidFill>
                    <a:schemeClr val="accent2"/>
                  </a:solidFill>
                  <a:latin typeface="Roboto"/>
                  <a:ea typeface="Roboto"/>
                  <a:cs typeface="Roboto"/>
                  <a:sym typeface="Roboto"/>
                </a:endParaRPr>
              </a:p>
            </p:txBody>
          </p:sp>
        </p:grpSp>
        <p:grpSp>
          <p:nvGrpSpPr>
            <p:cNvPr id="11" name="Google Shape;457;p29">
              <a:extLst>
                <a:ext uri="{FF2B5EF4-FFF2-40B4-BE49-F238E27FC236}">
                  <a16:creationId xmlns:a16="http://schemas.microsoft.com/office/drawing/2014/main" id="{98ED7364-43A1-98BE-2FEA-38A5E9740675}"/>
                </a:ext>
              </a:extLst>
            </p:cNvPr>
            <p:cNvGrpSpPr/>
            <p:nvPr/>
          </p:nvGrpSpPr>
          <p:grpSpPr>
            <a:xfrm>
              <a:off x="2089750" y="2980600"/>
              <a:ext cx="4944300" cy="261300"/>
              <a:chOff x="2089750" y="2980600"/>
              <a:chExt cx="4944300" cy="261300"/>
            </a:xfrm>
          </p:grpSpPr>
          <p:cxnSp>
            <p:nvCxnSpPr>
              <p:cNvPr id="12" name="Google Shape;458;p29">
                <a:extLst>
                  <a:ext uri="{FF2B5EF4-FFF2-40B4-BE49-F238E27FC236}">
                    <a16:creationId xmlns:a16="http://schemas.microsoft.com/office/drawing/2014/main" id="{229DFE35-9F7C-717C-E4DF-6E8058FB282C}"/>
                  </a:ext>
                </a:extLst>
              </p:cNvPr>
              <p:cNvCxnSpPr/>
              <p:nvPr/>
            </p:nvCxnSpPr>
            <p:spPr>
              <a:xfrm>
                <a:off x="2089750" y="3111250"/>
                <a:ext cx="4944300" cy="0"/>
              </a:xfrm>
              <a:prstGeom prst="straightConnector1">
                <a:avLst/>
              </a:prstGeom>
              <a:noFill/>
              <a:ln w="9525" cap="flat" cmpd="sng">
                <a:solidFill>
                  <a:schemeClr val="accent2"/>
                </a:solidFill>
                <a:prstDash val="solid"/>
                <a:round/>
                <a:headEnd type="triangle" w="med" len="med"/>
                <a:tailEnd type="triangle" w="med" len="med"/>
              </a:ln>
            </p:spPr>
          </p:cxnSp>
          <p:sp>
            <p:nvSpPr>
              <p:cNvPr id="13" name="Google Shape;459;p29">
                <a:extLst>
                  <a:ext uri="{FF2B5EF4-FFF2-40B4-BE49-F238E27FC236}">
                    <a16:creationId xmlns:a16="http://schemas.microsoft.com/office/drawing/2014/main" id="{C1C1A899-9DFE-26B8-A819-9EEC2CD6BB35}"/>
                  </a:ext>
                </a:extLst>
              </p:cNvPr>
              <p:cNvSpPr txBox="1"/>
              <p:nvPr/>
            </p:nvSpPr>
            <p:spPr>
              <a:xfrm>
                <a:off x="3891002" y="2980600"/>
                <a:ext cx="1362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Limit </a:t>
                </a:r>
                <a:r>
                  <a:rPr lang="en" i="1">
                    <a:solidFill>
                      <a:schemeClr val="accent2"/>
                    </a:solidFill>
                    <a:latin typeface="Roboto"/>
                    <a:ea typeface="Roboto"/>
                    <a:cs typeface="Roboto"/>
                    <a:sym typeface="Roboto"/>
                  </a:rPr>
                  <a:t>MTU</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grpSp>
          <p:nvGrpSpPr>
            <p:cNvPr id="14" name="Google Shape;460;p29">
              <a:extLst>
                <a:ext uri="{FF2B5EF4-FFF2-40B4-BE49-F238E27FC236}">
                  <a16:creationId xmlns:a16="http://schemas.microsoft.com/office/drawing/2014/main" id="{D8D2C50A-2395-3966-DC97-BA875FE6AD31}"/>
                </a:ext>
              </a:extLst>
            </p:cNvPr>
            <p:cNvGrpSpPr/>
            <p:nvPr/>
          </p:nvGrpSpPr>
          <p:grpSpPr>
            <a:xfrm>
              <a:off x="4393750" y="3285400"/>
              <a:ext cx="2640300" cy="261300"/>
              <a:chOff x="4393750" y="3285400"/>
              <a:chExt cx="2640300" cy="261300"/>
            </a:xfrm>
          </p:grpSpPr>
          <p:cxnSp>
            <p:nvCxnSpPr>
              <p:cNvPr id="15" name="Google Shape;461;p29">
                <a:extLst>
                  <a:ext uri="{FF2B5EF4-FFF2-40B4-BE49-F238E27FC236}">
                    <a16:creationId xmlns:a16="http://schemas.microsoft.com/office/drawing/2014/main" id="{A8A94D55-CB41-52D4-C3C1-F09A58E54B5F}"/>
                  </a:ext>
                </a:extLst>
              </p:cNvPr>
              <p:cNvCxnSpPr/>
              <p:nvPr/>
            </p:nvCxnSpPr>
            <p:spPr>
              <a:xfrm>
                <a:off x="4393750" y="3416050"/>
                <a:ext cx="2640300" cy="0"/>
              </a:xfrm>
              <a:prstGeom prst="straightConnector1">
                <a:avLst/>
              </a:prstGeom>
              <a:noFill/>
              <a:ln w="9525" cap="flat" cmpd="sng">
                <a:solidFill>
                  <a:schemeClr val="accent2"/>
                </a:solidFill>
                <a:prstDash val="solid"/>
                <a:round/>
                <a:headEnd type="triangle" w="med" len="med"/>
                <a:tailEnd type="triangle" w="med" len="med"/>
              </a:ln>
            </p:spPr>
          </p:cxnSp>
          <p:sp>
            <p:nvSpPr>
              <p:cNvPr id="16" name="Google Shape;462;p29">
                <a:extLst>
                  <a:ext uri="{FF2B5EF4-FFF2-40B4-BE49-F238E27FC236}">
                    <a16:creationId xmlns:a16="http://schemas.microsoft.com/office/drawing/2014/main" id="{85B073D8-B766-AA1E-A449-32580CBA134E}"/>
                  </a:ext>
                </a:extLst>
              </p:cNvPr>
              <p:cNvSpPr txBox="1"/>
              <p:nvPr/>
            </p:nvSpPr>
            <p:spPr>
              <a:xfrm>
                <a:off x="5032902" y="3285400"/>
                <a:ext cx="1362000" cy="261300"/>
              </a:xfrm>
              <a:prstGeom prst="rect">
                <a:avLst/>
              </a:prstGeom>
              <a:solidFill>
                <a:srgbClr val="FFFFFF"/>
              </a:solid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Limit </a:t>
                </a:r>
                <a:r>
                  <a:rPr lang="en" i="1">
                    <a:solidFill>
                      <a:schemeClr val="accent2"/>
                    </a:solidFill>
                    <a:latin typeface="Roboto"/>
                    <a:ea typeface="Roboto"/>
                    <a:cs typeface="Roboto"/>
                    <a:sym typeface="Roboto"/>
                  </a:rPr>
                  <a:t>MSS</a:t>
                </a:r>
                <a:r>
                  <a:rPr lang="en">
                    <a:solidFill>
                      <a:schemeClr val="accent2"/>
                    </a:solidFill>
                    <a:latin typeface="Roboto"/>
                    <a:ea typeface="Roboto"/>
                    <a:cs typeface="Roboto"/>
                    <a:sym typeface="Roboto"/>
                  </a:rPr>
                  <a:t> bytes</a:t>
                </a:r>
                <a:endParaRPr>
                  <a:solidFill>
                    <a:schemeClr val="accent2"/>
                  </a:solidFill>
                  <a:latin typeface="Roboto"/>
                  <a:ea typeface="Roboto"/>
                  <a:cs typeface="Roboto"/>
                  <a:sym typeface="Roboto"/>
                </a:endParaRPr>
              </a:p>
            </p:txBody>
          </p:sp>
        </p:grpSp>
      </p:grpSp>
    </p:spTree>
    <p:extLst>
      <p:ext uri="{BB962C8B-B14F-4D97-AF65-F5344CB8AC3E}">
        <p14:creationId xmlns:p14="http://schemas.microsoft.com/office/powerpoint/2010/main" val="1820256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FD47B-2559-6FC5-18AA-2DC602D96D79}"/>
            </a:ext>
          </a:extLst>
        </p:cNvPr>
        <p:cNvGrpSpPr/>
        <p:nvPr/>
      </p:nvGrpSpPr>
      <p:grpSpPr>
        <a:xfrm>
          <a:off x="0" y="0"/>
          <a:ext cx="0" cy="0"/>
          <a:chOff x="0" y="0"/>
          <a:chExt cx="0" cy="0"/>
        </a:xfrm>
      </p:grpSpPr>
      <p:sp>
        <p:nvSpPr>
          <p:cNvPr id="2" name="Google Shape;258;p27">
            <a:extLst>
              <a:ext uri="{FF2B5EF4-FFF2-40B4-BE49-F238E27FC236}">
                <a16:creationId xmlns:a16="http://schemas.microsoft.com/office/drawing/2014/main" id="{2F3835DA-C680-A196-54AC-AF0710BA7FA6}"/>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t>TCP Sequence Numbers</a:t>
            </a:r>
          </a:p>
        </p:txBody>
      </p:sp>
      <p:sp>
        <p:nvSpPr>
          <p:cNvPr id="3" name="Google Shape;468;p30">
            <a:extLst>
              <a:ext uri="{FF2B5EF4-FFF2-40B4-BE49-F238E27FC236}">
                <a16:creationId xmlns:a16="http://schemas.microsoft.com/office/drawing/2014/main" id="{919F5DB0-60B8-67CF-51D7-F01764D33EA2}"/>
              </a:ext>
            </a:extLst>
          </p:cNvPr>
          <p:cNvSpPr txBox="1">
            <a:spLocks/>
          </p:cNvSpPr>
          <p:nvPr/>
        </p:nvSpPr>
        <p:spPr>
          <a:xfrm>
            <a:off x="3477" y="748429"/>
            <a:ext cx="12188523" cy="159527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dirty="0"/>
              <a:t>Numbering starts at a </a:t>
            </a:r>
            <a:r>
              <a:rPr lang="en-US" dirty="0">
                <a:solidFill>
                  <a:srgbClr val="C00000"/>
                </a:solidFill>
              </a:rPr>
              <a:t>randomly-generated</a:t>
            </a:r>
            <a:r>
              <a:rPr lang="en-US" dirty="0"/>
              <a:t> </a:t>
            </a:r>
            <a:r>
              <a:rPr lang="en-US" b="1" dirty="0"/>
              <a:t>Initial Sequence Number</a:t>
            </a:r>
            <a:r>
              <a:rPr lang="en-US" dirty="0"/>
              <a:t> (ISN)</a:t>
            </a:r>
          </a:p>
          <a:p>
            <a:pPr marL="457200" indent="-342900">
              <a:spcBef>
                <a:spcPts val="600"/>
              </a:spcBef>
              <a:spcAft>
                <a:spcPts val="600"/>
              </a:spcAft>
              <a:buSzPts val="1800"/>
              <a:buFont typeface="Arial" panose="020B0604020202020204" pitchFamily="34" charset="0"/>
              <a:buChar char="●"/>
            </a:pPr>
            <a:r>
              <a:rPr lang="en-US" sz="2400" dirty="0"/>
              <a:t>First byte is </a:t>
            </a:r>
            <a:r>
              <a:rPr lang="en-US" sz="2400" i="1" dirty="0"/>
              <a:t>ISN</a:t>
            </a:r>
            <a:r>
              <a:rPr lang="en-US" sz="2400" dirty="0"/>
              <a:t>+1, then </a:t>
            </a:r>
            <a:r>
              <a:rPr lang="en-US" sz="2400" i="1" dirty="0"/>
              <a:t>ISN</a:t>
            </a:r>
            <a:r>
              <a:rPr lang="en-US" sz="2400" dirty="0"/>
              <a:t>+2, etc.</a:t>
            </a:r>
          </a:p>
          <a:p>
            <a:pPr marL="457200" indent="-342900">
              <a:spcBef>
                <a:spcPts val="0"/>
              </a:spcBef>
              <a:spcAft>
                <a:spcPts val="600"/>
              </a:spcAft>
              <a:buSzPts val="1800"/>
              <a:buFont typeface="Arial" panose="020B0604020202020204" pitchFamily="34" charset="0"/>
              <a:buChar char="●"/>
            </a:pPr>
            <a:r>
              <a:rPr lang="en-US" sz="2400" dirty="0"/>
              <a:t>Starting at a randomly-chosen ISN is very important for security!</a:t>
            </a:r>
          </a:p>
        </p:txBody>
      </p:sp>
      <p:grpSp>
        <p:nvGrpSpPr>
          <p:cNvPr id="93" name="Group 92">
            <a:extLst>
              <a:ext uri="{FF2B5EF4-FFF2-40B4-BE49-F238E27FC236}">
                <a16:creationId xmlns:a16="http://schemas.microsoft.com/office/drawing/2014/main" id="{521716F9-4EFA-D35D-BC1D-C015A77B988F}"/>
              </a:ext>
            </a:extLst>
          </p:cNvPr>
          <p:cNvGrpSpPr/>
          <p:nvPr/>
        </p:nvGrpSpPr>
        <p:grpSpPr>
          <a:xfrm>
            <a:off x="792370" y="2343704"/>
            <a:ext cx="9798689" cy="4425519"/>
            <a:chOff x="1555850" y="1757375"/>
            <a:chExt cx="6615000" cy="3300586"/>
          </a:xfrm>
        </p:grpSpPr>
        <p:sp>
          <p:nvSpPr>
            <p:cNvPr id="18" name="Google Shape;469;p30">
              <a:extLst>
                <a:ext uri="{FF2B5EF4-FFF2-40B4-BE49-F238E27FC236}">
                  <a16:creationId xmlns:a16="http://schemas.microsoft.com/office/drawing/2014/main" id="{E3A943DB-E9D9-8120-E810-D88D98CB78F0}"/>
                </a:ext>
              </a:extLst>
            </p:cNvPr>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dirty="0">
                  <a:solidFill>
                    <a:srgbClr val="C00000"/>
                  </a:solidFill>
                  <a:latin typeface="Roboto"/>
                  <a:ea typeface="Roboto"/>
                  <a:cs typeface="Roboto"/>
                  <a:sym typeface="Roboto"/>
                </a:rPr>
                <a:t>ISN</a:t>
              </a:r>
              <a:r>
                <a:rPr lang="en" sz="1000" b="1" dirty="0">
                  <a:solidFill>
                    <a:schemeClr val="accent2"/>
                  </a:solidFill>
                  <a:latin typeface="Roboto"/>
                  <a:ea typeface="Roboto"/>
                  <a:cs typeface="Roboto"/>
                  <a:sym typeface="Roboto"/>
                </a:rPr>
                <a:t> </a:t>
              </a:r>
              <a:r>
                <a:rPr lang="en" sz="1000" b="1" dirty="0">
                  <a:latin typeface="Roboto"/>
                  <a:ea typeface="Roboto"/>
                  <a:cs typeface="Roboto"/>
                  <a:sym typeface="Roboto"/>
                </a:rPr>
                <a:t>+ 1</a:t>
              </a:r>
              <a:endParaRPr sz="1000" b="1" dirty="0">
                <a:latin typeface="Roboto"/>
                <a:ea typeface="Roboto"/>
                <a:cs typeface="Roboto"/>
                <a:sym typeface="Roboto"/>
              </a:endParaRPr>
            </a:p>
          </p:txBody>
        </p:sp>
        <p:sp>
          <p:nvSpPr>
            <p:cNvPr id="19" name="Google Shape;470;p30">
              <a:extLst>
                <a:ext uri="{FF2B5EF4-FFF2-40B4-BE49-F238E27FC236}">
                  <a16:creationId xmlns:a16="http://schemas.microsoft.com/office/drawing/2014/main" id="{FDD88951-9426-C5EA-DECF-756A4C90AB12}"/>
                </a:ext>
              </a:extLst>
            </p:cNvPr>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+ 2</a:t>
              </a:r>
              <a:endParaRPr sz="1000" dirty="0">
                <a:latin typeface="Roboto"/>
                <a:ea typeface="Roboto"/>
                <a:cs typeface="Roboto"/>
                <a:sym typeface="Roboto"/>
              </a:endParaRPr>
            </a:p>
          </p:txBody>
        </p:sp>
        <p:sp>
          <p:nvSpPr>
            <p:cNvPr id="20" name="Google Shape;471;p30">
              <a:extLst>
                <a:ext uri="{FF2B5EF4-FFF2-40B4-BE49-F238E27FC236}">
                  <a16:creationId xmlns:a16="http://schemas.microsoft.com/office/drawing/2014/main" id="{76CF09D4-01DF-857E-29E5-53145466E7C5}"/>
                </a:ext>
              </a:extLst>
            </p:cNvPr>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+ 3</a:t>
              </a:r>
              <a:endParaRPr sz="1000" dirty="0">
                <a:latin typeface="Roboto"/>
                <a:ea typeface="Roboto"/>
                <a:cs typeface="Roboto"/>
                <a:sym typeface="Roboto"/>
              </a:endParaRPr>
            </a:p>
          </p:txBody>
        </p:sp>
        <p:sp>
          <p:nvSpPr>
            <p:cNvPr id="21" name="Google Shape;472;p30">
              <a:extLst>
                <a:ext uri="{FF2B5EF4-FFF2-40B4-BE49-F238E27FC236}">
                  <a16:creationId xmlns:a16="http://schemas.microsoft.com/office/drawing/2014/main" id="{D8041DD6-C70C-3ABE-E8CF-107348B9594F}"/>
                </a:ext>
              </a:extLst>
            </p:cNvPr>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+ 4</a:t>
              </a:r>
              <a:endParaRPr sz="1000" dirty="0">
                <a:latin typeface="Roboto"/>
                <a:ea typeface="Roboto"/>
                <a:cs typeface="Roboto"/>
                <a:sym typeface="Roboto"/>
              </a:endParaRPr>
            </a:p>
          </p:txBody>
        </p:sp>
        <p:sp>
          <p:nvSpPr>
            <p:cNvPr id="22" name="Google Shape;473;p30">
              <a:extLst>
                <a:ext uri="{FF2B5EF4-FFF2-40B4-BE49-F238E27FC236}">
                  <a16:creationId xmlns:a16="http://schemas.microsoft.com/office/drawing/2014/main" id="{CCA61C7F-F8A5-F016-D399-D9B80572B70B}"/>
                </a:ext>
              </a:extLst>
            </p:cNvPr>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3" name="Google Shape;474;p30">
              <a:extLst>
                <a:ext uri="{FF2B5EF4-FFF2-40B4-BE49-F238E27FC236}">
                  <a16:creationId xmlns:a16="http://schemas.microsoft.com/office/drawing/2014/main" id="{31644A39-37FB-704B-35C7-677075451483}"/>
                </a:ext>
              </a:extLst>
            </p:cNvPr>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4" name="Google Shape;475;p30">
              <a:extLst>
                <a:ext uri="{FF2B5EF4-FFF2-40B4-BE49-F238E27FC236}">
                  <a16:creationId xmlns:a16="http://schemas.microsoft.com/office/drawing/2014/main" id="{BDEE8C62-CAA2-F225-EB87-34317D82006A}"/>
                </a:ext>
              </a:extLst>
            </p:cNvPr>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5" name="Google Shape;476;p30">
              <a:extLst>
                <a:ext uri="{FF2B5EF4-FFF2-40B4-BE49-F238E27FC236}">
                  <a16:creationId xmlns:a16="http://schemas.microsoft.com/office/drawing/2014/main" id="{2CF0D4A3-0D91-23E7-BBF2-4603EE6C8552}"/>
                </a:ext>
              </a:extLst>
            </p:cNvPr>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+ 79</a:t>
              </a:r>
              <a:endParaRPr sz="1000" dirty="0">
                <a:latin typeface="Roboto"/>
                <a:ea typeface="Roboto"/>
                <a:cs typeface="Roboto"/>
                <a:sym typeface="Roboto"/>
              </a:endParaRPr>
            </a:p>
          </p:txBody>
        </p:sp>
        <p:sp>
          <p:nvSpPr>
            <p:cNvPr id="26" name="Google Shape;477;p30">
              <a:extLst>
                <a:ext uri="{FF2B5EF4-FFF2-40B4-BE49-F238E27FC236}">
                  <a16:creationId xmlns:a16="http://schemas.microsoft.com/office/drawing/2014/main" id="{75B36D9A-3D80-C3B2-9212-BCAEAF1E3570}"/>
                </a:ext>
              </a:extLst>
            </p:cNvPr>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+ 80</a:t>
              </a:r>
              <a:endParaRPr sz="1000" dirty="0">
                <a:latin typeface="Roboto"/>
                <a:ea typeface="Roboto"/>
                <a:cs typeface="Roboto"/>
                <a:sym typeface="Roboto"/>
              </a:endParaRPr>
            </a:p>
          </p:txBody>
        </p:sp>
        <p:sp>
          <p:nvSpPr>
            <p:cNvPr id="27" name="Google Shape;478;p30">
              <a:extLst>
                <a:ext uri="{FF2B5EF4-FFF2-40B4-BE49-F238E27FC236}">
                  <a16:creationId xmlns:a16="http://schemas.microsoft.com/office/drawing/2014/main" id="{6F111D01-D2AE-572F-1CD2-3DD82660C0CB}"/>
                </a:ext>
              </a:extLst>
            </p:cNvPr>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8" name="Google Shape;479;p30">
              <a:extLst>
                <a:ext uri="{FF2B5EF4-FFF2-40B4-BE49-F238E27FC236}">
                  <a16:creationId xmlns:a16="http://schemas.microsoft.com/office/drawing/2014/main" id="{6C698957-B16E-F4E2-BD14-9BEB35109127}"/>
                </a:ext>
              </a:extLst>
            </p:cNvPr>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29" name="Google Shape;480;p30">
              <a:extLst>
                <a:ext uri="{FF2B5EF4-FFF2-40B4-BE49-F238E27FC236}">
                  <a16:creationId xmlns:a16="http://schemas.microsoft.com/office/drawing/2014/main" id="{C62F002D-06A3-6545-FC79-FB4A32F3647C}"/>
                </a:ext>
              </a:extLst>
            </p:cNvPr>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0" name="Google Shape;481;p30">
              <a:extLst>
                <a:ext uri="{FF2B5EF4-FFF2-40B4-BE49-F238E27FC236}">
                  <a16:creationId xmlns:a16="http://schemas.microsoft.com/office/drawing/2014/main" id="{98D760F6-CF73-39EB-8539-9A482080547D}"/>
                </a:ext>
              </a:extLst>
            </p:cNvPr>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1" name="Google Shape;482;p30">
              <a:extLst>
                <a:ext uri="{FF2B5EF4-FFF2-40B4-BE49-F238E27FC236}">
                  <a16:creationId xmlns:a16="http://schemas.microsoft.com/office/drawing/2014/main" id="{514AD2D3-41C4-4FDE-3690-CAD589A85948}"/>
                </a:ext>
              </a:extLst>
            </p:cNvPr>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2" name="Google Shape;483;p30">
              <a:extLst>
                <a:ext uri="{FF2B5EF4-FFF2-40B4-BE49-F238E27FC236}">
                  <a16:creationId xmlns:a16="http://schemas.microsoft.com/office/drawing/2014/main" id="{59F80BF0-2C2D-92DC-B33F-630D721AE1F8}"/>
                </a:ext>
              </a:extLst>
            </p:cNvPr>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 name="Google Shape;484;p30">
              <a:extLst>
                <a:ext uri="{FF2B5EF4-FFF2-40B4-BE49-F238E27FC236}">
                  <a16:creationId xmlns:a16="http://schemas.microsoft.com/office/drawing/2014/main" id="{002F0B79-0F01-5D41-1719-DF09219B4EBE}"/>
                </a:ext>
              </a:extLst>
            </p:cNvPr>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4" name="Google Shape;485;p30">
              <a:extLst>
                <a:ext uri="{FF2B5EF4-FFF2-40B4-BE49-F238E27FC236}">
                  <a16:creationId xmlns:a16="http://schemas.microsoft.com/office/drawing/2014/main" id="{B4362CAE-6915-8222-E9AE-4AF8007C45E3}"/>
                </a:ext>
              </a:extLst>
            </p:cNvPr>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 name="Google Shape;486;p30">
              <a:extLst>
                <a:ext uri="{FF2B5EF4-FFF2-40B4-BE49-F238E27FC236}">
                  <a16:creationId xmlns:a16="http://schemas.microsoft.com/office/drawing/2014/main" id="{8D588A17-E6EF-644B-64E0-F223B60A0803}"/>
                </a:ext>
              </a:extLst>
            </p:cNvPr>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6" name="Google Shape;487;p30">
              <a:extLst>
                <a:ext uri="{FF2B5EF4-FFF2-40B4-BE49-F238E27FC236}">
                  <a16:creationId xmlns:a16="http://schemas.microsoft.com/office/drawing/2014/main" id="{852C3100-29A1-32E6-59E0-5FC75CC513E7}"/>
                </a:ext>
              </a:extLst>
            </p:cNvPr>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7" name="Google Shape;488;p30">
              <a:extLst>
                <a:ext uri="{FF2B5EF4-FFF2-40B4-BE49-F238E27FC236}">
                  <a16:creationId xmlns:a16="http://schemas.microsoft.com/office/drawing/2014/main" id="{2C4B690A-5F2A-BBC5-42A0-71A9AB91D523}"/>
                </a:ext>
              </a:extLst>
            </p:cNvPr>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 name="Google Shape;489;p30">
              <a:extLst>
                <a:ext uri="{FF2B5EF4-FFF2-40B4-BE49-F238E27FC236}">
                  <a16:creationId xmlns:a16="http://schemas.microsoft.com/office/drawing/2014/main" id="{2B7F4B36-DDB9-4BC7-A89B-56F29DBA93B4}"/>
                </a:ext>
              </a:extLst>
            </p:cNvPr>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 name="Google Shape;490;p30">
              <a:extLst>
                <a:ext uri="{FF2B5EF4-FFF2-40B4-BE49-F238E27FC236}">
                  <a16:creationId xmlns:a16="http://schemas.microsoft.com/office/drawing/2014/main" id="{33AB900C-6C2D-15BB-D1E0-E16ECA1BC526}"/>
                </a:ext>
              </a:extLst>
            </p:cNvPr>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 name="Google Shape;491;p30">
              <a:extLst>
                <a:ext uri="{FF2B5EF4-FFF2-40B4-BE49-F238E27FC236}">
                  <a16:creationId xmlns:a16="http://schemas.microsoft.com/office/drawing/2014/main" id="{080AEC54-8ABB-5398-C0D0-5410720FECD1}"/>
                </a:ext>
              </a:extLst>
            </p:cNvPr>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 name="Google Shape;492;p30">
              <a:extLst>
                <a:ext uri="{FF2B5EF4-FFF2-40B4-BE49-F238E27FC236}">
                  <a16:creationId xmlns:a16="http://schemas.microsoft.com/office/drawing/2014/main" id="{783ADBE5-DEB2-83C0-EE70-C91282E0095F}"/>
                </a:ext>
              </a:extLst>
            </p:cNvPr>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 name="Google Shape;493;p30">
              <a:extLst>
                <a:ext uri="{FF2B5EF4-FFF2-40B4-BE49-F238E27FC236}">
                  <a16:creationId xmlns:a16="http://schemas.microsoft.com/office/drawing/2014/main" id="{A8CD6B56-B0D5-427C-085B-E99062F4282C}"/>
                </a:ext>
              </a:extLst>
            </p:cNvPr>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 name="Google Shape;494;p30">
              <a:extLst>
                <a:ext uri="{FF2B5EF4-FFF2-40B4-BE49-F238E27FC236}">
                  <a16:creationId xmlns:a16="http://schemas.microsoft.com/office/drawing/2014/main" id="{242DCB56-E30A-2892-FB31-05E15171153A}"/>
                </a:ext>
              </a:extLst>
            </p:cNvPr>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4" name="Google Shape;495;p30">
              <a:extLst>
                <a:ext uri="{FF2B5EF4-FFF2-40B4-BE49-F238E27FC236}">
                  <a16:creationId xmlns:a16="http://schemas.microsoft.com/office/drawing/2014/main" id="{48636F41-6113-ECB4-4117-3975D0342543}"/>
                </a:ext>
              </a:extLst>
            </p:cNvPr>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5" name="Google Shape;496;p30">
              <a:extLst>
                <a:ext uri="{FF2B5EF4-FFF2-40B4-BE49-F238E27FC236}">
                  <a16:creationId xmlns:a16="http://schemas.microsoft.com/office/drawing/2014/main" id="{1DF1FDFA-8B47-1E3D-600B-B46B67E38A74}"/>
                </a:ext>
              </a:extLst>
            </p:cNvPr>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6" name="Google Shape;497;p30">
              <a:extLst>
                <a:ext uri="{FF2B5EF4-FFF2-40B4-BE49-F238E27FC236}">
                  <a16:creationId xmlns:a16="http://schemas.microsoft.com/office/drawing/2014/main" id="{A806A1F1-D106-4865-3459-9F14DEDDC356}"/>
                </a:ext>
              </a:extLst>
            </p:cNvPr>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7" name="Google Shape;498;p30">
              <a:extLst>
                <a:ext uri="{FF2B5EF4-FFF2-40B4-BE49-F238E27FC236}">
                  <a16:creationId xmlns:a16="http://schemas.microsoft.com/office/drawing/2014/main" id="{DE9B2C51-F376-BAC4-54E9-C06C971BDF91}"/>
                </a:ext>
              </a:extLst>
            </p:cNvPr>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8" name="Google Shape;499;p30">
              <a:extLst>
                <a:ext uri="{FF2B5EF4-FFF2-40B4-BE49-F238E27FC236}">
                  <a16:creationId xmlns:a16="http://schemas.microsoft.com/office/drawing/2014/main" id="{E07F8905-BAA3-4046-97D3-5E792A2839F8}"/>
                </a:ext>
              </a:extLst>
            </p:cNvPr>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 name="Google Shape;500;p30">
              <a:extLst>
                <a:ext uri="{FF2B5EF4-FFF2-40B4-BE49-F238E27FC236}">
                  <a16:creationId xmlns:a16="http://schemas.microsoft.com/office/drawing/2014/main" id="{32818D24-0719-D5E7-6E8F-400B2E341A31}"/>
                </a:ext>
              </a:extLst>
            </p:cNvPr>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 name="Google Shape;501;p30">
              <a:extLst>
                <a:ext uri="{FF2B5EF4-FFF2-40B4-BE49-F238E27FC236}">
                  <a16:creationId xmlns:a16="http://schemas.microsoft.com/office/drawing/2014/main" id="{B09CAB66-0840-E4C2-C178-941336BDEAB9}"/>
                </a:ext>
              </a:extLst>
            </p:cNvPr>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 name="Google Shape;502;p30">
              <a:extLst>
                <a:ext uri="{FF2B5EF4-FFF2-40B4-BE49-F238E27FC236}">
                  <a16:creationId xmlns:a16="http://schemas.microsoft.com/office/drawing/2014/main" id="{54DB5082-680B-A845-0BFA-0A2F366E3ACA}"/>
                </a:ext>
              </a:extLst>
            </p:cNvPr>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2" name="Google Shape;503;p30">
              <a:extLst>
                <a:ext uri="{FF2B5EF4-FFF2-40B4-BE49-F238E27FC236}">
                  <a16:creationId xmlns:a16="http://schemas.microsoft.com/office/drawing/2014/main" id="{3070F85B-2CD9-6C37-AB4E-A755924B3F64}"/>
                </a:ext>
              </a:extLst>
            </p:cNvPr>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3" name="Google Shape;504;p30">
              <a:extLst>
                <a:ext uri="{FF2B5EF4-FFF2-40B4-BE49-F238E27FC236}">
                  <a16:creationId xmlns:a16="http://schemas.microsoft.com/office/drawing/2014/main" id="{7A073C64-7F6F-8D00-C050-EE35EA9108FB}"/>
                </a:ext>
              </a:extLst>
            </p:cNvPr>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 name="Google Shape;505;p30">
              <a:extLst>
                <a:ext uri="{FF2B5EF4-FFF2-40B4-BE49-F238E27FC236}">
                  <a16:creationId xmlns:a16="http://schemas.microsoft.com/office/drawing/2014/main" id="{6C6917F2-4AD5-FEE7-2643-BBAB61E7884E}"/>
                </a:ext>
              </a:extLst>
            </p:cNvPr>
            <p:cNvSpPr/>
            <p:nvPr/>
          </p:nvSpPr>
          <p:spPr>
            <a:xfrm rot="5400000">
              <a:off x="14636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+ 1</a:t>
              </a:r>
              <a:endParaRPr sz="1000" dirty="0">
                <a:latin typeface="Roboto"/>
                <a:ea typeface="Roboto"/>
                <a:cs typeface="Roboto"/>
                <a:sym typeface="Roboto"/>
              </a:endParaRPr>
            </a:p>
          </p:txBody>
        </p:sp>
        <p:sp>
          <p:nvSpPr>
            <p:cNvPr id="55" name="Google Shape;506;p30">
              <a:extLst>
                <a:ext uri="{FF2B5EF4-FFF2-40B4-BE49-F238E27FC236}">
                  <a16:creationId xmlns:a16="http://schemas.microsoft.com/office/drawing/2014/main" id="{975A5554-638D-C69A-2C2A-852D15692044}"/>
                </a:ext>
              </a:extLst>
            </p:cNvPr>
            <p:cNvSpPr/>
            <p:nvPr/>
          </p:nvSpPr>
          <p:spPr>
            <a:xfrm rot="5400000">
              <a:off x="16385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+ 2</a:t>
              </a:r>
              <a:endParaRPr sz="1000" dirty="0">
                <a:latin typeface="Roboto"/>
                <a:ea typeface="Roboto"/>
                <a:cs typeface="Roboto"/>
                <a:sym typeface="Roboto"/>
              </a:endParaRPr>
            </a:p>
          </p:txBody>
        </p:sp>
        <p:sp>
          <p:nvSpPr>
            <p:cNvPr id="56" name="Google Shape;507;p30">
              <a:extLst>
                <a:ext uri="{FF2B5EF4-FFF2-40B4-BE49-F238E27FC236}">
                  <a16:creationId xmlns:a16="http://schemas.microsoft.com/office/drawing/2014/main" id="{05E8576A-F0C8-268A-25CF-D87695E3FDF2}"/>
                </a:ext>
              </a:extLst>
            </p:cNvPr>
            <p:cNvSpPr/>
            <p:nvPr/>
          </p:nvSpPr>
          <p:spPr>
            <a:xfrm rot="5400000">
              <a:off x="18134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+ 3</a:t>
              </a:r>
              <a:endParaRPr sz="1000" dirty="0">
                <a:latin typeface="Roboto"/>
                <a:ea typeface="Roboto"/>
                <a:cs typeface="Roboto"/>
                <a:sym typeface="Roboto"/>
              </a:endParaRPr>
            </a:p>
          </p:txBody>
        </p:sp>
        <p:sp>
          <p:nvSpPr>
            <p:cNvPr id="57" name="Google Shape;508;p30">
              <a:extLst>
                <a:ext uri="{FF2B5EF4-FFF2-40B4-BE49-F238E27FC236}">
                  <a16:creationId xmlns:a16="http://schemas.microsoft.com/office/drawing/2014/main" id="{6ACFE9B1-56BD-69CF-891B-6056DD3D9AB0}"/>
                </a:ext>
              </a:extLst>
            </p:cNvPr>
            <p:cNvSpPr/>
            <p:nvPr/>
          </p:nvSpPr>
          <p:spPr>
            <a:xfrm rot="5400000">
              <a:off x="19883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+ 4</a:t>
              </a:r>
              <a:endParaRPr sz="1000" dirty="0">
                <a:latin typeface="Roboto"/>
                <a:ea typeface="Roboto"/>
                <a:cs typeface="Roboto"/>
                <a:sym typeface="Roboto"/>
              </a:endParaRPr>
            </a:p>
          </p:txBody>
        </p:sp>
        <p:sp>
          <p:nvSpPr>
            <p:cNvPr id="58" name="Google Shape;509;p30">
              <a:extLst>
                <a:ext uri="{FF2B5EF4-FFF2-40B4-BE49-F238E27FC236}">
                  <a16:creationId xmlns:a16="http://schemas.microsoft.com/office/drawing/2014/main" id="{5E52C0F3-3DA5-3D6F-F3D2-C7964FFE8465}"/>
                </a:ext>
              </a:extLst>
            </p:cNvPr>
            <p:cNvSpPr/>
            <p:nvPr/>
          </p:nvSpPr>
          <p:spPr>
            <a:xfrm rot="5400000">
              <a:off x="21632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 name="Google Shape;510;p30">
              <a:extLst>
                <a:ext uri="{FF2B5EF4-FFF2-40B4-BE49-F238E27FC236}">
                  <a16:creationId xmlns:a16="http://schemas.microsoft.com/office/drawing/2014/main" id="{FFA6C3A9-B4E6-9135-8657-17CC59A371CB}"/>
                </a:ext>
              </a:extLst>
            </p:cNvPr>
            <p:cNvSpPr/>
            <p:nvPr/>
          </p:nvSpPr>
          <p:spPr>
            <a:xfrm rot="5400000">
              <a:off x="23381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 name="Google Shape;511;p30">
              <a:extLst>
                <a:ext uri="{FF2B5EF4-FFF2-40B4-BE49-F238E27FC236}">
                  <a16:creationId xmlns:a16="http://schemas.microsoft.com/office/drawing/2014/main" id="{76B7A95D-42C8-BBFD-5E72-6A52570A04BF}"/>
                </a:ext>
              </a:extLst>
            </p:cNvPr>
            <p:cNvSpPr/>
            <p:nvPr/>
          </p:nvSpPr>
          <p:spPr>
            <a:xfrm rot="5400000">
              <a:off x="25130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 name="Google Shape;512;p30">
              <a:extLst>
                <a:ext uri="{FF2B5EF4-FFF2-40B4-BE49-F238E27FC236}">
                  <a16:creationId xmlns:a16="http://schemas.microsoft.com/office/drawing/2014/main" id="{E464B889-F81F-6F9E-7479-4BA487A16F09}"/>
                </a:ext>
              </a:extLst>
            </p:cNvPr>
            <p:cNvSpPr/>
            <p:nvPr/>
          </p:nvSpPr>
          <p:spPr>
            <a:xfrm rot="5400000">
              <a:off x="26879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+ 79</a:t>
              </a:r>
              <a:endParaRPr sz="1000" dirty="0">
                <a:latin typeface="Roboto"/>
                <a:ea typeface="Roboto"/>
                <a:cs typeface="Roboto"/>
                <a:sym typeface="Roboto"/>
              </a:endParaRPr>
            </a:p>
          </p:txBody>
        </p:sp>
        <p:sp>
          <p:nvSpPr>
            <p:cNvPr id="62" name="Google Shape;513;p30">
              <a:extLst>
                <a:ext uri="{FF2B5EF4-FFF2-40B4-BE49-F238E27FC236}">
                  <a16:creationId xmlns:a16="http://schemas.microsoft.com/office/drawing/2014/main" id="{6E34F03C-9E34-84FF-1524-57070B03DDEB}"/>
                </a:ext>
              </a:extLst>
            </p:cNvPr>
            <p:cNvSpPr/>
            <p:nvPr/>
          </p:nvSpPr>
          <p:spPr>
            <a:xfrm rot="5400000">
              <a:off x="28628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dirty="0">
                  <a:solidFill>
                    <a:srgbClr val="C00000"/>
                  </a:solidFill>
                  <a:latin typeface="Roboto"/>
                  <a:ea typeface="Roboto"/>
                  <a:cs typeface="Roboto"/>
                  <a:sym typeface="Roboto"/>
                </a:rPr>
                <a:t>ISN</a:t>
              </a:r>
              <a:r>
                <a:rPr lang="en" sz="1000" dirty="0">
                  <a:solidFill>
                    <a:schemeClr val="accent2"/>
                  </a:solidFill>
                  <a:latin typeface="Roboto"/>
                  <a:ea typeface="Roboto"/>
                  <a:cs typeface="Roboto"/>
                  <a:sym typeface="Roboto"/>
                </a:rPr>
                <a:t> </a:t>
              </a:r>
              <a:r>
                <a:rPr lang="en" sz="1000" dirty="0">
                  <a:solidFill>
                    <a:schemeClr val="dk1"/>
                  </a:solidFill>
                  <a:latin typeface="Roboto"/>
                  <a:ea typeface="Roboto"/>
                  <a:cs typeface="Roboto"/>
                  <a:sym typeface="Roboto"/>
                </a:rPr>
                <a:t>+ 80</a:t>
              </a:r>
              <a:endParaRPr sz="1000" dirty="0">
                <a:latin typeface="Roboto"/>
                <a:ea typeface="Roboto"/>
                <a:cs typeface="Roboto"/>
                <a:sym typeface="Roboto"/>
              </a:endParaRPr>
            </a:p>
          </p:txBody>
        </p:sp>
        <p:sp>
          <p:nvSpPr>
            <p:cNvPr id="63" name="Google Shape;514;p30">
              <a:extLst>
                <a:ext uri="{FF2B5EF4-FFF2-40B4-BE49-F238E27FC236}">
                  <a16:creationId xmlns:a16="http://schemas.microsoft.com/office/drawing/2014/main" id="{BED180D8-EE04-8209-0AE4-A373BF858E3F}"/>
                </a:ext>
              </a:extLst>
            </p:cNvPr>
            <p:cNvSpPr/>
            <p:nvPr/>
          </p:nvSpPr>
          <p:spPr>
            <a:xfrm rot="5400000">
              <a:off x="30377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4" name="Google Shape;515;p30">
              <a:extLst>
                <a:ext uri="{FF2B5EF4-FFF2-40B4-BE49-F238E27FC236}">
                  <a16:creationId xmlns:a16="http://schemas.microsoft.com/office/drawing/2014/main" id="{4E2A5F1A-B67E-D8A6-D632-306AFDB8F61F}"/>
                </a:ext>
              </a:extLst>
            </p:cNvPr>
            <p:cNvSpPr/>
            <p:nvPr/>
          </p:nvSpPr>
          <p:spPr>
            <a:xfrm rot="5400000">
              <a:off x="32126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5" name="Google Shape;516;p30">
              <a:extLst>
                <a:ext uri="{FF2B5EF4-FFF2-40B4-BE49-F238E27FC236}">
                  <a16:creationId xmlns:a16="http://schemas.microsoft.com/office/drawing/2014/main" id="{2B6D965D-6647-363D-AEBB-ACDF6EB6B42C}"/>
                </a:ext>
              </a:extLst>
            </p:cNvPr>
            <p:cNvSpPr/>
            <p:nvPr/>
          </p:nvSpPr>
          <p:spPr>
            <a:xfrm rot="5400000">
              <a:off x="33875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6" name="Google Shape;517;p30">
              <a:extLst>
                <a:ext uri="{FF2B5EF4-FFF2-40B4-BE49-F238E27FC236}">
                  <a16:creationId xmlns:a16="http://schemas.microsoft.com/office/drawing/2014/main" id="{5D736EF1-34D2-CF06-128B-6FC58542DE2C}"/>
                </a:ext>
              </a:extLst>
            </p:cNvPr>
            <p:cNvSpPr/>
            <p:nvPr/>
          </p:nvSpPr>
          <p:spPr>
            <a:xfrm rot="5400000">
              <a:off x="35624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7" name="Google Shape;518;p30">
              <a:extLst>
                <a:ext uri="{FF2B5EF4-FFF2-40B4-BE49-F238E27FC236}">
                  <a16:creationId xmlns:a16="http://schemas.microsoft.com/office/drawing/2014/main" id="{309A2B16-4101-A1EB-8A7B-66B7DC0361D2}"/>
                </a:ext>
              </a:extLst>
            </p:cNvPr>
            <p:cNvSpPr/>
            <p:nvPr/>
          </p:nvSpPr>
          <p:spPr>
            <a:xfrm rot="5400000">
              <a:off x="37373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8" name="Google Shape;519;p30">
              <a:extLst>
                <a:ext uri="{FF2B5EF4-FFF2-40B4-BE49-F238E27FC236}">
                  <a16:creationId xmlns:a16="http://schemas.microsoft.com/office/drawing/2014/main" id="{31330252-80E8-DB99-C482-44D0BD0C9454}"/>
                </a:ext>
              </a:extLst>
            </p:cNvPr>
            <p:cNvSpPr/>
            <p:nvPr/>
          </p:nvSpPr>
          <p:spPr>
            <a:xfrm rot="5400000">
              <a:off x="39122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9" name="Google Shape;520;p30">
              <a:extLst>
                <a:ext uri="{FF2B5EF4-FFF2-40B4-BE49-F238E27FC236}">
                  <a16:creationId xmlns:a16="http://schemas.microsoft.com/office/drawing/2014/main" id="{396C187B-5BC6-3C06-7B9F-6D8BF263F211}"/>
                </a:ext>
              </a:extLst>
            </p:cNvPr>
            <p:cNvSpPr/>
            <p:nvPr/>
          </p:nvSpPr>
          <p:spPr>
            <a:xfrm rot="5400000">
              <a:off x="40871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0" name="Google Shape;521;p30">
              <a:extLst>
                <a:ext uri="{FF2B5EF4-FFF2-40B4-BE49-F238E27FC236}">
                  <a16:creationId xmlns:a16="http://schemas.microsoft.com/office/drawing/2014/main" id="{5E2B9045-248A-EAFA-62B7-252B05465229}"/>
                </a:ext>
              </a:extLst>
            </p:cNvPr>
            <p:cNvSpPr/>
            <p:nvPr/>
          </p:nvSpPr>
          <p:spPr>
            <a:xfrm rot="5400000">
              <a:off x="42620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 name="Google Shape;522;p30">
              <a:extLst>
                <a:ext uri="{FF2B5EF4-FFF2-40B4-BE49-F238E27FC236}">
                  <a16:creationId xmlns:a16="http://schemas.microsoft.com/office/drawing/2014/main" id="{60C3F09C-DDBF-A9DB-3082-A2FFCD8D66B8}"/>
                </a:ext>
              </a:extLst>
            </p:cNvPr>
            <p:cNvSpPr/>
            <p:nvPr/>
          </p:nvSpPr>
          <p:spPr>
            <a:xfrm rot="5400000">
              <a:off x="44369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 name="Google Shape;523;p30">
              <a:extLst>
                <a:ext uri="{FF2B5EF4-FFF2-40B4-BE49-F238E27FC236}">
                  <a16:creationId xmlns:a16="http://schemas.microsoft.com/office/drawing/2014/main" id="{EA28E8DD-C4A9-A553-9D91-759DA30E3923}"/>
                </a:ext>
              </a:extLst>
            </p:cNvPr>
            <p:cNvSpPr/>
            <p:nvPr/>
          </p:nvSpPr>
          <p:spPr>
            <a:xfrm rot="5400000">
              <a:off x="46118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 name="Google Shape;524;p30">
              <a:extLst>
                <a:ext uri="{FF2B5EF4-FFF2-40B4-BE49-F238E27FC236}">
                  <a16:creationId xmlns:a16="http://schemas.microsoft.com/office/drawing/2014/main" id="{EDCB6F9E-D824-5D7A-1989-B848E1627662}"/>
                </a:ext>
              </a:extLst>
            </p:cNvPr>
            <p:cNvSpPr/>
            <p:nvPr/>
          </p:nvSpPr>
          <p:spPr>
            <a:xfrm rot="5400000">
              <a:off x="47867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4" name="Google Shape;525;p30">
              <a:extLst>
                <a:ext uri="{FF2B5EF4-FFF2-40B4-BE49-F238E27FC236}">
                  <a16:creationId xmlns:a16="http://schemas.microsoft.com/office/drawing/2014/main" id="{8ADF6A2C-6AFF-2A25-4495-3CF01F515710}"/>
                </a:ext>
              </a:extLst>
            </p:cNvPr>
            <p:cNvSpPr/>
            <p:nvPr/>
          </p:nvSpPr>
          <p:spPr>
            <a:xfrm rot="5400000">
              <a:off x="49616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5" name="Google Shape;526;p30">
              <a:extLst>
                <a:ext uri="{FF2B5EF4-FFF2-40B4-BE49-F238E27FC236}">
                  <a16:creationId xmlns:a16="http://schemas.microsoft.com/office/drawing/2014/main" id="{B47C8D40-EB17-F1F6-7FA3-C27706B1F92C}"/>
                </a:ext>
              </a:extLst>
            </p:cNvPr>
            <p:cNvSpPr/>
            <p:nvPr/>
          </p:nvSpPr>
          <p:spPr>
            <a:xfrm rot="5400000">
              <a:off x="51365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6" name="Google Shape;527;p30">
              <a:extLst>
                <a:ext uri="{FF2B5EF4-FFF2-40B4-BE49-F238E27FC236}">
                  <a16:creationId xmlns:a16="http://schemas.microsoft.com/office/drawing/2014/main" id="{EAC71FCC-B5AB-7877-FE51-B00060E850A0}"/>
                </a:ext>
              </a:extLst>
            </p:cNvPr>
            <p:cNvSpPr/>
            <p:nvPr/>
          </p:nvSpPr>
          <p:spPr>
            <a:xfrm rot="5400000">
              <a:off x="53114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7" name="Google Shape;528;p30">
              <a:extLst>
                <a:ext uri="{FF2B5EF4-FFF2-40B4-BE49-F238E27FC236}">
                  <a16:creationId xmlns:a16="http://schemas.microsoft.com/office/drawing/2014/main" id="{BA56279C-EA94-DC6D-3FB0-CD829F465C0E}"/>
                </a:ext>
              </a:extLst>
            </p:cNvPr>
            <p:cNvSpPr/>
            <p:nvPr/>
          </p:nvSpPr>
          <p:spPr>
            <a:xfrm rot="5400000">
              <a:off x="54863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8" name="Google Shape;529;p30">
              <a:extLst>
                <a:ext uri="{FF2B5EF4-FFF2-40B4-BE49-F238E27FC236}">
                  <a16:creationId xmlns:a16="http://schemas.microsoft.com/office/drawing/2014/main" id="{111A35B3-81AA-0A1C-99DB-8B4AEE95214F}"/>
                </a:ext>
              </a:extLst>
            </p:cNvPr>
            <p:cNvSpPr/>
            <p:nvPr/>
          </p:nvSpPr>
          <p:spPr>
            <a:xfrm rot="5400000">
              <a:off x="56612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9" name="Google Shape;530;p30">
              <a:extLst>
                <a:ext uri="{FF2B5EF4-FFF2-40B4-BE49-F238E27FC236}">
                  <a16:creationId xmlns:a16="http://schemas.microsoft.com/office/drawing/2014/main" id="{286FD9A7-F589-FA31-95B9-272535B40979}"/>
                </a:ext>
              </a:extLst>
            </p:cNvPr>
            <p:cNvSpPr/>
            <p:nvPr/>
          </p:nvSpPr>
          <p:spPr>
            <a:xfrm rot="5400000">
              <a:off x="58361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0" name="Google Shape;531;p30">
              <a:extLst>
                <a:ext uri="{FF2B5EF4-FFF2-40B4-BE49-F238E27FC236}">
                  <a16:creationId xmlns:a16="http://schemas.microsoft.com/office/drawing/2014/main" id="{6306A1E9-3536-14D3-C1DA-664AB3799498}"/>
                </a:ext>
              </a:extLst>
            </p:cNvPr>
            <p:cNvSpPr/>
            <p:nvPr/>
          </p:nvSpPr>
          <p:spPr>
            <a:xfrm rot="5400000">
              <a:off x="60110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1" name="Google Shape;532;p30">
              <a:extLst>
                <a:ext uri="{FF2B5EF4-FFF2-40B4-BE49-F238E27FC236}">
                  <a16:creationId xmlns:a16="http://schemas.microsoft.com/office/drawing/2014/main" id="{F473160F-7423-4A61-4DEE-BE500B574E0F}"/>
                </a:ext>
              </a:extLst>
            </p:cNvPr>
            <p:cNvSpPr/>
            <p:nvPr/>
          </p:nvSpPr>
          <p:spPr>
            <a:xfrm rot="5400000">
              <a:off x="61859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2" name="Google Shape;533;p30">
              <a:extLst>
                <a:ext uri="{FF2B5EF4-FFF2-40B4-BE49-F238E27FC236}">
                  <a16:creationId xmlns:a16="http://schemas.microsoft.com/office/drawing/2014/main" id="{575AD652-3AFC-5A3A-2AB0-078668235516}"/>
                </a:ext>
              </a:extLst>
            </p:cNvPr>
            <p:cNvSpPr/>
            <p:nvPr/>
          </p:nvSpPr>
          <p:spPr>
            <a:xfrm rot="5400000">
              <a:off x="63608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3" name="Google Shape;534;p30">
              <a:extLst>
                <a:ext uri="{FF2B5EF4-FFF2-40B4-BE49-F238E27FC236}">
                  <a16:creationId xmlns:a16="http://schemas.microsoft.com/office/drawing/2014/main" id="{30D7915A-0E3E-8BE4-547D-5428DD88653C}"/>
                </a:ext>
              </a:extLst>
            </p:cNvPr>
            <p:cNvSpPr/>
            <p:nvPr/>
          </p:nvSpPr>
          <p:spPr>
            <a:xfrm rot="5400000">
              <a:off x="65357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4" name="Google Shape;535;p30">
              <a:extLst>
                <a:ext uri="{FF2B5EF4-FFF2-40B4-BE49-F238E27FC236}">
                  <a16:creationId xmlns:a16="http://schemas.microsoft.com/office/drawing/2014/main" id="{4DD3222C-2C3E-51F1-F7A0-2DBE6BF6892B}"/>
                </a:ext>
              </a:extLst>
            </p:cNvPr>
            <p:cNvSpPr/>
            <p:nvPr/>
          </p:nvSpPr>
          <p:spPr>
            <a:xfrm rot="5400000">
              <a:off x="67106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5" name="Google Shape;536;p30">
              <a:extLst>
                <a:ext uri="{FF2B5EF4-FFF2-40B4-BE49-F238E27FC236}">
                  <a16:creationId xmlns:a16="http://schemas.microsoft.com/office/drawing/2014/main" id="{0C72D730-EC27-9A46-A5E4-300E7891C3CD}"/>
                </a:ext>
              </a:extLst>
            </p:cNvPr>
            <p:cNvSpPr/>
            <p:nvPr/>
          </p:nvSpPr>
          <p:spPr>
            <a:xfrm rot="5400000">
              <a:off x="68855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6" name="Google Shape;537;p30">
              <a:extLst>
                <a:ext uri="{FF2B5EF4-FFF2-40B4-BE49-F238E27FC236}">
                  <a16:creationId xmlns:a16="http://schemas.microsoft.com/office/drawing/2014/main" id="{5625F240-2D07-9032-A2D3-93C652ACD9DF}"/>
                </a:ext>
              </a:extLst>
            </p:cNvPr>
            <p:cNvSpPr/>
            <p:nvPr/>
          </p:nvSpPr>
          <p:spPr>
            <a:xfrm rot="5400000">
              <a:off x="7060460" y="4139886"/>
              <a:ext cx="961443" cy="209936"/>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7" name="Google Shape;538;p30">
              <a:extLst>
                <a:ext uri="{FF2B5EF4-FFF2-40B4-BE49-F238E27FC236}">
                  <a16:creationId xmlns:a16="http://schemas.microsoft.com/office/drawing/2014/main" id="{0217F752-6E1E-F609-95DA-4EE9C83607D9}"/>
                </a:ext>
              </a:extLst>
            </p:cNvPr>
            <p:cNvSpPr/>
            <p:nvPr/>
          </p:nvSpPr>
          <p:spPr>
            <a:xfrm rot="5400000">
              <a:off x="7235360" y="4139886"/>
              <a:ext cx="961443" cy="209936"/>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8" name="Google Shape;539;p30">
              <a:extLst>
                <a:ext uri="{FF2B5EF4-FFF2-40B4-BE49-F238E27FC236}">
                  <a16:creationId xmlns:a16="http://schemas.microsoft.com/office/drawing/2014/main" id="{0F7A5AA1-A955-5EE5-A77C-CAA5677163D9}"/>
                </a:ext>
              </a:extLst>
            </p:cNvPr>
            <p:cNvSpPr/>
            <p:nvPr/>
          </p:nvSpPr>
          <p:spPr>
            <a:xfrm rot="5400000">
              <a:off x="7410260" y="4139886"/>
              <a:ext cx="961443" cy="209936"/>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9" name="Google Shape;540;p30">
              <a:extLst>
                <a:ext uri="{FF2B5EF4-FFF2-40B4-BE49-F238E27FC236}">
                  <a16:creationId xmlns:a16="http://schemas.microsoft.com/office/drawing/2014/main" id="{48637363-185F-326E-B7F0-83DDCD596DD2}"/>
                </a:ext>
              </a:extLst>
            </p:cNvPr>
            <p:cNvSpPr/>
            <p:nvPr/>
          </p:nvSpPr>
          <p:spPr>
            <a:xfrm rot="5400000">
              <a:off x="7585160" y="4139886"/>
              <a:ext cx="961443" cy="209936"/>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0" name="Google Shape;541;p30">
              <a:extLst>
                <a:ext uri="{FF2B5EF4-FFF2-40B4-BE49-F238E27FC236}">
                  <a16:creationId xmlns:a16="http://schemas.microsoft.com/office/drawing/2014/main" id="{022D0C16-D51D-446A-B08B-02D3717D74DA}"/>
                </a:ext>
              </a:extLst>
            </p:cNvPr>
            <p:cNvSpPr txBox="1"/>
            <p:nvPr/>
          </p:nvSpPr>
          <p:spPr>
            <a:xfrm>
              <a:off x="1873330" y="4725576"/>
              <a:ext cx="2729168" cy="332385"/>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dirty="0">
                  <a:solidFill>
                    <a:schemeClr val="dk1"/>
                  </a:solidFill>
                  <a:latin typeface="Roboto"/>
                  <a:ea typeface="Roboto"/>
                  <a:cs typeface="Roboto"/>
                  <a:sym typeface="Roboto"/>
                </a:rPr>
                <a:t>Recipient Application</a:t>
              </a:r>
              <a:endParaRPr dirty="0">
                <a:solidFill>
                  <a:schemeClr val="dk1"/>
                </a:solidFill>
                <a:latin typeface="Roboto"/>
                <a:ea typeface="Roboto"/>
                <a:cs typeface="Roboto"/>
                <a:sym typeface="Roboto"/>
              </a:endParaRPr>
            </a:p>
          </p:txBody>
        </p:sp>
        <p:sp>
          <p:nvSpPr>
            <p:cNvPr id="91" name="Google Shape;542;p30">
              <a:extLst>
                <a:ext uri="{FF2B5EF4-FFF2-40B4-BE49-F238E27FC236}">
                  <a16:creationId xmlns:a16="http://schemas.microsoft.com/office/drawing/2014/main" id="{84EE39FC-2611-62BC-5A5F-E0134C656866}"/>
                </a:ext>
              </a:extLst>
            </p:cNvPr>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grpSp>
    </p:spTree>
    <p:extLst>
      <p:ext uri="{BB962C8B-B14F-4D97-AF65-F5344CB8AC3E}">
        <p14:creationId xmlns:p14="http://schemas.microsoft.com/office/powerpoint/2010/main" val="41779757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22574-EBA6-657B-86CB-DFD1B21A761F}"/>
            </a:ext>
          </a:extLst>
        </p:cNvPr>
        <p:cNvGrpSpPr/>
        <p:nvPr/>
      </p:nvGrpSpPr>
      <p:grpSpPr>
        <a:xfrm>
          <a:off x="0" y="0"/>
          <a:ext cx="0" cy="0"/>
          <a:chOff x="0" y="0"/>
          <a:chExt cx="0" cy="0"/>
        </a:xfrm>
      </p:grpSpPr>
      <p:sp>
        <p:nvSpPr>
          <p:cNvPr id="2" name="Google Shape;258;p27">
            <a:extLst>
              <a:ext uri="{FF2B5EF4-FFF2-40B4-BE49-F238E27FC236}">
                <a16:creationId xmlns:a16="http://schemas.microsoft.com/office/drawing/2014/main" id="{4AB7E57F-E92A-4F84-ED40-D287A27469B6}"/>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t>TCP Sequence Numbers</a:t>
            </a:r>
          </a:p>
        </p:txBody>
      </p:sp>
      <p:sp>
        <p:nvSpPr>
          <p:cNvPr id="3" name="Google Shape;468;p30">
            <a:extLst>
              <a:ext uri="{FF2B5EF4-FFF2-40B4-BE49-F238E27FC236}">
                <a16:creationId xmlns:a16="http://schemas.microsoft.com/office/drawing/2014/main" id="{0FDF005F-2387-A68C-CE3F-EAC87154EA31}"/>
              </a:ext>
            </a:extLst>
          </p:cNvPr>
          <p:cNvSpPr txBox="1">
            <a:spLocks/>
          </p:cNvSpPr>
          <p:nvPr/>
        </p:nvSpPr>
        <p:spPr>
          <a:xfrm>
            <a:off x="3477" y="748429"/>
            <a:ext cx="12188523" cy="124966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The </a:t>
            </a:r>
            <a:r>
              <a:rPr lang="en-US" sz="2400" b="1" i="1" dirty="0">
                <a:solidFill>
                  <a:srgbClr val="C00000"/>
                </a:solidFill>
              </a:rPr>
              <a:t>sequence number </a:t>
            </a:r>
            <a:r>
              <a:rPr lang="en-US" sz="2400" dirty="0"/>
              <a:t>of a segment is the number of the first byte in the segment</a:t>
            </a:r>
          </a:p>
          <a:p>
            <a:pPr marL="0" indent="0">
              <a:spcBef>
                <a:spcPts val="600"/>
              </a:spcBef>
              <a:spcAft>
                <a:spcPts val="600"/>
              </a:spcAft>
              <a:buFont typeface="Arial" panose="020B0604020202020204" pitchFamily="34" charset="0"/>
              <a:buNone/>
            </a:pPr>
            <a:r>
              <a:rPr lang="en-US" sz="2400" dirty="0"/>
              <a:t>Example: In the segment below, the sequence number is ISN + 140</a:t>
            </a:r>
          </a:p>
        </p:txBody>
      </p:sp>
      <p:grpSp>
        <p:nvGrpSpPr>
          <p:cNvPr id="176" name="Group 175">
            <a:extLst>
              <a:ext uri="{FF2B5EF4-FFF2-40B4-BE49-F238E27FC236}">
                <a16:creationId xmlns:a16="http://schemas.microsoft.com/office/drawing/2014/main" id="{5BC5B5AB-F5F1-9729-034C-9B94A383482A}"/>
              </a:ext>
            </a:extLst>
          </p:cNvPr>
          <p:cNvGrpSpPr/>
          <p:nvPr/>
        </p:nvGrpSpPr>
        <p:grpSpPr>
          <a:xfrm>
            <a:off x="744095" y="1998095"/>
            <a:ext cx="10698480" cy="4754880"/>
            <a:chOff x="641853" y="1998095"/>
            <a:chExt cx="6615000" cy="3239100"/>
          </a:xfrm>
        </p:grpSpPr>
        <p:sp>
          <p:nvSpPr>
            <p:cNvPr id="4" name="Google Shape;547;p31">
              <a:extLst>
                <a:ext uri="{FF2B5EF4-FFF2-40B4-BE49-F238E27FC236}">
                  <a16:creationId xmlns:a16="http://schemas.microsoft.com/office/drawing/2014/main" id="{999F6E4D-097D-D0C6-4F04-B54BD9BB9D3F}"/>
                </a:ext>
              </a:extLst>
            </p:cNvPr>
            <p:cNvSpPr/>
            <p:nvPr/>
          </p:nvSpPr>
          <p:spPr>
            <a:xfrm>
              <a:off x="3758853" y="362888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5" name="Google Shape;548;p31">
              <a:extLst>
                <a:ext uri="{FF2B5EF4-FFF2-40B4-BE49-F238E27FC236}">
                  <a16:creationId xmlns:a16="http://schemas.microsoft.com/office/drawing/2014/main" id="{69974E64-2BEB-1E85-6238-9B858A19D7E6}"/>
                </a:ext>
              </a:extLst>
            </p:cNvPr>
            <p:cNvCxnSpPr>
              <a:endCxn id="146" idx="1"/>
            </p:cNvCxnSpPr>
            <p:nvPr/>
          </p:nvCxnSpPr>
          <p:spPr>
            <a:xfrm>
              <a:off x="45459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6" name="Google Shape;550;p31">
              <a:extLst>
                <a:ext uri="{FF2B5EF4-FFF2-40B4-BE49-F238E27FC236}">
                  <a16:creationId xmlns:a16="http://schemas.microsoft.com/office/drawing/2014/main" id="{1FB45764-EEA5-C66C-41C0-C536DC00FF02}"/>
                </a:ext>
              </a:extLst>
            </p:cNvPr>
            <p:cNvCxnSpPr>
              <a:endCxn id="147" idx="1"/>
            </p:cNvCxnSpPr>
            <p:nvPr/>
          </p:nvCxnSpPr>
          <p:spPr>
            <a:xfrm>
              <a:off x="47208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7" name="Google Shape;552;p31">
              <a:extLst>
                <a:ext uri="{FF2B5EF4-FFF2-40B4-BE49-F238E27FC236}">
                  <a16:creationId xmlns:a16="http://schemas.microsoft.com/office/drawing/2014/main" id="{A1D1EBA0-B7D2-7ED1-2AA0-5716C51D76B3}"/>
                </a:ext>
              </a:extLst>
            </p:cNvPr>
            <p:cNvCxnSpPr>
              <a:endCxn id="148" idx="1"/>
            </p:cNvCxnSpPr>
            <p:nvPr/>
          </p:nvCxnSpPr>
          <p:spPr>
            <a:xfrm>
              <a:off x="48957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8" name="Google Shape;554;p31">
              <a:extLst>
                <a:ext uri="{FF2B5EF4-FFF2-40B4-BE49-F238E27FC236}">
                  <a16:creationId xmlns:a16="http://schemas.microsoft.com/office/drawing/2014/main" id="{FFD2BC69-42F7-6F9A-8743-AD1AC5B32604}"/>
                </a:ext>
              </a:extLst>
            </p:cNvPr>
            <p:cNvCxnSpPr>
              <a:endCxn id="149" idx="1"/>
            </p:cNvCxnSpPr>
            <p:nvPr/>
          </p:nvCxnSpPr>
          <p:spPr>
            <a:xfrm>
              <a:off x="50706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9" name="Google Shape;556;p31">
              <a:extLst>
                <a:ext uri="{FF2B5EF4-FFF2-40B4-BE49-F238E27FC236}">
                  <a16:creationId xmlns:a16="http://schemas.microsoft.com/office/drawing/2014/main" id="{DAF25B2C-D67C-1D24-B299-851C36BE5366}"/>
                </a:ext>
              </a:extLst>
            </p:cNvPr>
            <p:cNvCxnSpPr>
              <a:endCxn id="150" idx="1"/>
            </p:cNvCxnSpPr>
            <p:nvPr/>
          </p:nvCxnSpPr>
          <p:spPr>
            <a:xfrm>
              <a:off x="52455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10" name="Google Shape;558;p31">
              <a:extLst>
                <a:ext uri="{FF2B5EF4-FFF2-40B4-BE49-F238E27FC236}">
                  <a16:creationId xmlns:a16="http://schemas.microsoft.com/office/drawing/2014/main" id="{09283CC5-52D6-EF17-9DD7-33752E9E6C18}"/>
                </a:ext>
              </a:extLst>
            </p:cNvPr>
            <p:cNvCxnSpPr>
              <a:endCxn id="145" idx="1"/>
            </p:cNvCxnSpPr>
            <p:nvPr/>
          </p:nvCxnSpPr>
          <p:spPr>
            <a:xfrm>
              <a:off x="43710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11" name="Google Shape;560;p31">
              <a:extLst>
                <a:ext uri="{FF2B5EF4-FFF2-40B4-BE49-F238E27FC236}">
                  <a16:creationId xmlns:a16="http://schemas.microsoft.com/office/drawing/2014/main" id="{733F86AF-1514-1819-B96F-F88F0F923FCB}"/>
                </a:ext>
              </a:extLst>
            </p:cNvPr>
            <p:cNvCxnSpPr>
              <a:endCxn id="144" idx="1"/>
            </p:cNvCxnSpPr>
            <p:nvPr/>
          </p:nvCxnSpPr>
          <p:spPr>
            <a:xfrm>
              <a:off x="41961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12" name="Google Shape;562;p31">
              <a:extLst>
                <a:ext uri="{FF2B5EF4-FFF2-40B4-BE49-F238E27FC236}">
                  <a16:creationId xmlns:a16="http://schemas.microsoft.com/office/drawing/2014/main" id="{5A17277A-05E9-A832-02F8-12895683B203}"/>
                </a:ext>
              </a:extLst>
            </p:cNvPr>
            <p:cNvCxnSpPr>
              <a:endCxn id="143" idx="1"/>
            </p:cNvCxnSpPr>
            <p:nvPr/>
          </p:nvCxnSpPr>
          <p:spPr>
            <a:xfrm>
              <a:off x="4021203" y="393819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13" name="Google Shape;564;p31">
              <a:extLst>
                <a:ext uri="{FF2B5EF4-FFF2-40B4-BE49-F238E27FC236}">
                  <a16:creationId xmlns:a16="http://schemas.microsoft.com/office/drawing/2014/main" id="{DE42283F-43E5-C01E-FBFE-42BA5EE4ED3B}"/>
                </a:ext>
              </a:extLst>
            </p:cNvPr>
            <p:cNvCxnSpPr>
              <a:endCxn id="142" idx="1"/>
            </p:cNvCxnSpPr>
            <p:nvPr/>
          </p:nvCxnSpPr>
          <p:spPr>
            <a:xfrm>
              <a:off x="3846303" y="3938195"/>
              <a:ext cx="0" cy="306000"/>
            </a:xfrm>
            <a:prstGeom prst="straightConnector1">
              <a:avLst/>
            </a:prstGeom>
            <a:noFill/>
            <a:ln w="9525" cap="flat" cmpd="sng">
              <a:solidFill>
                <a:schemeClr val="dk2"/>
              </a:solidFill>
              <a:prstDash val="solid"/>
              <a:round/>
              <a:headEnd type="none" w="med" len="med"/>
              <a:tailEnd type="triangle" w="med" len="med"/>
            </a:ln>
          </p:spPr>
        </p:cxnSp>
        <p:sp>
          <p:nvSpPr>
            <p:cNvPr id="14" name="Google Shape;568;p31">
              <a:extLst>
                <a:ext uri="{FF2B5EF4-FFF2-40B4-BE49-F238E27FC236}">
                  <a16:creationId xmlns:a16="http://schemas.microsoft.com/office/drawing/2014/main" id="{4A2E1C0D-AED8-EB93-90EF-8A75B551CC90}"/>
                </a:ext>
              </a:extLst>
            </p:cNvPr>
            <p:cNvSpPr/>
            <p:nvPr/>
          </p:nvSpPr>
          <p:spPr>
            <a:xfrm rot="5400000">
              <a:off x="3682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15" name="Google Shape;569;p31">
              <a:extLst>
                <a:ext uri="{FF2B5EF4-FFF2-40B4-BE49-F238E27FC236}">
                  <a16:creationId xmlns:a16="http://schemas.microsoft.com/office/drawing/2014/main" id="{B71C6059-B4B0-0A53-6D63-F7763356C697}"/>
                </a:ext>
              </a:extLst>
            </p:cNvPr>
            <p:cNvSpPr/>
            <p:nvPr/>
          </p:nvSpPr>
          <p:spPr>
            <a:xfrm rot="5400000">
              <a:off x="5431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16" name="Google Shape;570;p31">
              <a:extLst>
                <a:ext uri="{FF2B5EF4-FFF2-40B4-BE49-F238E27FC236}">
                  <a16:creationId xmlns:a16="http://schemas.microsoft.com/office/drawing/2014/main" id="{7049BD5C-2889-36CC-F964-272B8409B32D}"/>
                </a:ext>
              </a:extLst>
            </p:cNvPr>
            <p:cNvSpPr/>
            <p:nvPr/>
          </p:nvSpPr>
          <p:spPr>
            <a:xfrm rot="5400000">
              <a:off x="7180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17" name="Google Shape;571;p31">
              <a:extLst>
                <a:ext uri="{FF2B5EF4-FFF2-40B4-BE49-F238E27FC236}">
                  <a16:creationId xmlns:a16="http://schemas.microsoft.com/office/drawing/2014/main" id="{68A29427-2D94-2908-FB21-29858F0E2563}"/>
                </a:ext>
              </a:extLst>
            </p:cNvPr>
            <p:cNvSpPr/>
            <p:nvPr/>
          </p:nvSpPr>
          <p:spPr>
            <a:xfrm rot="5400000">
              <a:off x="8929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92" name="Google Shape;572;p31">
              <a:extLst>
                <a:ext uri="{FF2B5EF4-FFF2-40B4-BE49-F238E27FC236}">
                  <a16:creationId xmlns:a16="http://schemas.microsoft.com/office/drawing/2014/main" id="{FD22A34F-B9A4-EC52-D616-19F73D773E26}"/>
                </a:ext>
              </a:extLst>
            </p:cNvPr>
            <p:cNvSpPr/>
            <p:nvPr/>
          </p:nvSpPr>
          <p:spPr>
            <a:xfrm rot="5400000">
              <a:off x="10678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4" name="Google Shape;573;p31">
              <a:extLst>
                <a:ext uri="{FF2B5EF4-FFF2-40B4-BE49-F238E27FC236}">
                  <a16:creationId xmlns:a16="http://schemas.microsoft.com/office/drawing/2014/main" id="{9D680662-8D3A-0586-6B77-1E767C656265}"/>
                </a:ext>
              </a:extLst>
            </p:cNvPr>
            <p:cNvSpPr/>
            <p:nvPr/>
          </p:nvSpPr>
          <p:spPr>
            <a:xfrm rot="5400000">
              <a:off x="12427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5" name="Google Shape;574;p31">
              <a:extLst>
                <a:ext uri="{FF2B5EF4-FFF2-40B4-BE49-F238E27FC236}">
                  <a16:creationId xmlns:a16="http://schemas.microsoft.com/office/drawing/2014/main" id="{95A89FE5-A257-96C1-A5F7-20DEC583CDBE}"/>
                </a:ext>
              </a:extLst>
            </p:cNvPr>
            <p:cNvSpPr/>
            <p:nvPr/>
          </p:nvSpPr>
          <p:spPr>
            <a:xfrm rot="5400000">
              <a:off x="14176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6" name="Google Shape;575;p31">
              <a:extLst>
                <a:ext uri="{FF2B5EF4-FFF2-40B4-BE49-F238E27FC236}">
                  <a16:creationId xmlns:a16="http://schemas.microsoft.com/office/drawing/2014/main" id="{369491FF-48D6-9BB0-F6A6-962F87B8FA9F}"/>
                </a:ext>
              </a:extLst>
            </p:cNvPr>
            <p:cNvSpPr/>
            <p:nvPr/>
          </p:nvSpPr>
          <p:spPr>
            <a:xfrm rot="5400000">
              <a:off x="15925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97" name="Google Shape;576;p31">
              <a:extLst>
                <a:ext uri="{FF2B5EF4-FFF2-40B4-BE49-F238E27FC236}">
                  <a16:creationId xmlns:a16="http://schemas.microsoft.com/office/drawing/2014/main" id="{06D5E05D-0DCA-A01F-76E9-4EE37BF3CF5E}"/>
                </a:ext>
              </a:extLst>
            </p:cNvPr>
            <p:cNvSpPr/>
            <p:nvPr/>
          </p:nvSpPr>
          <p:spPr>
            <a:xfrm rot="5400000">
              <a:off x="17674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98" name="Google Shape;577;p31">
              <a:extLst>
                <a:ext uri="{FF2B5EF4-FFF2-40B4-BE49-F238E27FC236}">
                  <a16:creationId xmlns:a16="http://schemas.microsoft.com/office/drawing/2014/main" id="{01F86947-F503-66ED-3A9F-F037E316B7BF}"/>
                </a:ext>
              </a:extLst>
            </p:cNvPr>
            <p:cNvSpPr/>
            <p:nvPr/>
          </p:nvSpPr>
          <p:spPr>
            <a:xfrm rot="5400000">
              <a:off x="19423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9" name="Google Shape;578;p31">
              <a:extLst>
                <a:ext uri="{FF2B5EF4-FFF2-40B4-BE49-F238E27FC236}">
                  <a16:creationId xmlns:a16="http://schemas.microsoft.com/office/drawing/2014/main" id="{EA4669A8-C54D-EAB2-EAC9-91A7D4BEB395}"/>
                </a:ext>
              </a:extLst>
            </p:cNvPr>
            <p:cNvSpPr/>
            <p:nvPr/>
          </p:nvSpPr>
          <p:spPr>
            <a:xfrm rot="5400000">
              <a:off x="21172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0" name="Google Shape;579;p31">
              <a:extLst>
                <a:ext uri="{FF2B5EF4-FFF2-40B4-BE49-F238E27FC236}">
                  <a16:creationId xmlns:a16="http://schemas.microsoft.com/office/drawing/2014/main" id="{F2B8106D-7A71-49BF-2B69-E70BB09F6C94}"/>
                </a:ext>
              </a:extLst>
            </p:cNvPr>
            <p:cNvSpPr/>
            <p:nvPr/>
          </p:nvSpPr>
          <p:spPr>
            <a:xfrm rot="5400000">
              <a:off x="22921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1" name="Google Shape;580;p31">
              <a:extLst>
                <a:ext uri="{FF2B5EF4-FFF2-40B4-BE49-F238E27FC236}">
                  <a16:creationId xmlns:a16="http://schemas.microsoft.com/office/drawing/2014/main" id="{4B724E30-0658-09C3-DE61-E674A743D918}"/>
                </a:ext>
              </a:extLst>
            </p:cNvPr>
            <p:cNvSpPr/>
            <p:nvPr/>
          </p:nvSpPr>
          <p:spPr>
            <a:xfrm rot="5400000">
              <a:off x="24670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2" name="Google Shape;581;p31">
              <a:extLst>
                <a:ext uri="{FF2B5EF4-FFF2-40B4-BE49-F238E27FC236}">
                  <a16:creationId xmlns:a16="http://schemas.microsoft.com/office/drawing/2014/main" id="{A95EB1A8-82F7-B95B-A28F-398989909EC1}"/>
                </a:ext>
              </a:extLst>
            </p:cNvPr>
            <p:cNvSpPr/>
            <p:nvPr/>
          </p:nvSpPr>
          <p:spPr>
            <a:xfrm rot="5400000">
              <a:off x="26419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3" name="Google Shape;582;p31">
              <a:extLst>
                <a:ext uri="{FF2B5EF4-FFF2-40B4-BE49-F238E27FC236}">
                  <a16:creationId xmlns:a16="http://schemas.microsoft.com/office/drawing/2014/main" id="{76640F47-AA5C-4CBE-3E7A-7263F9A7C29B}"/>
                </a:ext>
              </a:extLst>
            </p:cNvPr>
            <p:cNvSpPr/>
            <p:nvPr/>
          </p:nvSpPr>
          <p:spPr>
            <a:xfrm rot="5400000">
              <a:off x="28168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4" name="Google Shape;583;p31">
              <a:extLst>
                <a:ext uri="{FF2B5EF4-FFF2-40B4-BE49-F238E27FC236}">
                  <a16:creationId xmlns:a16="http://schemas.microsoft.com/office/drawing/2014/main" id="{411A29FB-1B10-B7F2-0E33-BFB1FFEC5ADC}"/>
                </a:ext>
              </a:extLst>
            </p:cNvPr>
            <p:cNvSpPr/>
            <p:nvPr/>
          </p:nvSpPr>
          <p:spPr>
            <a:xfrm rot="5400000">
              <a:off x="29917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05" name="Google Shape;584;p31">
              <a:extLst>
                <a:ext uri="{FF2B5EF4-FFF2-40B4-BE49-F238E27FC236}">
                  <a16:creationId xmlns:a16="http://schemas.microsoft.com/office/drawing/2014/main" id="{99D5D2E6-485F-0008-6436-1B7482FDE50E}"/>
                </a:ext>
              </a:extLst>
            </p:cNvPr>
            <p:cNvSpPr/>
            <p:nvPr/>
          </p:nvSpPr>
          <p:spPr>
            <a:xfrm rot="5400000">
              <a:off x="31666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dirty="0">
                  <a:solidFill>
                    <a:srgbClr val="C00000"/>
                  </a:solidFill>
                  <a:latin typeface="Roboto"/>
                  <a:ea typeface="Roboto"/>
                  <a:cs typeface="Roboto"/>
                  <a:sym typeface="Roboto"/>
                </a:rPr>
                <a:t>ISN+140</a:t>
              </a:r>
              <a:endParaRPr sz="1000" b="1" dirty="0">
                <a:solidFill>
                  <a:srgbClr val="C00000"/>
                </a:solidFill>
                <a:latin typeface="Roboto"/>
                <a:ea typeface="Roboto"/>
                <a:cs typeface="Roboto"/>
                <a:sym typeface="Roboto"/>
              </a:endParaRPr>
            </a:p>
          </p:txBody>
        </p:sp>
        <p:sp>
          <p:nvSpPr>
            <p:cNvPr id="106" name="Google Shape;585;p31">
              <a:extLst>
                <a:ext uri="{FF2B5EF4-FFF2-40B4-BE49-F238E27FC236}">
                  <a16:creationId xmlns:a16="http://schemas.microsoft.com/office/drawing/2014/main" id="{61B86479-CEFC-EB85-D32F-8CE1F47332F6}"/>
                </a:ext>
              </a:extLst>
            </p:cNvPr>
            <p:cNvSpPr/>
            <p:nvPr/>
          </p:nvSpPr>
          <p:spPr>
            <a:xfrm rot="5400000">
              <a:off x="33415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107" name="Google Shape;586;p31">
              <a:extLst>
                <a:ext uri="{FF2B5EF4-FFF2-40B4-BE49-F238E27FC236}">
                  <a16:creationId xmlns:a16="http://schemas.microsoft.com/office/drawing/2014/main" id="{6BFE52B4-67AE-C4D8-BCFB-FCD5B0F8E6E0}"/>
                </a:ext>
              </a:extLst>
            </p:cNvPr>
            <p:cNvSpPr/>
            <p:nvPr/>
          </p:nvSpPr>
          <p:spPr>
            <a:xfrm rot="5400000">
              <a:off x="35164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108" name="Google Shape;587;p31">
              <a:extLst>
                <a:ext uri="{FF2B5EF4-FFF2-40B4-BE49-F238E27FC236}">
                  <a16:creationId xmlns:a16="http://schemas.microsoft.com/office/drawing/2014/main" id="{D74AF8AC-BD06-5B5F-631C-9E13E2B424D5}"/>
                </a:ext>
              </a:extLst>
            </p:cNvPr>
            <p:cNvSpPr/>
            <p:nvPr/>
          </p:nvSpPr>
          <p:spPr>
            <a:xfrm rot="5400000">
              <a:off x="36913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109" name="Google Shape;588;p31">
              <a:extLst>
                <a:ext uri="{FF2B5EF4-FFF2-40B4-BE49-F238E27FC236}">
                  <a16:creationId xmlns:a16="http://schemas.microsoft.com/office/drawing/2014/main" id="{57261E3A-E04C-864B-4916-21954639480E}"/>
                </a:ext>
              </a:extLst>
            </p:cNvPr>
            <p:cNvSpPr/>
            <p:nvPr/>
          </p:nvSpPr>
          <p:spPr>
            <a:xfrm rot="5400000">
              <a:off x="38662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0" name="Google Shape;589;p31">
              <a:extLst>
                <a:ext uri="{FF2B5EF4-FFF2-40B4-BE49-F238E27FC236}">
                  <a16:creationId xmlns:a16="http://schemas.microsoft.com/office/drawing/2014/main" id="{A7521495-6266-E530-3C87-1A56C4E7F2CF}"/>
                </a:ext>
              </a:extLst>
            </p:cNvPr>
            <p:cNvSpPr/>
            <p:nvPr/>
          </p:nvSpPr>
          <p:spPr>
            <a:xfrm rot="5400000">
              <a:off x="40411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1" name="Google Shape;590;p31">
              <a:extLst>
                <a:ext uri="{FF2B5EF4-FFF2-40B4-BE49-F238E27FC236}">
                  <a16:creationId xmlns:a16="http://schemas.microsoft.com/office/drawing/2014/main" id="{CEC2AB4D-BE62-EF26-ABEC-CF54962BCB59}"/>
                </a:ext>
              </a:extLst>
            </p:cNvPr>
            <p:cNvSpPr/>
            <p:nvPr/>
          </p:nvSpPr>
          <p:spPr>
            <a:xfrm rot="5400000">
              <a:off x="42160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2" name="Google Shape;591;p31">
              <a:extLst>
                <a:ext uri="{FF2B5EF4-FFF2-40B4-BE49-F238E27FC236}">
                  <a16:creationId xmlns:a16="http://schemas.microsoft.com/office/drawing/2014/main" id="{C2B7C441-29D4-CA6D-69BC-8D5CEC9E4B05}"/>
                </a:ext>
              </a:extLst>
            </p:cNvPr>
            <p:cNvSpPr/>
            <p:nvPr/>
          </p:nvSpPr>
          <p:spPr>
            <a:xfrm rot="5400000">
              <a:off x="43909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113" name="Google Shape;592;p31">
              <a:extLst>
                <a:ext uri="{FF2B5EF4-FFF2-40B4-BE49-F238E27FC236}">
                  <a16:creationId xmlns:a16="http://schemas.microsoft.com/office/drawing/2014/main" id="{61C0FE65-0B78-1701-27A6-43EAAC842441}"/>
                </a:ext>
              </a:extLst>
            </p:cNvPr>
            <p:cNvSpPr/>
            <p:nvPr/>
          </p:nvSpPr>
          <p:spPr>
            <a:xfrm rot="5400000">
              <a:off x="45658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114" name="Google Shape;593;p31">
              <a:extLst>
                <a:ext uri="{FF2B5EF4-FFF2-40B4-BE49-F238E27FC236}">
                  <a16:creationId xmlns:a16="http://schemas.microsoft.com/office/drawing/2014/main" id="{B0CD03B1-D429-64DB-47D1-0B76998A725B}"/>
                </a:ext>
              </a:extLst>
            </p:cNvPr>
            <p:cNvSpPr/>
            <p:nvPr/>
          </p:nvSpPr>
          <p:spPr>
            <a:xfrm rot="5400000">
              <a:off x="47407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5" name="Google Shape;594;p31">
              <a:extLst>
                <a:ext uri="{FF2B5EF4-FFF2-40B4-BE49-F238E27FC236}">
                  <a16:creationId xmlns:a16="http://schemas.microsoft.com/office/drawing/2014/main" id="{05004530-D53B-E480-EAB4-48C10E8C8D45}"/>
                </a:ext>
              </a:extLst>
            </p:cNvPr>
            <p:cNvSpPr/>
            <p:nvPr/>
          </p:nvSpPr>
          <p:spPr>
            <a:xfrm rot="5400000">
              <a:off x="49156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6" name="Google Shape;595;p31">
              <a:extLst>
                <a:ext uri="{FF2B5EF4-FFF2-40B4-BE49-F238E27FC236}">
                  <a16:creationId xmlns:a16="http://schemas.microsoft.com/office/drawing/2014/main" id="{9B0BD548-3728-2E48-A66A-4F7AB170637B}"/>
                </a:ext>
              </a:extLst>
            </p:cNvPr>
            <p:cNvSpPr/>
            <p:nvPr/>
          </p:nvSpPr>
          <p:spPr>
            <a:xfrm rot="5400000">
              <a:off x="50905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7" name="Google Shape;596;p31">
              <a:extLst>
                <a:ext uri="{FF2B5EF4-FFF2-40B4-BE49-F238E27FC236}">
                  <a16:creationId xmlns:a16="http://schemas.microsoft.com/office/drawing/2014/main" id="{A4DEB8D6-651C-3758-75C5-DA8C9B60B82D}"/>
                </a:ext>
              </a:extLst>
            </p:cNvPr>
            <p:cNvSpPr/>
            <p:nvPr/>
          </p:nvSpPr>
          <p:spPr>
            <a:xfrm rot="5400000">
              <a:off x="52654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8" name="Google Shape;597;p31">
              <a:extLst>
                <a:ext uri="{FF2B5EF4-FFF2-40B4-BE49-F238E27FC236}">
                  <a16:creationId xmlns:a16="http://schemas.microsoft.com/office/drawing/2014/main" id="{C1FF0036-09DD-D886-BB75-C3356FA87006}"/>
                </a:ext>
              </a:extLst>
            </p:cNvPr>
            <p:cNvSpPr/>
            <p:nvPr/>
          </p:nvSpPr>
          <p:spPr>
            <a:xfrm rot="5400000">
              <a:off x="54403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19" name="Google Shape;598;p31">
              <a:extLst>
                <a:ext uri="{FF2B5EF4-FFF2-40B4-BE49-F238E27FC236}">
                  <a16:creationId xmlns:a16="http://schemas.microsoft.com/office/drawing/2014/main" id="{6E0259C8-73E9-1B2F-CB2C-240F10BCED8D}"/>
                </a:ext>
              </a:extLst>
            </p:cNvPr>
            <p:cNvSpPr/>
            <p:nvPr/>
          </p:nvSpPr>
          <p:spPr>
            <a:xfrm rot="5400000">
              <a:off x="56152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0" name="Google Shape;599;p31">
              <a:extLst>
                <a:ext uri="{FF2B5EF4-FFF2-40B4-BE49-F238E27FC236}">
                  <a16:creationId xmlns:a16="http://schemas.microsoft.com/office/drawing/2014/main" id="{DCF48BB4-6A11-ECFF-4D26-9A0579034B5E}"/>
                </a:ext>
              </a:extLst>
            </p:cNvPr>
            <p:cNvSpPr/>
            <p:nvPr/>
          </p:nvSpPr>
          <p:spPr>
            <a:xfrm rot="5400000">
              <a:off x="57901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1" name="Google Shape;600;p31">
              <a:extLst>
                <a:ext uri="{FF2B5EF4-FFF2-40B4-BE49-F238E27FC236}">
                  <a16:creationId xmlns:a16="http://schemas.microsoft.com/office/drawing/2014/main" id="{B77A8D9A-3761-B26A-73F5-443AEADA1812}"/>
                </a:ext>
              </a:extLst>
            </p:cNvPr>
            <p:cNvSpPr/>
            <p:nvPr/>
          </p:nvSpPr>
          <p:spPr>
            <a:xfrm rot="5400000">
              <a:off x="5965053" y="22716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2" name="Google Shape;601;p31">
              <a:extLst>
                <a:ext uri="{FF2B5EF4-FFF2-40B4-BE49-F238E27FC236}">
                  <a16:creationId xmlns:a16="http://schemas.microsoft.com/office/drawing/2014/main" id="{5FEB2DAC-F5A0-D2D0-C0B4-DB3D690B7A1A}"/>
                </a:ext>
              </a:extLst>
            </p:cNvPr>
            <p:cNvSpPr/>
            <p:nvPr/>
          </p:nvSpPr>
          <p:spPr>
            <a:xfrm rot="5400000">
              <a:off x="6139953" y="227169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3" name="Google Shape;602;p31">
              <a:extLst>
                <a:ext uri="{FF2B5EF4-FFF2-40B4-BE49-F238E27FC236}">
                  <a16:creationId xmlns:a16="http://schemas.microsoft.com/office/drawing/2014/main" id="{CECEC806-1A69-B665-1E4C-891C88D988FA}"/>
                </a:ext>
              </a:extLst>
            </p:cNvPr>
            <p:cNvSpPr/>
            <p:nvPr/>
          </p:nvSpPr>
          <p:spPr>
            <a:xfrm rot="5400000">
              <a:off x="6314853" y="227169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4" name="Google Shape;603;p31">
              <a:extLst>
                <a:ext uri="{FF2B5EF4-FFF2-40B4-BE49-F238E27FC236}">
                  <a16:creationId xmlns:a16="http://schemas.microsoft.com/office/drawing/2014/main" id="{4E5EE49A-7BE4-7FA2-8AED-B5E15A02E215}"/>
                </a:ext>
              </a:extLst>
            </p:cNvPr>
            <p:cNvSpPr/>
            <p:nvPr/>
          </p:nvSpPr>
          <p:spPr>
            <a:xfrm rot="5400000">
              <a:off x="6489753" y="227169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25" name="Google Shape;604;p31">
              <a:extLst>
                <a:ext uri="{FF2B5EF4-FFF2-40B4-BE49-F238E27FC236}">
                  <a16:creationId xmlns:a16="http://schemas.microsoft.com/office/drawing/2014/main" id="{566B1C19-BF46-6061-12FC-01E42827D450}"/>
                </a:ext>
              </a:extLst>
            </p:cNvPr>
            <p:cNvSpPr/>
            <p:nvPr/>
          </p:nvSpPr>
          <p:spPr>
            <a:xfrm>
              <a:off x="3440253" y="302498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126" name="Google Shape;605;p31">
              <a:extLst>
                <a:ext uri="{FF2B5EF4-FFF2-40B4-BE49-F238E27FC236}">
                  <a16:creationId xmlns:a16="http://schemas.microsoft.com/office/drawing/2014/main" id="{5BABD957-1DB2-C1D5-FFC1-06BBD0A1B1BA}"/>
                </a:ext>
              </a:extLst>
            </p:cNvPr>
            <p:cNvSpPr/>
            <p:nvPr/>
          </p:nvSpPr>
          <p:spPr>
            <a:xfrm rot="5400000">
              <a:off x="6868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127" name="Google Shape;606;p31">
              <a:extLst>
                <a:ext uri="{FF2B5EF4-FFF2-40B4-BE49-F238E27FC236}">
                  <a16:creationId xmlns:a16="http://schemas.microsoft.com/office/drawing/2014/main" id="{B951ADBE-67B8-0DAB-71BA-FE12F67B3D71}"/>
                </a:ext>
              </a:extLst>
            </p:cNvPr>
            <p:cNvSpPr/>
            <p:nvPr/>
          </p:nvSpPr>
          <p:spPr>
            <a:xfrm rot="5400000">
              <a:off x="8617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128" name="Google Shape;607;p31">
              <a:extLst>
                <a:ext uri="{FF2B5EF4-FFF2-40B4-BE49-F238E27FC236}">
                  <a16:creationId xmlns:a16="http://schemas.microsoft.com/office/drawing/2014/main" id="{D6E8708B-FB64-DF2C-5EA6-D3EFCDF35E3F}"/>
                </a:ext>
              </a:extLst>
            </p:cNvPr>
            <p:cNvSpPr/>
            <p:nvPr/>
          </p:nvSpPr>
          <p:spPr>
            <a:xfrm rot="5400000">
              <a:off x="10366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129" name="Google Shape;608;p31">
              <a:extLst>
                <a:ext uri="{FF2B5EF4-FFF2-40B4-BE49-F238E27FC236}">
                  <a16:creationId xmlns:a16="http://schemas.microsoft.com/office/drawing/2014/main" id="{F292EE76-449B-2F18-68BB-25CE2A8CF8B1}"/>
                </a:ext>
              </a:extLst>
            </p:cNvPr>
            <p:cNvSpPr/>
            <p:nvPr/>
          </p:nvSpPr>
          <p:spPr>
            <a:xfrm rot="5400000">
              <a:off x="12115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130" name="Google Shape;609;p31">
              <a:extLst>
                <a:ext uri="{FF2B5EF4-FFF2-40B4-BE49-F238E27FC236}">
                  <a16:creationId xmlns:a16="http://schemas.microsoft.com/office/drawing/2014/main" id="{1DD49117-E6E6-E40B-688C-7889CD23D50B}"/>
                </a:ext>
              </a:extLst>
            </p:cNvPr>
            <p:cNvSpPr/>
            <p:nvPr/>
          </p:nvSpPr>
          <p:spPr>
            <a:xfrm rot="5400000">
              <a:off x="13864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1" name="Google Shape;610;p31">
              <a:extLst>
                <a:ext uri="{FF2B5EF4-FFF2-40B4-BE49-F238E27FC236}">
                  <a16:creationId xmlns:a16="http://schemas.microsoft.com/office/drawing/2014/main" id="{B66B3119-5A03-608A-C20C-1D13D7D540A5}"/>
                </a:ext>
              </a:extLst>
            </p:cNvPr>
            <p:cNvSpPr/>
            <p:nvPr/>
          </p:nvSpPr>
          <p:spPr>
            <a:xfrm rot="5400000">
              <a:off x="15613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2" name="Google Shape;611;p31">
              <a:extLst>
                <a:ext uri="{FF2B5EF4-FFF2-40B4-BE49-F238E27FC236}">
                  <a16:creationId xmlns:a16="http://schemas.microsoft.com/office/drawing/2014/main" id="{1D753550-3E8D-9095-2649-C858F110BE40}"/>
                </a:ext>
              </a:extLst>
            </p:cNvPr>
            <p:cNvSpPr/>
            <p:nvPr/>
          </p:nvSpPr>
          <p:spPr>
            <a:xfrm rot="5400000">
              <a:off x="17362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3" name="Google Shape;612;p31">
              <a:extLst>
                <a:ext uri="{FF2B5EF4-FFF2-40B4-BE49-F238E27FC236}">
                  <a16:creationId xmlns:a16="http://schemas.microsoft.com/office/drawing/2014/main" id="{00DF5195-2B1C-14D4-71BF-BC4A78A05549}"/>
                </a:ext>
              </a:extLst>
            </p:cNvPr>
            <p:cNvSpPr/>
            <p:nvPr/>
          </p:nvSpPr>
          <p:spPr>
            <a:xfrm rot="5400000">
              <a:off x="19111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134" name="Google Shape;613;p31">
              <a:extLst>
                <a:ext uri="{FF2B5EF4-FFF2-40B4-BE49-F238E27FC236}">
                  <a16:creationId xmlns:a16="http://schemas.microsoft.com/office/drawing/2014/main" id="{CC3A3E3E-01CD-8C47-C103-E30D5EFC0827}"/>
                </a:ext>
              </a:extLst>
            </p:cNvPr>
            <p:cNvSpPr/>
            <p:nvPr/>
          </p:nvSpPr>
          <p:spPr>
            <a:xfrm rot="5400000">
              <a:off x="20860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135" name="Google Shape;614;p31">
              <a:extLst>
                <a:ext uri="{FF2B5EF4-FFF2-40B4-BE49-F238E27FC236}">
                  <a16:creationId xmlns:a16="http://schemas.microsoft.com/office/drawing/2014/main" id="{FAE520CD-BAB0-B35D-1657-BB88EB295008}"/>
                </a:ext>
              </a:extLst>
            </p:cNvPr>
            <p:cNvSpPr/>
            <p:nvPr/>
          </p:nvSpPr>
          <p:spPr>
            <a:xfrm rot="5400000">
              <a:off x="22609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6" name="Google Shape;615;p31">
              <a:extLst>
                <a:ext uri="{FF2B5EF4-FFF2-40B4-BE49-F238E27FC236}">
                  <a16:creationId xmlns:a16="http://schemas.microsoft.com/office/drawing/2014/main" id="{13F18BC2-75C9-55DE-28F1-0A146BF697E5}"/>
                </a:ext>
              </a:extLst>
            </p:cNvPr>
            <p:cNvSpPr/>
            <p:nvPr/>
          </p:nvSpPr>
          <p:spPr>
            <a:xfrm rot="5400000">
              <a:off x="24358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7" name="Google Shape;616;p31">
              <a:extLst>
                <a:ext uri="{FF2B5EF4-FFF2-40B4-BE49-F238E27FC236}">
                  <a16:creationId xmlns:a16="http://schemas.microsoft.com/office/drawing/2014/main" id="{5A97B8C1-6552-32B9-B7BA-D726A495A605}"/>
                </a:ext>
              </a:extLst>
            </p:cNvPr>
            <p:cNvSpPr/>
            <p:nvPr/>
          </p:nvSpPr>
          <p:spPr>
            <a:xfrm rot="5400000">
              <a:off x="26107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8" name="Google Shape;617;p31">
              <a:extLst>
                <a:ext uri="{FF2B5EF4-FFF2-40B4-BE49-F238E27FC236}">
                  <a16:creationId xmlns:a16="http://schemas.microsoft.com/office/drawing/2014/main" id="{7EDF964F-81A3-E5B6-E7D3-DAD5DFF99BAB}"/>
                </a:ext>
              </a:extLst>
            </p:cNvPr>
            <p:cNvSpPr/>
            <p:nvPr/>
          </p:nvSpPr>
          <p:spPr>
            <a:xfrm rot="5400000">
              <a:off x="27856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39" name="Google Shape;618;p31">
              <a:extLst>
                <a:ext uri="{FF2B5EF4-FFF2-40B4-BE49-F238E27FC236}">
                  <a16:creationId xmlns:a16="http://schemas.microsoft.com/office/drawing/2014/main" id="{09AF6616-423D-CD92-7CED-6FF60F94DAAA}"/>
                </a:ext>
              </a:extLst>
            </p:cNvPr>
            <p:cNvSpPr/>
            <p:nvPr/>
          </p:nvSpPr>
          <p:spPr>
            <a:xfrm rot="5400000">
              <a:off x="29605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0" name="Google Shape;619;p31">
              <a:extLst>
                <a:ext uri="{FF2B5EF4-FFF2-40B4-BE49-F238E27FC236}">
                  <a16:creationId xmlns:a16="http://schemas.microsoft.com/office/drawing/2014/main" id="{08D913BF-FD7C-42C1-3B06-B7E45F1B1016}"/>
                </a:ext>
              </a:extLst>
            </p:cNvPr>
            <p:cNvSpPr/>
            <p:nvPr/>
          </p:nvSpPr>
          <p:spPr>
            <a:xfrm rot="5400000">
              <a:off x="31354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1" name="Google Shape;620;p31">
              <a:extLst>
                <a:ext uri="{FF2B5EF4-FFF2-40B4-BE49-F238E27FC236}">
                  <a16:creationId xmlns:a16="http://schemas.microsoft.com/office/drawing/2014/main" id="{3E96B663-0127-678F-2D7E-CB4D5B2D6E82}"/>
                </a:ext>
              </a:extLst>
            </p:cNvPr>
            <p:cNvSpPr/>
            <p:nvPr/>
          </p:nvSpPr>
          <p:spPr>
            <a:xfrm rot="5400000">
              <a:off x="33103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2" name="Google Shape;565;p31">
              <a:extLst>
                <a:ext uri="{FF2B5EF4-FFF2-40B4-BE49-F238E27FC236}">
                  <a16:creationId xmlns:a16="http://schemas.microsoft.com/office/drawing/2014/main" id="{68BE8286-FF15-5370-C3B7-C306B8428542}"/>
                </a:ext>
              </a:extLst>
            </p:cNvPr>
            <p:cNvSpPr/>
            <p:nvPr/>
          </p:nvSpPr>
          <p:spPr>
            <a:xfrm rot="5400000">
              <a:off x="34852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dirty="0">
                  <a:solidFill>
                    <a:srgbClr val="C00000"/>
                  </a:solidFill>
                  <a:latin typeface="Roboto"/>
                  <a:ea typeface="Roboto"/>
                  <a:cs typeface="Roboto"/>
                  <a:sym typeface="Roboto"/>
                </a:rPr>
                <a:t>ISN+140</a:t>
              </a:r>
              <a:endParaRPr sz="1000" b="1" dirty="0">
                <a:solidFill>
                  <a:srgbClr val="C00000"/>
                </a:solidFill>
                <a:latin typeface="Roboto"/>
                <a:ea typeface="Roboto"/>
                <a:cs typeface="Roboto"/>
                <a:sym typeface="Roboto"/>
              </a:endParaRPr>
            </a:p>
          </p:txBody>
        </p:sp>
        <p:sp>
          <p:nvSpPr>
            <p:cNvPr id="143" name="Google Shape;563;p31">
              <a:extLst>
                <a:ext uri="{FF2B5EF4-FFF2-40B4-BE49-F238E27FC236}">
                  <a16:creationId xmlns:a16="http://schemas.microsoft.com/office/drawing/2014/main" id="{63EF9BB3-63F8-E782-7A44-9E42170643DF}"/>
                </a:ext>
              </a:extLst>
            </p:cNvPr>
            <p:cNvSpPr/>
            <p:nvPr/>
          </p:nvSpPr>
          <p:spPr>
            <a:xfrm rot="5400000">
              <a:off x="36601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144" name="Google Shape;561;p31">
              <a:extLst>
                <a:ext uri="{FF2B5EF4-FFF2-40B4-BE49-F238E27FC236}">
                  <a16:creationId xmlns:a16="http://schemas.microsoft.com/office/drawing/2014/main" id="{0E9EA944-017D-3709-6D8D-72628AAA559A}"/>
                </a:ext>
              </a:extLst>
            </p:cNvPr>
            <p:cNvSpPr/>
            <p:nvPr/>
          </p:nvSpPr>
          <p:spPr>
            <a:xfrm rot="5400000">
              <a:off x="38350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145" name="Google Shape;559;p31">
              <a:extLst>
                <a:ext uri="{FF2B5EF4-FFF2-40B4-BE49-F238E27FC236}">
                  <a16:creationId xmlns:a16="http://schemas.microsoft.com/office/drawing/2014/main" id="{2C12719D-5585-3DF7-D34C-0C424C9DEA05}"/>
                </a:ext>
              </a:extLst>
            </p:cNvPr>
            <p:cNvSpPr/>
            <p:nvPr/>
          </p:nvSpPr>
          <p:spPr>
            <a:xfrm rot="5400000">
              <a:off x="40099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146" name="Google Shape;549;p31">
              <a:extLst>
                <a:ext uri="{FF2B5EF4-FFF2-40B4-BE49-F238E27FC236}">
                  <a16:creationId xmlns:a16="http://schemas.microsoft.com/office/drawing/2014/main" id="{9F18D70E-7F35-C845-D5E6-3084348CDA64}"/>
                </a:ext>
              </a:extLst>
            </p:cNvPr>
            <p:cNvSpPr/>
            <p:nvPr/>
          </p:nvSpPr>
          <p:spPr>
            <a:xfrm rot="5400000">
              <a:off x="41848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7" name="Google Shape;551;p31">
              <a:extLst>
                <a:ext uri="{FF2B5EF4-FFF2-40B4-BE49-F238E27FC236}">
                  <a16:creationId xmlns:a16="http://schemas.microsoft.com/office/drawing/2014/main" id="{B982E5E3-D0A5-0ABD-3F58-2FE71F67B50A}"/>
                </a:ext>
              </a:extLst>
            </p:cNvPr>
            <p:cNvSpPr/>
            <p:nvPr/>
          </p:nvSpPr>
          <p:spPr>
            <a:xfrm rot="5400000">
              <a:off x="43597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8" name="Google Shape;553;p31">
              <a:extLst>
                <a:ext uri="{FF2B5EF4-FFF2-40B4-BE49-F238E27FC236}">
                  <a16:creationId xmlns:a16="http://schemas.microsoft.com/office/drawing/2014/main" id="{683156CC-6E9C-2BCC-6474-CCF3473AC74B}"/>
                </a:ext>
              </a:extLst>
            </p:cNvPr>
            <p:cNvSpPr/>
            <p:nvPr/>
          </p:nvSpPr>
          <p:spPr>
            <a:xfrm rot="5400000">
              <a:off x="45346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49" name="Google Shape;555;p31">
              <a:extLst>
                <a:ext uri="{FF2B5EF4-FFF2-40B4-BE49-F238E27FC236}">
                  <a16:creationId xmlns:a16="http://schemas.microsoft.com/office/drawing/2014/main" id="{9FFED494-ED12-9BBB-BBBD-8116CE260C74}"/>
                </a:ext>
              </a:extLst>
            </p:cNvPr>
            <p:cNvSpPr/>
            <p:nvPr/>
          </p:nvSpPr>
          <p:spPr>
            <a:xfrm rot="5400000">
              <a:off x="47095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150" name="Google Shape;557;p31">
              <a:extLst>
                <a:ext uri="{FF2B5EF4-FFF2-40B4-BE49-F238E27FC236}">
                  <a16:creationId xmlns:a16="http://schemas.microsoft.com/office/drawing/2014/main" id="{6B483616-FE77-FD20-F0B8-831C88E509DE}"/>
                </a:ext>
              </a:extLst>
            </p:cNvPr>
            <p:cNvSpPr/>
            <p:nvPr/>
          </p:nvSpPr>
          <p:spPr>
            <a:xfrm rot="5400000">
              <a:off x="48844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151" name="Google Shape;621;p31">
              <a:extLst>
                <a:ext uri="{FF2B5EF4-FFF2-40B4-BE49-F238E27FC236}">
                  <a16:creationId xmlns:a16="http://schemas.microsoft.com/office/drawing/2014/main" id="{40E61FB7-B073-9F89-2184-194084B922E1}"/>
                </a:ext>
              </a:extLst>
            </p:cNvPr>
            <p:cNvSpPr/>
            <p:nvPr/>
          </p:nvSpPr>
          <p:spPr>
            <a:xfrm rot="5400000">
              <a:off x="50593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2" name="Google Shape;622;p31">
              <a:extLst>
                <a:ext uri="{FF2B5EF4-FFF2-40B4-BE49-F238E27FC236}">
                  <a16:creationId xmlns:a16="http://schemas.microsoft.com/office/drawing/2014/main" id="{C51FBE36-789A-14ED-2CAB-233522A6D4CA}"/>
                </a:ext>
              </a:extLst>
            </p:cNvPr>
            <p:cNvSpPr/>
            <p:nvPr/>
          </p:nvSpPr>
          <p:spPr>
            <a:xfrm rot="5400000">
              <a:off x="52342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3" name="Google Shape;623;p31">
              <a:extLst>
                <a:ext uri="{FF2B5EF4-FFF2-40B4-BE49-F238E27FC236}">
                  <a16:creationId xmlns:a16="http://schemas.microsoft.com/office/drawing/2014/main" id="{435B9068-0EBF-6CEF-88A3-1708793FC6B3}"/>
                </a:ext>
              </a:extLst>
            </p:cNvPr>
            <p:cNvSpPr/>
            <p:nvPr/>
          </p:nvSpPr>
          <p:spPr>
            <a:xfrm rot="5400000">
              <a:off x="54091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4" name="Google Shape;624;p31">
              <a:extLst>
                <a:ext uri="{FF2B5EF4-FFF2-40B4-BE49-F238E27FC236}">
                  <a16:creationId xmlns:a16="http://schemas.microsoft.com/office/drawing/2014/main" id="{243C1508-5FF7-0254-526F-5D2B13533955}"/>
                </a:ext>
              </a:extLst>
            </p:cNvPr>
            <p:cNvSpPr/>
            <p:nvPr/>
          </p:nvSpPr>
          <p:spPr>
            <a:xfrm rot="5400000">
              <a:off x="55840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5" name="Google Shape;625;p31">
              <a:extLst>
                <a:ext uri="{FF2B5EF4-FFF2-40B4-BE49-F238E27FC236}">
                  <a16:creationId xmlns:a16="http://schemas.microsoft.com/office/drawing/2014/main" id="{17F795A4-FD03-2862-3C53-86F48AEEAA78}"/>
                </a:ext>
              </a:extLst>
            </p:cNvPr>
            <p:cNvSpPr/>
            <p:nvPr/>
          </p:nvSpPr>
          <p:spPr>
            <a:xfrm rot="5400000">
              <a:off x="57589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6" name="Google Shape;626;p31">
              <a:extLst>
                <a:ext uri="{FF2B5EF4-FFF2-40B4-BE49-F238E27FC236}">
                  <a16:creationId xmlns:a16="http://schemas.microsoft.com/office/drawing/2014/main" id="{C8F20ECC-CC12-E767-169C-1A175D04AC69}"/>
                </a:ext>
              </a:extLst>
            </p:cNvPr>
            <p:cNvSpPr/>
            <p:nvPr/>
          </p:nvSpPr>
          <p:spPr>
            <a:xfrm rot="5400000">
              <a:off x="59338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7" name="Google Shape;627;p31">
              <a:extLst>
                <a:ext uri="{FF2B5EF4-FFF2-40B4-BE49-F238E27FC236}">
                  <a16:creationId xmlns:a16="http://schemas.microsoft.com/office/drawing/2014/main" id="{A6E3B399-0DEB-AA0F-B8AA-0DB41834C3C7}"/>
                </a:ext>
              </a:extLst>
            </p:cNvPr>
            <p:cNvSpPr/>
            <p:nvPr/>
          </p:nvSpPr>
          <p:spPr>
            <a:xfrm rot="5400000">
              <a:off x="61087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8" name="Google Shape;628;p31">
              <a:extLst>
                <a:ext uri="{FF2B5EF4-FFF2-40B4-BE49-F238E27FC236}">
                  <a16:creationId xmlns:a16="http://schemas.microsoft.com/office/drawing/2014/main" id="{D9448EBF-E71C-3DA2-0F08-DFF6F457BFA5}"/>
                </a:ext>
              </a:extLst>
            </p:cNvPr>
            <p:cNvSpPr/>
            <p:nvPr/>
          </p:nvSpPr>
          <p:spPr>
            <a:xfrm rot="5400000">
              <a:off x="6283653" y="451779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59" name="Google Shape;629;p31">
              <a:extLst>
                <a:ext uri="{FF2B5EF4-FFF2-40B4-BE49-F238E27FC236}">
                  <a16:creationId xmlns:a16="http://schemas.microsoft.com/office/drawing/2014/main" id="{FA063B14-5238-0499-1CC3-6E40484BCD37}"/>
                </a:ext>
              </a:extLst>
            </p:cNvPr>
            <p:cNvSpPr/>
            <p:nvPr/>
          </p:nvSpPr>
          <p:spPr>
            <a:xfrm rot="5400000">
              <a:off x="6458553" y="451779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0" name="Google Shape;630;p31">
              <a:extLst>
                <a:ext uri="{FF2B5EF4-FFF2-40B4-BE49-F238E27FC236}">
                  <a16:creationId xmlns:a16="http://schemas.microsoft.com/office/drawing/2014/main" id="{58A98708-B3F8-99FB-296C-84F2FFB89FDA}"/>
                </a:ext>
              </a:extLst>
            </p:cNvPr>
            <p:cNvSpPr/>
            <p:nvPr/>
          </p:nvSpPr>
          <p:spPr>
            <a:xfrm rot="5400000">
              <a:off x="6633453" y="451779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1" name="Google Shape;631;p31">
              <a:extLst>
                <a:ext uri="{FF2B5EF4-FFF2-40B4-BE49-F238E27FC236}">
                  <a16:creationId xmlns:a16="http://schemas.microsoft.com/office/drawing/2014/main" id="{8D93F744-45B6-5406-C3B9-3C2AA370ABCF}"/>
                </a:ext>
              </a:extLst>
            </p:cNvPr>
            <p:cNvSpPr/>
            <p:nvPr/>
          </p:nvSpPr>
          <p:spPr>
            <a:xfrm rot="5400000">
              <a:off x="6808353" y="451779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62" name="Google Shape;632;p31">
              <a:extLst>
                <a:ext uri="{FF2B5EF4-FFF2-40B4-BE49-F238E27FC236}">
                  <a16:creationId xmlns:a16="http://schemas.microsoft.com/office/drawing/2014/main" id="{69659080-6DC8-A33F-753D-BCF2524193E3}"/>
                </a:ext>
              </a:extLst>
            </p:cNvPr>
            <p:cNvSpPr txBox="1"/>
            <p:nvPr/>
          </p:nvSpPr>
          <p:spPr>
            <a:xfrm>
              <a:off x="960453" y="496629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163" name="Google Shape;633;p31">
              <a:extLst>
                <a:ext uri="{FF2B5EF4-FFF2-40B4-BE49-F238E27FC236}">
                  <a16:creationId xmlns:a16="http://schemas.microsoft.com/office/drawing/2014/main" id="{715ACCDC-A991-5B19-A2B9-787D5A74D0D7}"/>
                </a:ext>
              </a:extLst>
            </p:cNvPr>
            <p:cNvCxnSpPr>
              <a:endCxn id="125" idx="0"/>
            </p:cNvCxnSpPr>
            <p:nvPr/>
          </p:nvCxnSpPr>
          <p:spPr>
            <a:xfrm>
              <a:off x="4217403" y="2717189"/>
              <a:ext cx="9900" cy="307800"/>
            </a:xfrm>
            <a:prstGeom prst="straightConnector1">
              <a:avLst/>
            </a:prstGeom>
            <a:noFill/>
            <a:ln w="9525" cap="flat" cmpd="sng">
              <a:solidFill>
                <a:schemeClr val="dk2"/>
              </a:solidFill>
              <a:prstDash val="solid"/>
              <a:round/>
              <a:headEnd type="none" w="med" len="med"/>
              <a:tailEnd type="triangle" w="med" len="med"/>
            </a:ln>
          </p:spPr>
        </p:cxnSp>
        <p:cxnSp>
          <p:nvCxnSpPr>
            <p:cNvPr id="164" name="Google Shape;634;p31">
              <a:extLst>
                <a:ext uri="{FF2B5EF4-FFF2-40B4-BE49-F238E27FC236}">
                  <a16:creationId xmlns:a16="http://schemas.microsoft.com/office/drawing/2014/main" id="{674786A5-A345-BE8A-CCB5-CF71F99E89EE}"/>
                </a:ext>
              </a:extLst>
            </p:cNvPr>
            <p:cNvCxnSpPr>
              <a:stCxn id="110" idx="3"/>
            </p:cNvCxnSpPr>
            <p:nvPr/>
          </p:nvCxnSpPr>
          <p:spPr>
            <a:xfrm>
              <a:off x="44022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65" name="Google Shape;635;p31">
              <a:extLst>
                <a:ext uri="{FF2B5EF4-FFF2-40B4-BE49-F238E27FC236}">
                  <a16:creationId xmlns:a16="http://schemas.microsoft.com/office/drawing/2014/main" id="{92797F29-7735-C774-9CF1-B15E9CB6285D}"/>
                </a:ext>
              </a:extLst>
            </p:cNvPr>
            <p:cNvCxnSpPr>
              <a:stCxn id="111" idx="3"/>
            </p:cNvCxnSpPr>
            <p:nvPr/>
          </p:nvCxnSpPr>
          <p:spPr>
            <a:xfrm>
              <a:off x="45771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66" name="Google Shape;636;p31">
              <a:extLst>
                <a:ext uri="{FF2B5EF4-FFF2-40B4-BE49-F238E27FC236}">
                  <a16:creationId xmlns:a16="http://schemas.microsoft.com/office/drawing/2014/main" id="{3D7098DA-417A-EBA8-A6CE-ECB1C520C224}"/>
                </a:ext>
              </a:extLst>
            </p:cNvPr>
            <p:cNvCxnSpPr>
              <a:stCxn id="112" idx="3"/>
            </p:cNvCxnSpPr>
            <p:nvPr/>
          </p:nvCxnSpPr>
          <p:spPr>
            <a:xfrm>
              <a:off x="47520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67" name="Google Shape;637;p31">
              <a:extLst>
                <a:ext uri="{FF2B5EF4-FFF2-40B4-BE49-F238E27FC236}">
                  <a16:creationId xmlns:a16="http://schemas.microsoft.com/office/drawing/2014/main" id="{3E072A80-9A14-6ECE-AB68-D51C2E810F33}"/>
                </a:ext>
              </a:extLst>
            </p:cNvPr>
            <p:cNvCxnSpPr>
              <a:stCxn id="113" idx="3"/>
            </p:cNvCxnSpPr>
            <p:nvPr/>
          </p:nvCxnSpPr>
          <p:spPr>
            <a:xfrm>
              <a:off x="49269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68" name="Google Shape;638;p31">
              <a:extLst>
                <a:ext uri="{FF2B5EF4-FFF2-40B4-BE49-F238E27FC236}">
                  <a16:creationId xmlns:a16="http://schemas.microsoft.com/office/drawing/2014/main" id="{0C00CAED-02A2-9623-FA34-C2FA486E1E62}"/>
                </a:ext>
              </a:extLst>
            </p:cNvPr>
            <p:cNvCxnSpPr>
              <a:stCxn id="108" idx="3"/>
            </p:cNvCxnSpPr>
            <p:nvPr/>
          </p:nvCxnSpPr>
          <p:spPr>
            <a:xfrm>
              <a:off x="40524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69" name="Google Shape;639;p31">
              <a:extLst>
                <a:ext uri="{FF2B5EF4-FFF2-40B4-BE49-F238E27FC236}">
                  <a16:creationId xmlns:a16="http://schemas.microsoft.com/office/drawing/2014/main" id="{C3C63AA2-7615-5982-5DC5-BB91B0DBAE2D}"/>
                </a:ext>
              </a:extLst>
            </p:cNvPr>
            <p:cNvCxnSpPr>
              <a:stCxn id="107" idx="3"/>
            </p:cNvCxnSpPr>
            <p:nvPr/>
          </p:nvCxnSpPr>
          <p:spPr>
            <a:xfrm>
              <a:off x="38775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0" name="Google Shape;640;p31">
              <a:extLst>
                <a:ext uri="{FF2B5EF4-FFF2-40B4-BE49-F238E27FC236}">
                  <a16:creationId xmlns:a16="http://schemas.microsoft.com/office/drawing/2014/main" id="{9E38F1E5-4F37-EF19-11E8-15B8DA12EEBA}"/>
                </a:ext>
              </a:extLst>
            </p:cNvPr>
            <p:cNvCxnSpPr>
              <a:stCxn id="106" idx="3"/>
            </p:cNvCxnSpPr>
            <p:nvPr/>
          </p:nvCxnSpPr>
          <p:spPr>
            <a:xfrm>
              <a:off x="37026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1" name="Google Shape;641;p31">
              <a:extLst>
                <a:ext uri="{FF2B5EF4-FFF2-40B4-BE49-F238E27FC236}">
                  <a16:creationId xmlns:a16="http://schemas.microsoft.com/office/drawing/2014/main" id="{7F4B044C-565C-22DD-4804-489C768F61E1}"/>
                </a:ext>
              </a:extLst>
            </p:cNvPr>
            <p:cNvCxnSpPr>
              <a:stCxn id="105" idx="3"/>
            </p:cNvCxnSpPr>
            <p:nvPr/>
          </p:nvCxnSpPr>
          <p:spPr>
            <a:xfrm>
              <a:off x="3527703" y="272019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72" name="Google Shape;642;p31">
              <a:extLst>
                <a:ext uri="{FF2B5EF4-FFF2-40B4-BE49-F238E27FC236}">
                  <a16:creationId xmlns:a16="http://schemas.microsoft.com/office/drawing/2014/main" id="{5D92CCAC-DEDF-24EE-E8E9-297698CBDB48}"/>
                </a:ext>
              </a:extLst>
            </p:cNvPr>
            <p:cNvCxnSpPr>
              <a:stCxn id="125" idx="2"/>
              <a:endCxn id="4" idx="0"/>
            </p:cNvCxnSpPr>
            <p:nvPr/>
          </p:nvCxnSpPr>
          <p:spPr>
            <a:xfrm>
              <a:off x="4227303" y="333548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173" name="Google Shape;643;p31">
              <a:extLst>
                <a:ext uri="{FF2B5EF4-FFF2-40B4-BE49-F238E27FC236}">
                  <a16:creationId xmlns:a16="http://schemas.microsoft.com/office/drawing/2014/main" id="{4C29B551-F058-2D92-2B86-88DF0F8D69D4}"/>
                </a:ext>
              </a:extLst>
            </p:cNvPr>
            <p:cNvSpPr/>
            <p:nvPr/>
          </p:nvSpPr>
          <p:spPr>
            <a:xfrm>
              <a:off x="3007053" y="302499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174" name="Google Shape;644;p31">
              <a:extLst>
                <a:ext uri="{FF2B5EF4-FFF2-40B4-BE49-F238E27FC236}">
                  <a16:creationId xmlns:a16="http://schemas.microsoft.com/office/drawing/2014/main" id="{C409C928-7AAF-5B14-4D7D-DA7CFD013558}"/>
                </a:ext>
              </a:extLst>
            </p:cNvPr>
            <p:cNvSpPr/>
            <p:nvPr/>
          </p:nvSpPr>
          <p:spPr>
            <a:xfrm>
              <a:off x="3325653" y="362889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175" name="Google Shape;645;p31">
              <a:extLst>
                <a:ext uri="{FF2B5EF4-FFF2-40B4-BE49-F238E27FC236}">
                  <a16:creationId xmlns:a16="http://schemas.microsoft.com/office/drawing/2014/main" id="{C89A85A6-BD48-C50F-9B62-1E1532792AB6}"/>
                </a:ext>
              </a:extLst>
            </p:cNvPr>
            <p:cNvSpPr txBox="1"/>
            <p:nvPr/>
          </p:nvSpPr>
          <p:spPr>
            <a:xfrm>
              <a:off x="641853" y="273714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grpSp>
    </p:spTree>
    <p:extLst>
      <p:ext uri="{BB962C8B-B14F-4D97-AF65-F5344CB8AC3E}">
        <p14:creationId xmlns:p14="http://schemas.microsoft.com/office/powerpoint/2010/main" val="3773679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24EB1-AA1A-1B45-CBE4-8D43A17CDCA1}"/>
            </a:ext>
          </a:extLst>
        </p:cNvPr>
        <p:cNvGrpSpPr/>
        <p:nvPr/>
      </p:nvGrpSpPr>
      <p:grpSpPr>
        <a:xfrm>
          <a:off x="0" y="0"/>
          <a:ext cx="0" cy="0"/>
          <a:chOff x="0" y="0"/>
          <a:chExt cx="0" cy="0"/>
        </a:xfrm>
      </p:grpSpPr>
      <p:sp>
        <p:nvSpPr>
          <p:cNvPr id="2" name="Google Shape;258;p27">
            <a:extLst>
              <a:ext uri="{FF2B5EF4-FFF2-40B4-BE49-F238E27FC236}">
                <a16:creationId xmlns:a16="http://schemas.microsoft.com/office/drawing/2014/main" id="{6F8AAD21-ADB2-F0ED-9197-59DBF18A369A}"/>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t>TCP ACK Numbers</a:t>
            </a:r>
          </a:p>
        </p:txBody>
      </p:sp>
      <p:sp>
        <p:nvSpPr>
          <p:cNvPr id="3" name="Google Shape;468;p30">
            <a:extLst>
              <a:ext uri="{FF2B5EF4-FFF2-40B4-BE49-F238E27FC236}">
                <a16:creationId xmlns:a16="http://schemas.microsoft.com/office/drawing/2014/main" id="{04471163-DEA2-753C-0045-C9ACD2619946}"/>
              </a:ext>
            </a:extLst>
          </p:cNvPr>
          <p:cNvSpPr txBox="1">
            <a:spLocks/>
          </p:cNvSpPr>
          <p:nvPr/>
        </p:nvSpPr>
        <p:spPr>
          <a:xfrm>
            <a:off x="3477" y="748429"/>
            <a:ext cx="12188523" cy="124966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The ack number indicates the next expected byte (i.e. the first unreceived byte)</a:t>
            </a:r>
          </a:p>
          <a:p>
            <a:pPr marL="0" indent="0">
              <a:spcBef>
                <a:spcPts val="600"/>
              </a:spcBef>
              <a:spcAft>
                <a:spcPts val="600"/>
              </a:spcAft>
              <a:buFont typeface="Arial" panose="020B0604020202020204" pitchFamily="34" charset="0"/>
              <a:buNone/>
            </a:pPr>
            <a:r>
              <a:rPr lang="en-US" sz="2400" dirty="0"/>
              <a:t>Example: All bytes up to (and including) ISN + 219 have been received, so the next unreceived byte is </a:t>
            </a:r>
            <a:r>
              <a:rPr lang="en-US" sz="2400" dirty="0">
                <a:solidFill>
                  <a:srgbClr val="C00000"/>
                </a:solidFill>
              </a:rPr>
              <a:t>ISN + 220</a:t>
            </a:r>
          </a:p>
        </p:txBody>
      </p:sp>
      <p:grpSp>
        <p:nvGrpSpPr>
          <p:cNvPr id="200" name="Group 199">
            <a:extLst>
              <a:ext uri="{FF2B5EF4-FFF2-40B4-BE49-F238E27FC236}">
                <a16:creationId xmlns:a16="http://schemas.microsoft.com/office/drawing/2014/main" id="{7D08A57A-5309-07A7-2B6C-148DE72E5652}"/>
              </a:ext>
            </a:extLst>
          </p:cNvPr>
          <p:cNvGrpSpPr/>
          <p:nvPr/>
        </p:nvGrpSpPr>
        <p:grpSpPr>
          <a:xfrm>
            <a:off x="746760" y="2103120"/>
            <a:ext cx="10698480" cy="4754880"/>
            <a:chOff x="1555850" y="1757375"/>
            <a:chExt cx="6615000" cy="3239100"/>
          </a:xfrm>
        </p:grpSpPr>
        <p:sp>
          <p:nvSpPr>
            <p:cNvPr id="18" name="Google Shape;650;p32">
              <a:extLst>
                <a:ext uri="{FF2B5EF4-FFF2-40B4-BE49-F238E27FC236}">
                  <a16:creationId xmlns:a16="http://schemas.microsoft.com/office/drawing/2014/main" id="{D5957E39-4E5A-45C6-19ED-A758B2DCACF7}"/>
                </a:ext>
              </a:extLst>
            </p:cNvPr>
            <p:cNvSpPr/>
            <p:nvPr/>
          </p:nvSpPr>
          <p:spPr>
            <a:xfrm>
              <a:off x="4672850" y="33881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cxnSp>
          <p:nvCxnSpPr>
            <p:cNvPr id="19" name="Google Shape;651;p32">
              <a:extLst>
                <a:ext uri="{FF2B5EF4-FFF2-40B4-BE49-F238E27FC236}">
                  <a16:creationId xmlns:a16="http://schemas.microsoft.com/office/drawing/2014/main" id="{2F635FC8-2BD2-1B5C-6EF8-D8BD6B79D2EC}"/>
                </a:ext>
              </a:extLst>
            </p:cNvPr>
            <p:cNvCxnSpPr>
              <a:endCxn id="86" idx="1"/>
            </p:cNvCxnSpPr>
            <p:nvPr/>
          </p:nvCxnSpPr>
          <p:spPr>
            <a:xfrm>
              <a:off x="54599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0" name="Google Shape;653;p32">
              <a:extLst>
                <a:ext uri="{FF2B5EF4-FFF2-40B4-BE49-F238E27FC236}">
                  <a16:creationId xmlns:a16="http://schemas.microsoft.com/office/drawing/2014/main" id="{5573944D-69B0-7316-C2B2-BDF8D5DF9997}"/>
                </a:ext>
              </a:extLst>
            </p:cNvPr>
            <p:cNvCxnSpPr>
              <a:endCxn id="87" idx="1"/>
            </p:cNvCxnSpPr>
            <p:nvPr/>
          </p:nvCxnSpPr>
          <p:spPr>
            <a:xfrm>
              <a:off x="56348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1" name="Google Shape;655;p32">
              <a:extLst>
                <a:ext uri="{FF2B5EF4-FFF2-40B4-BE49-F238E27FC236}">
                  <a16:creationId xmlns:a16="http://schemas.microsoft.com/office/drawing/2014/main" id="{C3EA5D7D-6F43-E2E6-2291-0CEBB2820B46}"/>
                </a:ext>
              </a:extLst>
            </p:cNvPr>
            <p:cNvCxnSpPr>
              <a:endCxn id="88" idx="1"/>
            </p:cNvCxnSpPr>
            <p:nvPr/>
          </p:nvCxnSpPr>
          <p:spPr>
            <a:xfrm>
              <a:off x="58097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2" name="Google Shape;657;p32">
              <a:extLst>
                <a:ext uri="{FF2B5EF4-FFF2-40B4-BE49-F238E27FC236}">
                  <a16:creationId xmlns:a16="http://schemas.microsoft.com/office/drawing/2014/main" id="{521E7EEB-6DE0-5351-39D1-8322ED415E12}"/>
                </a:ext>
              </a:extLst>
            </p:cNvPr>
            <p:cNvCxnSpPr>
              <a:endCxn id="89" idx="1"/>
            </p:cNvCxnSpPr>
            <p:nvPr/>
          </p:nvCxnSpPr>
          <p:spPr>
            <a:xfrm>
              <a:off x="59846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3" name="Google Shape;659;p32">
              <a:extLst>
                <a:ext uri="{FF2B5EF4-FFF2-40B4-BE49-F238E27FC236}">
                  <a16:creationId xmlns:a16="http://schemas.microsoft.com/office/drawing/2014/main" id="{BC93A3F0-3719-F753-A0E0-1D7CA115C6A9}"/>
                </a:ext>
              </a:extLst>
            </p:cNvPr>
            <p:cNvCxnSpPr>
              <a:endCxn id="90" idx="1"/>
            </p:cNvCxnSpPr>
            <p:nvPr/>
          </p:nvCxnSpPr>
          <p:spPr>
            <a:xfrm>
              <a:off x="61595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4" name="Google Shape;661;p32">
              <a:extLst>
                <a:ext uri="{FF2B5EF4-FFF2-40B4-BE49-F238E27FC236}">
                  <a16:creationId xmlns:a16="http://schemas.microsoft.com/office/drawing/2014/main" id="{4968C0D0-8BE7-BF6E-3723-35F8D07DD19B}"/>
                </a:ext>
              </a:extLst>
            </p:cNvPr>
            <p:cNvCxnSpPr>
              <a:endCxn id="85" idx="1"/>
            </p:cNvCxnSpPr>
            <p:nvPr/>
          </p:nvCxnSpPr>
          <p:spPr>
            <a:xfrm>
              <a:off x="52850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5" name="Google Shape;663;p32">
              <a:extLst>
                <a:ext uri="{FF2B5EF4-FFF2-40B4-BE49-F238E27FC236}">
                  <a16:creationId xmlns:a16="http://schemas.microsoft.com/office/drawing/2014/main" id="{48BE21C7-E50B-55F8-CB87-0686A6A92062}"/>
                </a:ext>
              </a:extLst>
            </p:cNvPr>
            <p:cNvCxnSpPr>
              <a:endCxn id="84" idx="1"/>
            </p:cNvCxnSpPr>
            <p:nvPr/>
          </p:nvCxnSpPr>
          <p:spPr>
            <a:xfrm>
              <a:off x="51101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6" name="Google Shape;665;p32">
              <a:extLst>
                <a:ext uri="{FF2B5EF4-FFF2-40B4-BE49-F238E27FC236}">
                  <a16:creationId xmlns:a16="http://schemas.microsoft.com/office/drawing/2014/main" id="{9A639765-ED8C-2BCD-2B7B-798C75C14070}"/>
                </a:ext>
              </a:extLst>
            </p:cNvPr>
            <p:cNvCxnSpPr>
              <a:endCxn id="83" idx="1"/>
            </p:cNvCxnSpPr>
            <p:nvPr/>
          </p:nvCxnSpPr>
          <p:spPr>
            <a:xfrm>
              <a:off x="4935200" y="3697475"/>
              <a:ext cx="0" cy="306000"/>
            </a:xfrm>
            <a:prstGeom prst="straightConnector1">
              <a:avLst/>
            </a:prstGeom>
            <a:noFill/>
            <a:ln w="9525" cap="flat" cmpd="sng">
              <a:solidFill>
                <a:schemeClr val="dk2"/>
              </a:solidFill>
              <a:prstDash val="solid"/>
              <a:round/>
              <a:headEnd type="none" w="med" len="med"/>
              <a:tailEnd type="triangle" w="med" len="med"/>
            </a:ln>
          </p:spPr>
        </p:cxnSp>
        <p:cxnSp>
          <p:nvCxnSpPr>
            <p:cNvPr id="27" name="Google Shape;667;p32">
              <a:extLst>
                <a:ext uri="{FF2B5EF4-FFF2-40B4-BE49-F238E27FC236}">
                  <a16:creationId xmlns:a16="http://schemas.microsoft.com/office/drawing/2014/main" id="{44753E7B-4C83-987C-DFED-ABB08B570644}"/>
                </a:ext>
              </a:extLst>
            </p:cNvPr>
            <p:cNvCxnSpPr>
              <a:endCxn id="82" idx="1"/>
            </p:cNvCxnSpPr>
            <p:nvPr/>
          </p:nvCxnSpPr>
          <p:spPr>
            <a:xfrm>
              <a:off x="4760300" y="3697475"/>
              <a:ext cx="0" cy="306000"/>
            </a:xfrm>
            <a:prstGeom prst="straightConnector1">
              <a:avLst/>
            </a:prstGeom>
            <a:noFill/>
            <a:ln w="9525" cap="flat" cmpd="sng">
              <a:solidFill>
                <a:schemeClr val="dk2"/>
              </a:solidFill>
              <a:prstDash val="solid"/>
              <a:round/>
              <a:headEnd type="none" w="med" len="med"/>
              <a:tailEnd type="triangle" w="med" len="med"/>
            </a:ln>
          </p:spPr>
        </p:cxnSp>
        <p:sp>
          <p:nvSpPr>
            <p:cNvPr id="28" name="Google Shape;671;p32">
              <a:extLst>
                <a:ext uri="{FF2B5EF4-FFF2-40B4-BE49-F238E27FC236}">
                  <a16:creationId xmlns:a16="http://schemas.microsoft.com/office/drawing/2014/main" id="{FD3BB821-71AA-9292-B22F-8415E523D649}"/>
                </a:ext>
              </a:extLst>
            </p:cNvPr>
            <p:cNvSpPr/>
            <p:nvPr/>
          </p:nvSpPr>
          <p:spPr>
            <a:xfrm rot="5400000">
              <a:off x="1282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29" name="Google Shape;672;p32">
              <a:extLst>
                <a:ext uri="{FF2B5EF4-FFF2-40B4-BE49-F238E27FC236}">
                  <a16:creationId xmlns:a16="http://schemas.microsoft.com/office/drawing/2014/main" id="{7CD09902-3C71-3C08-7BC3-5C590BB40FD9}"/>
                </a:ext>
              </a:extLst>
            </p:cNvPr>
            <p:cNvSpPr/>
            <p:nvPr/>
          </p:nvSpPr>
          <p:spPr>
            <a:xfrm rot="5400000">
              <a:off x="1457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30" name="Google Shape;673;p32">
              <a:extLst>
                <a:ext uri="{FF2B5EF4-FFF2-40B4-BE49-F238E27FC236}">
                  <a16:creationId xmlns:a16="http://schemas.microsoft.com/office/drawing/2014/main" id="{8D450DAF-0BB3-8F0D-CD9E-6DDFEB8F4FBE}"/>
                </a:ext>
              </a:extLst>
            </p:cNvPr>
            <p:cNvSpPr/>
            <p:nvPr/>
          </p:nvSpPr>
          <p:spPr>
            <a:xfrm rot="5400000">
              <a:off x="1632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31" name="Google Shape;674;p32">
              <a:extLst>
                <a:ext uri="{FF2B5EF4-FFF2-40B4-BE49-F238E27FC236}">
                  <a16:creationId xmlns:a16="http://schemas.microsoft.com/office/drawing/2014/main" id="{838322A7-2ED4-8B21-8AC0-F8C85855BA2B}"/>
                </a:ext>
              </a:extLst>
            </p:cNvPr>
            <p:cNvSpPr/>
            <p:nvPr/>
          </p:nvSpPr>
          <p:spPr>
            <a:xfrm rot="5400000">
              <a:off x="1806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32" name="Google Shape;675;p32">
              <a:extLst>
                <a:ext uri="{FF2B5EF4-FFF2-40B4-BE49-F238E27FC236}">
                  <a16:creationId xmlns:a16="http://schemas.microsoft.com/office/drawing/2014/main" id="{450168C9-FAA1-CC8D-7387-5BD2CFB568A2}"/>
                </a:ext>
              </a:extLst>
            </p:cNvPr>
            <p:cNvSpPr/>
            <p:nvPr/>
          </p:nvSpPr>
          <p:spPr>
            <a:xfrm rot="5400000">
              <a:off x="1981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3" name="Google Shape;676;p32">
              <a:extLst>
                <a:ext uri="{FF2B5EF4-FFF2-40B4-BE49-F238E27FC236}">
                  <a16:creationId xmlns:a16="http://schemas.microsoft.com/office/drawing/2014/main" id="{3F1B34E6-5F7A-217A-E256-4A3513968220}"/>
                </a:ext>
              </a:extLst>
            </p:cNvPr>
            <p:cNvSpPr/>
            <p:nvPr/>
          </p:nvSpPr>
          <p:spPr>
            <a:xfrm rot="5400000">
              <a:off x="2156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4" name="Google Shape;677;p32">
              <a:extLst>
                <a:ext uri="{FF2B5EF4-FFF2-40B4-BE49-F238E27FC236}">
                  <a16:creationId xmlns:a16="http://schemas.microsoft.com/office/drawing/2014/main" id="{819D26D1-DC14-9BA0-4EDD-35C9170C273C}"/>
                </a:ext>
              </a:extLst>
            </p:cNvPr>
            <p:cNvSpPr/>
            <p:nvPr/>
          </p:nvSpPr>
          <p:spPr>
            <a:xfrm rot="5400000">
              <a:off x="2331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5" name="Google Shape;678;p32">
              <a:extLst>
                <a:ext uri="{FF2B5EF4-FFF2-40B4-BE49-F238E27FC236}">
                  <a16:creationId xmlns:a16="http://schemas.microsoft.com/office/drawing/2014/main" id="{3D936306-8634-AAD1-14B2-5850E7FE22EB}"/>
                </a:ext>
              </a:extLst>
            </p:cNvPr>
            <p:cNvSpPr/>
            <p:nvPr/>
          </p:nvSpPr>
          <p:spPr>
            <a:xfrm rot="5400000">
              <a:off x="2506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36" name="Google Shape;679;p32">
              <a:extLst>
                <a:ext uri="{FF2B5EF4-FFF2-40B4-BE49-F238E27FC236}">
                  <a16:creationId xmlns:a16="http://schemas.microsoft.com/office/drawing/2014/main" id="{5E9A3410-BE76-24E8-8830-FD03758A32C4}"/>
                </a:ext>
              </a:extLst>
            </p:cNvPr>
            <p:cNvSpPr/>
            <p:nvPr/>
          </p:nvSpPr>
          <p:spPr>
            <a:xfrm rot="5400000">
              <a:off x="2681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37" name="Google Shape;680;p32">
              <a:extLst>
                <a:ext uri="{FF2B5EF4-FFF2-40B4-BE49-F238E27FC236}">
                  <a16:creationId xmlns:a16="http://schemas.microsoft.com/office/drawing/2014/main" id="{16926A03-0968-2C33-255B-EF4EAEFB29DE}"/>
                </a:ext>
              </a:extLst>
            </p:cNvPr>
            <p:cNvSpPr/>
            <p:nvPr/>
          </p:nvSpPr>
          <p:spPr>
            <a:xfrm rot="5400000">
              <a:off x="2856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8" name="Google Shape;681;p32">
              <a:extLst>
                <a:ext uri="{FF2B5EF4-FFF2-40B4-BE49-F238E27FC236}">
                  <a16:creationId xmlns:a16="http://schemas.microsoft.com/office/drawing/2014/main" id="{D2A38FCD-2976-4894-784D-7BF9626ED448}"/>
                </a:ext>
              </a:extLst>
            </p:cNvPr>
            <p:cNvSpPr/>
            <p:nvPr/>
          </p:nvSpPr>
          <p:spPr>
            <a:xfrm rot="5400000">
              <a:off x="3031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39" name="Google Shape;682;p32">
              <a:extLst>
                <a:ext uri="{FF2B5EF4-FFF2-40B4-BE49-F238E27FC236}">
                  <a16:creationId xmlns:a16="http://schemas.microsoft.com/office/drawing/2014/main" id="{6D6EA66E-ED99-A4EF-50E1-98D6BDC11896}"/>
                </a:ext>
              </a:extLst>
            </p:cNvPr>
            <p:cNvSpPr/>
            <p:nvPr/>
          </p:nvSpPr>
          <p:spPr>
            <a:xfrm rot="5400000">
              <a:off x="3206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0" name="Google Shape;683;p32">
              <a:extLst>
                <a:ext uri="{FF2B5EF4-FFF2-40B4-BE49-F238E27FC236}">
                  <a16:creationId xmlns:a16="http://schemas.microsoft.com/office/drawing/2014/main" id="{A57A9052-8B0B-8B21-DC64-C30073C86CF1}"/>
                </a:ext>
              </a:extLst>
            </p:cNvPr>
            <p:cNvSpPr/>
            <p:nvPr/>
          </p:nvSpPr>
          <p:spPr>
            <a:xfrm rot="5400000">
              <a:off x="3381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1" name="Google Shape;684;p32">
              <a:extLst>
                <a:ext uri="{FF2B5EF4-FFF2-40B4-BE49-F238E27FC236}">
                  <a16:creationId xmlns:a16="http://schemas.microsoft.com/office/drawing/2014/main" id="{F594004C-12F2-2F2A-A95E-0D2CD8D2D623}"/>
                </a:ext>
              </a:extLst>
            </p:cNvPr>
            <p:cNvSpPr/>
            <p:nvPr/>
          </p:nvSpPr>
          <p:spPr>
            <a:xfrm rot="5400000">
              <a:off x="3555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2" name="Google Shape;685;p32">
              <a:extLst>
                <a:ext uri="{FF2B5EF4-FFF2-40B4-BE49-F238E27FC236}">
                  <a16:creationId xmlns:a16="http://schemas.microsoft.com/office/drawing/2014/main" id="{8E2122F1-5FF9-28C4-BB3B-D57FB74844E5}"/>
                </a:ext>
              </a:extLst>
            </p:cNvPr>
            <p:cNvSpPr/>
            <p:nvPr/>
          </p:nvSpPr>
          <p:spPr>
            <a:xfrm rot="5400000">
              <a:off x="3730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3" name="Google Shape;686;p32">
              <a:extLst>
                <a:ext uri="{FF2B5EF4-FFF2-40B4-BE49-F238E27FC236}">
                  <a16:creationId xmlns:a16="http://schemas.microsoft.com/office/drawing/2014/main" id="{6F8C5612-5307-8E00-2DEE-5977DCCBD139}"/>
                </a:ext>
              </a:extLst>
            </p:cNvPr>
            <p:cNvSpPr/>
            <p:nvPr/>
          </p:nvSpPr>
          <p:spPr>
            <a:xfrm rot="5400000">
              <a:off x="3905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4" name="Google Shape;687;p32">
              <a:extLst>
                <a:ext uri="{FF2B5EF4-FFF2-40B4-BE49-F238E27FC236}">
                  <a16:creationId xmlns:a16="http://schemas.microsoft.com/office/drawing/2014/main" id="{4FBF3589-CE63-BB05-07BD-163A5A0F0518}"/>
                </a:ext>
              </a:extLst>
            </p:cNvPr>
            <p:cNvSpPr/>
            <p:nvPr/>
          </p:nvSpPr>
          <p:spPr>
            <a:xfrm rot="5400000">
              <a:off x="4080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45" name="Google Shape;688;p32">
              <a:extLst>
                <a:ext uri="{FF2B5EF4-FFF2-40B4-BE49-F238E27FC236}">
                  <a16:creationId xmlns:a16="http://schemas.microsoft.com/office/drawing/2014/main" id="{D9ED3C36-E67D-D56D-CC6D-13B3A4E56586}"/>
                </a:ext>
              </a:extLst>
            </p:cNvPr>
            <p:cNvSpPr/>
            <p:nvPr/>
          </p:nvSpPr>
          <p:spPr>
            <a:xfrm rot="5400000">
              <a:off x="4255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46" name="Google Shape;689;p32">
              <a:extLst>
                <a:ext uri="{FF2B5EF4-FFF2-40B4-BE49-F238E27FC236}">
                  <a16:creationId xmlns:a16="http://schemas.microsoft.com/office/drawing/2014/main" id="{3AD57976-6891-E154-639F-25CFD3F8C175}"/>
                </a:ext>
              </a:extLst>
            </p:cNvPr>
            <p:cNvSpPr/>
            <p:nvPr/>
          </p:nvSpPr>
          <p:spPr>
            <a:xfrm rot="5400000">
              <a:off x="4430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47" name="Google Shape;690;p32">
              <a:extLst>
                <a:ext uri="{FF2B5EF4-FFF2-40B4-BE49-F238E27FC236}">
                  <a16:creationId xmlns:a16="http://schemas.microsoft.com/office/drawing/2014/main" id="{14632261-84BB-AD82-64BC-08E5FDC558D4}"/>
                </a:ext>
              </a:extLst>
            </p:cNvPr>
            <p:cNvSpPr/>
            <p:nvPr/>
          </p:nvSpPr>
          <p:spPr>
            <a:xfrm rot="5400000">
              <a:off x="4605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48" name="Google Shape;691;p32">
              <a:extLst>
                <a:ext uri="{FF2B5EF4-FFF2-40B4-BE49-F238E27FC236}">
                  <a16:creationId xmlns:a16="http://schemas.microsoft.com/office/drawing/2014/main" id="{30A72739-5995-96B0-32D9-C17FACF3425E}"/>
                </a:ext>
              </a:extLst>
            </p:cNvPr>
            <p:cNvSpPr/>
            <p:nvPr/>
          </p:nvSpPr>
          <p:spPr>
            <a:xfrm rot="5400000">
              <a:off x="4780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49" name="Google Shape;692;p32">
              <a:extLst>
                <a:ext uri="{FF2B5EF4-FFF2-40B4-BE49-F238E27FC236}">
                  <a16:creationId xmlns:a16="http://schemas.microsoft.com/office/drawing/2014/main" id="{FD3E11A2-96F2-B65C-2C70-CE699D301DB2}"/>
                </a:ext>
              </a:extLst>
            </p:cNvPr>
            <p:cNvSpPr/>
            <p:nvPr/>
          </p:nvSpPr>
          <p:spPr>
            <a:xfrm rot="5400000">
              <a:off x="4955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0" name="Google Shape;693;p32">
              <a:extLst>
                <a:ext uri="{FF2B5EF4-FFF2-40B4-BE49-F238E27FC236}">
                  <a16:creationId xmlns:a16="http://schemas.microsoft.com/office/drawing/2014/main" id="{6BB118CA-5D4C-D591-51B0-E67A93A22F68}"/>
                </a:ext>
              </a:extLst>
            </p:cNvPr>
            <p:cNvSpPr/>
            <p:nvPr/>
          </p:nvSpPr>
          <p:spPr>
            <a:xfrm rot="5400000">
              <a:off x="5130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1" name="Google Shape;694;p32">
              <a:extLst>
                <a:ext uri="{FF2B5EF4-FFF2-40B4-BE49-F238E27FC236}">
                  <a16:creationId xmlns:a16="http://schemas.microsoft.com/office/drawing/2014/main" id="{E5226E96-8413-C1C5-D75C-6B696BBC38B0}"/>
                </a:ext>
              </a:extLst>
            </p:cNvPr>
            <p:cNvSpPr/>
            <p:nvPr/>
          </p:nvSpPr>
          <p:spPr>
            <a:xfrm rot="5400000">
              <a:off x="53049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52" name="Google Shape;695;p32">
              <a:extLst>
                <a:ext uri="{FF2B5EF4-FFF2-40B4-BE49-F238E27FC236}">
                  <a16:creationId xmlns:a16="http://schemas.microsoft.com/office/drawing/2014/main" id="{AAD40E8E-5E57-26B7-F69C-22BAAB2B6D35}"/>
                </a:ext>
              </a:extLst>
            </p:cNvPr>
            <p:cNvSpPr/>
            <p:nvPr/>
          </p:nvSpPr>
          <p:spPr>
            <a:xfrm rot="5400000">
              <a:off x="54798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ISN+219</a:t>
              </a:r>
              <a:endParaRPr sz="1000">
                <a:latin typeface="Roboto"/>
                <a:ea typeface="Roboto"/>
                <a:cs typeface="Roboto"/>
                <a:sym typeface="Roboto"/>
              </a:endParaRPr>
            </a:p>
          </p:txBody>
        </p:sp>
        <p:sp>
          <p:nvSpPr>
            <p:cNvPr id="53" name="Google Shape;696;p32">
              <a:extLst>
                <a:ext uri="{FF2B5EF4-FFF2-40B4-BE49-F238E27FC236}">
                  <a16:creationId xmlns:a16="http://schemas.microsoft.com/office/drawing/2014/main" id="{A1A0511F-DF85-B559-071A-1FFE99775419}"/>
                </a:ext>
              </a:extLst>
            </p:cNvPr>
            <p:cNvSpPr/>
            <p:nvPr/>
          </p:nvSpPr>
          <p:spPr>
            <a:xfrm rot="5400000">
              <a:off x="56547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4" name="Google Shape;697;p32">
              <a:extLst>
                <a:ext uri="{FF2B5EF4-FFF2-40B4-BE49-F238E27FC236}">
                  <a16:creationId xmlns:a16="http://schemas.microsoft.com/office/drawing/2014/main" id="{F3B69F36-9743-8E95-BDAD-B2C72ED4AFFF}"/>
                </a:ext>
              </a:extLst>
            </p:cNvPr>
            <p:cNvSpPr/>
            <p:nvPr/>
          </p:nvSpPr>
          <p:spPr>
            <a:xfrm rot="5400000">
              <a:off x="58296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5" name="Google Shape;698;p32">
              <a:extLst>
                <a:ext uri="{FF2B5EF4-FFF2-40B4-BE49-F238E27FC236}">
                  <a16:creationId xmlns:a16="http://schemas.microsoft.com/office/drawing/2014/main" id="{E54F04EB-B571-51B9-4E6D-8BBE0E9175DB}"/>
                </a:ext>
              </a:extLst>
            </p:cNvPr>
            <p:cNvSpPr/>
            <p:nvPr/>
          </p:nvSpPr>
          <p:spPr>
            <a:xfrm rot="5400000">
              <a:off x="60045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6" name="Google Shape;699;p32">
              <a:extLst>
                <a:ext uri="{FF2B5EF4-FFF2-40B4-BE49-F238E27FC236}">
                  <a16:creationId xmlns:a16="http://schemas.microsoft.com/office/drawing/2014/main" id="{3FA306B8-9B5E-E6AB-8CAC-B155ADE0E2A7}"/>
                </a:ext>
              </a:extLst>
            </p:cNvPr>
            <p:cNvSpPr/>
            <p:nvPr/>
          </p:nvSpPr>
          <p:spPr>
            <a:xfrm rot="5400000">
              <a:off x="61794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7" name="Google Shape;700;p32">
              <a:extLst>
                <a:ext uri="{FF2B5EF4-FFF2-40B4-BE49-F238E27FC236}">
                  <a16:creationId xmlns:a16="http://schemas.microsoft.com/office/drawing/2014/main" id="{12BFD2D8-0065-32C2-96D2-23C8737288A2}"/>
                </a:ext>
              </a:extLst>
            </p:cNvPr>
            <p:cNvSpPr/>
            <p:nvPr/>
          </p:nvSpPr>
          <p:spPr>
            <a:xfrm rot="5400000">
              <a:off x="63543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8" name="Google Shape;701;p32">
              <a:extLst>
                <a:ext uri="{FF2B5EF4-FFF2-40B4-BE49-F238E27FC236}">
                  <a16:creationId xmlns:a16="http://schemas.microsoft.com/office/drawing/2014/main" id="{ED74C7E7-D3E2-C1DF-FC3C-EBA83F625F88}"/>
                </a:ext>
              </a:extLst>
            </p:cNvPr>
            <p:cNvSpPr/>
            <p:nvPr/>
          </p:nvSpPr>
          <p:spPr>
            <a:xfrm rot="5400000">
              <a:off x="65292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59" name="Google Shape;702;p32">
              <a:extLst>
                <a:ext uri="{FF2B5EF4-FFF2-40B4-BE49-F238E27FC236}">
                  <a16:creationId xmlns:a16="http://schemas.microsoft.com/office/drawing/2014/main" id="{225B9FB3-55F0-0E5F-B6B5-3122122EB7C5}"/>
                </a:ext>
              </a:extLst>
            </p:cNvPr>
            <p:cNvSpPr/>
            <p:nvPr/>
          </p:nvSpPr>
          <p:spPr>
            <a:xfrm rot="5400000">
              <a:off x="67041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0" name="Google Shape;703;p32">
              <a:extLst>
                <a:ext uri="{FF2B5EF4-FFF2-40B4-BE49-F238E27FC236}">
                  <a16:creationId xmlns:a16="http://schemas.microsoft.com/office/drawing/2014/main" id="{C6B3BCD6-F838-EC75-0EF4-04411BC660F6}"/>
                </a:ext>
              </a:extLst>
            </p:cNvPr>
            <p:cNvSpPr/>
            <p:nvPr/>
          </p:nvSpPr>
          <p:spPr>
            <a:xfrm rot="5400000">
              <a:off x="6879050" y="20309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1" name="Google Shape;704;p32">
              <a:extLst>
                <a:ext uri="{FF2B5EF4-FFF2-40B4-BE49-F238E27FC236}">
                  <a16:creationId xmlns:a16="http://schemas.microsoft.com/office/drawing/2014/main" id="{27D0166E-49F5-585F-60CC-972BCFE26555}"/>
                </a:ext>
              </a:extLst>
            </p:cNvPr>
            <p:cNvSpPr/>
            <p:nvPr/>
          </p:nvSpPr>
          <p:spPr>
            <a:xfrm rot="5400000">
              <a:off x="70539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2" name="Google Shape;705;p32">
              <a:extLst>
                <a:ext uri="{FF2B5EF4-FFF2-40B4-BE49-F238E27FC236}">
                  <a16:creationId xmlns:a16="http://schemas.microsoft.com/office/drawing/2014/main" id="{5069DFE6-644F-76DF-5327-500EBF6F7628}"/>
                </a:ext>
              </a:extLst>
            </p:cNvPr>
            <p:cNvSpPr/>
            <p:nvPr/>
          </p:nvSpPr>
          <p:spPr>
            <a:xfrm rot="5400000">
              <a:off x="72288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3" name="Google Shape;706;p32">
              <a:extLst>
                <a:ext uri="{FF2B5EF4-FFF2-40B4-BE49-F238E27FC236}">
                  <a16:creationId xmlns:a16="http://schemas.microsoft.com/office/drawing/2014/main" id="{52199708-1AC8-7FE9-1C3A-33DD2BB18F3D}"/>
                </a:ext>
              </a:extLst>
            </p:cNvPr>
            <p:cNvSpPr/>
            <p:nvPr/>
          </p:nvSpPr>
          <p:spPr>
            <a:xfrm rot="5400000">
              <a:off x="7403750" y="20309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64" name="Google Shape;707;p32">
              <a:extLst>
                <a:ext uri="{FF2B5EF4-FFF2-40B4-BE49-F238E27FC236}">
                  <a16:creationId xmlns:a16="http://schemas.microsoft.com/office/drawing/2014/main" id="{3852C637-0E11-9241-9CAF-15BE724B7584}"/>
                </a:ext>
              </a:extLst>
            </p:cNvPr>
            <p:cNvSpPr txBox="1"/>
            <p:nvPr/>
          </p:nvSpPr>
          <p:spPr>
            <a:xfrm>
              <a:off x="1555850" y="249642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Sender Application</a:t>
              </a:r>
              <a:endParaRPr>
                <a:solidFill>
                  <a:schemeClr val="dk1"/>
                </a:solidFill>
                <a:latin typeface="Roboto"/>
                <a:ea typeface="Roboto"/>
                <a:cs typeface="Roboto"/>
                <a:sym typeface="Roboto"/>
              </a:endParaRPr>
            </a:p>
          </p:txBody>
        </p:sp>
        <p:sp>
          <p:nvSpPr>
            <p:cNvPr id="65" name="Google Shape;708;p32">
              <a:extLst>
                <a:ext uri="{FF2B5EF4-FFF2-40B4-BE49-F238E27FC236}">
                  <a16:creationId xmlns:a16="http://schemas.microsoft.com/office/drawing/2014/main" id="{C987293E-E440-5B23-922E-B352F7728E65}"/>
                </a:ext>
              </a:extLst>
            </p:cNvPr>
            <p:cNvSpPr/>
            <p:nvPr/>
          </p:nvSpPr>
          <p:spPr>
            <a:xfrm>
              <a:off x="4354250" y="2784269"/>
              <a:ext cx="1574100" cy="310500"/>
            </a:xfrm>
            <a:prstGeom prst="rect">
              <a:avLst/>
            </a:prstGeom>
            <a:solidFill>
              <a:srgbClr val="D9D9D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Roboto"/>
                  <a:ea typeface="Roboto"/>
                  <a:cs typeface="Roboto"/>
                  <a:sym typeface="Roboto"/>
                </a:rPr>
                <a:t>TCP Segment</a:t>
              </a:r>
              <a:endParaRPr>
                <a:latin typeface="Roboto"/>
                <a:ea typeface="Roboto"/>
                <a:cs typeface="Roboto"/>
                <a:sym typeface="Roboto"/>
              </a:endParaRPr>
            </a:p>
          </p:txBody>
        </p:sp>
        <p:sp>
          <p:nvSpPr>
            <p:cNvPr id="66" name="Google Shape;709;p32">
              <a:extLst>
                <a:ext uri="{FF2B5EF4-FFF2-40B4-BE49-F238E27FC236}">
                  <a16:creationId xmlns:a16="http://schemas.microsoft.com/office/drawing/2014/main" id="{C4CB5C55-46C2-A346-3EF6-AA033160D186}"/>
                </a:ext>
              </a:extLst>
            </p:cNvPr>
            <p:cNvSpPr/>
            <p:nvPr/>
          </p:nvSpPr>
          <p:spPr>
            <a:xfrm rot="5400000">
              <a:off x="1600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+ 1</a:t>
              </a:r>
              <a:endParaRPr sz="1000">
                <a:latin typeface="Roboto"/>
                <a:ea typeface="Roboto"/>
                <a:cs typeface="Roboto"/>
                <a:sym typeface="Roboto"/>
              </a:endParaRPr>
            </a:p>
          </p:txBody>
        </p:sp>
        <p:sp>
          <p:nvSpPr>
            <p:cNvPr id="67" name="Google Shape;710;p32">
              <a:extLst>
                <a:ext uri="{FF2B5EF4-FFF2-40B4-BE49-F238E27FC236}">
                  <a16:creationId xmlns:a16="http://schemas.microsoft.com/office/drawing/2014/main" id="{A911C4DB-10EA-E699-107D-1AF1DCFE6090}"/>
                </a:ext>
              </a:extLst>
            </p:cNvPr>
            <p:cNvSpPr/>
            <p:nvPr/>
          </p:nvSpPr>
          <p:spPr>
            <a:xfrm rot="5400000">
              <a:off x="1775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+ 2</a:t>
              </a:r>
              <a:endParaRPr sz="1000">
                <a:latin typeface="Roboto"/>
                <a:ea typeface="Roboto"/>
                <a:cs typeface="Roboto"/>
                <a:sym typeface="Roboto"/>
              </a:endParaRPr>
            </a:p>
          </p:txBody>
        </p:sp>
        <p:sp>
          <p:nvSpPr>
            <p:cNvPr id="68" name="Google Shape;711;p32">
              <a:extLst>
                <a:ext uri="{FF2B5EF4-FFF2-40B4-BE49-F238E27FC236}">
                  <a16:creationId xmlns:a16="http://schemas.microsoft.com/office/drawing/2014/main" id="{2723ADD0-4181-07BC-C9EF-48FBA2C86B17}"/>
                </a:ext>
              </a:extLst>
            </p:cNvPr>
            <p:cNvSpPr/>
            <p:nvPr/>
          </p:nvSpPr>
          <p:spPr>
            <a:xfrm rot="5400000">
              <a:off x="1950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+ 3</a:t>
              </a:r>
              <a:endParaRPr sz="1000">
                <a:latin typeface="Roboto"/>
                <a:ea typeface="Roboto"/>
                <a:cs typeface="Roboto"/>
                <a:sym typeface="Roboto"/>
              </a:endParaRPr>
            </a:p>
          </p:txBody>
        </p:sp>
        <p:sp>
          <p:nvSpPr>
            <p:cNvPr id="69" name="Google Shape;712;p32">
              <a:extLst>
                <a:ext uri="{FF2B5EF4-FFF2-40B4-BE49-F238E27FC236}">
                  <a16:creationId xmlns:a16="http://schemas.microsoft.com/office/drawing/2014/main" id="{F7C633D0-B0E3-9E86-3B14-B7082562AE29}"/>
                </a:ext>
              </a:extLst>
            </p:cNvPr>
            <p:cNvSpPr/>
            <p:nvPr/>
          </p:nvSpPr>
          <p:spPr>
            <a:xfrm rot="5400000">
              <a:off x="2125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+ 4</a:t>
              </a:r>
              <a:endParaRPr sz="1000">
                <a:latin typeface="Roboto"/>
                <a:ea typeface="Roboto"/>
                <a:cs typeface="Roboto"/>
                <a:sym typeface="Roboto"/>
              </a:endParaRPr>
            </a:p>
          </p:txBody>
        </p:sp>
        <p:sp>
          <p:nvSpPr>
            <p:cNvPr id="70" name="Google Shape;713;p32">
              <a:extLst>
                <a:ext uri="{FF2B5EF4-FFF2-40B4-BE49-F238E27FC236}">
                  <a16:creationId xmlns:a16="http://schemas.microsoft.com/office/drawing/2014/main" id="{00200C5C-69AF-C6AC-C6DC-DEB23EACD16D}"/>
                </a:ext>
              </a:extLst>
            </p:cNvPr>
            <p:cNvSpPr/>
            <p:nvPr/>
          </p:nvSpPr>
          <p:spPr>
            <a:xfrm rot="5400000">
              <a:off x="2300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1" name="Google Shape;714;p32">
              <a:extLst>
                <a:ext uri="{FF2B5EF4-FFF2-40B4-BE49-F238E27FC236}">
                  <a16:creationId xmlns:a16="http://schemas.microsoft.com/office/drawing/2014/main" id="{904CC699-9525-FB66-6D48-4270B68F2017}"/>
                </a:ext>
              </a:extLst>
            </p:cNvPr>
            <p:cNvSpPr/>
            <p:nvPr/>
          </p:nvSpPr>
          <p:spPr>
            <a:xfrm rot="5400000">
              <a:off x="2475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2" name="Google Shape;715;p32">
              <a:extLst>
                <a:ext uri="{FF2B5EF4-FFF2-40B4-BE49-F238E27FC236}">
                  <a16:creationId xmlns:a16="http://schemas.microsoft.com/office/drawing/2014/main" id="{3DC43CAB-1028-5FBE-41B5-D3F435A07EE6}"/>
                </a:ext>
              </a:extLst>
            </p:cNvPr>
            <p:cNvSpPr/>
            <p:nvPr/>
          </p:nvSpPr>
          <p:spPr>
            <a:xfrm rot="5400000">
              <a:off x="2650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3" name="Google Shape;716;p32">
              <a:extLst>
                <a:ext uri="{FF2B5EF4-FFF2-40B4-BE49-F238E27FC236}">
                  <a16:creationId xmlns:a16="http://schemas.microsoft.com/office/drawing/2014/main" id="{385C5B53-84F5-524C-826F-31E06A38B6F1}"/>
                </a:ext>
              </a:extLst>
            </p:cNvPr>
            <p:cNvSpPr/>
            <p:nvPr/>
          </p:nvSpPr>
          <p:spPr>
            <a:xfrm rot="5400000">
              <a:off x="2825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+ 79</a:t>
              </a:r>
              <a:endParaRPr sz="1000">
                <a:latin typeface="Roboto"/>
                <a:ea typeface="Roboto"/>
                <a:cs typeface="Roboto"/>
                <a:sym typeface="Roboto"/>
              </a:endParaRPr>
            </a:p>
          </p:txBody>
        </p:sp>
        <p:sp>
          <p:nvSpPr>
            <p:cNvPr id="74" name="Google Shape;717;p32">
              <a:extLst>
                <a:ext uri="{FF2B5EF4-FFF2-40B4-BE49-F238E27FC236}">
                  <a16:creationId xmlns:a16="http://schemas.microsoft.com/office/drawing/2014/main" id="{EF6BF93F-C1C9-2E9C-54A1-BEF7EB991F7F}"/>
                </a:ext>
              </a:extLst>
            </p:cNvPr>
            <p:cNvSpPr/>
            <p:nvPr/>
          </p:nvSpPr>
          <p:spPr>
            <a:xfrm rot="5400000">
              <a:off x="3000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 + 80</a:t>
              </a:r>
              <a:endParaRPr sz="1000">
                <a:latin typeface="Roboto"/>
                <a:ea typeface="Roboto"/>
                <a:cs typeface="Roboto"/>
                <a:sym typeface="Roboto"/>
              </a:endParaRPr>
            </a:p>
          </p:txBody>
        </p:sp>
        <p:sp>
          <p:nvSpPr>
            <p:cNvPr id="75" name="Google Shape;718;p32">
              <a:extLst>
                <a:ext uri="{FF2B5EF4-FFF2-40B4-BE49-F238E27FC236}">
                  <a16:creationId xmlns:a16="http://schemas.microsoft.com/office/drawing/2014/main" id="{58BBA9E8-3182-66C9-F211-3EF3CB651ACD}"/>
                </a:ext>
              </a:extLst>
            </p:cNvPr>
            <p:cNvSpPr/>
            <p:nvPr/>
          </p:nvSpPr>
          <p:spPr>
            <a:xfrm rot="5400000">
              <a:off x="3174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6" name="Google Shape;719;p32">
              <a:extLst>
                <a:ext uri="{FF2B5EF4-FFF2-40B4-BE49-F238E27FC236}">
                  <a16:creationId xmlns:a16="http://schemas.microsoft.com/office/drawing/2014/main" id="{1B898B9E-D1A0-3DC2-4666-591E50F99D0A}"/>
                </a:ext>
              </a:extLst>
            </p:cNvPr>
            <p:cNvSpPr/>
            <p:nvPr/>
          </p:nvSpPr>
          <p:spPr>
            <a:xfrm rot="5400000">
              <a:off x="3349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7" name="Google Shape;720;p32">
              <a:extLst>
                <a:ext uri="{FF2B5EF4-FFF2-40B4-BE49-F238E27FC236}">
                  <a16:creationId xmlns:a16="http://schemas.microsoft.com/office/drawing/2014/main" id="{5B3B8D35-F74A-6705-FB1C-E7B7869241BB}"/>
                </a:ext>
              </a:extLst>
            </p:cNvPr>
            <p:cNvSpPr/>
            <p:nvPr/>
          </p:nvSpPr>
          <p:spPr>
            <a:xfrm rot="5400000">
              <a:off x="3524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8" name="Google Shape;721;p32">
              <a:extLst>
                <a:ext uri="{FF2B5EF4-FFF2-40B4-BE49-F238E27FC236}">
                  <a16:creationId xmlns:a16="http://schemas.microsoft.com/office/drawing/2014/main" id="{26CB376A-F782-5BF5-8E52-717F97C33F11}"/>
                </a:ext>
              </a:extLst>
            </p:cNvPr>
            <p:cNvSpPr/>
            <p:nvPr/>
          </p:nvSpPr>
          <p:spPr>
            <a:xfrm rot="5400000">
              <a:off x="3699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79" name="Google Shape;722;p32">
              <a:extLst>
                <a:ext uri="{FF2B5EF4-FFF2-40B4-BE49-F238E27FC236}">
                  <a16:creationId xmlns:a16="http://schemas.microsoft.com/office/drawing/2014/main" id="{4AC728B8-F8DF-FECD-9C3A-89596C0EE9A1}"/>
                </a:ext>
              </a:extLst>
            </p:cNvPr>
            <p:cNvSpPr/>
            <p:nvPr/>
          </p:nvSpPr>
          <p:spPr>
            <a:xfrm rot="5400000">
              <a:off x="3874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0" name="Google Shape;723;p32">
              <a:extLst>
                <a:ext uri="{FF2B5EF4-FFF2-40B4-BE49-F238E27FC236}">
                  <a16:creationId xmlns:a16="http://schemas.microsoft.com/office/drawing/2014/main" id="{DC126B21-79C7-7215-7C03-6B6A99DC2B9E}"/>
                </a:ext>
              </a:extLst>
            </p:cNvPr>
            <p:cNvSpPr/>
            <p:nvPr/>
          </p:nvSpPr>
          <p:spPr>
            <a:xfrm rot="5400000">
              <a:off x="4049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1" name="Google Shape;724;p32">
              <a:extLst>
                <a:ext uri="{FF2B5EF4-FFF2-40B4-BE49-F238E27FC236}">
                  <a16:creationId xmlns:a16="http://schemas.microsoft.com/office/drawing/2014/main" id="{C9400F7F-1E70-9E05-7AC2-15C482157651}"/>
                </a:ext>
              </a:extLst>
            </p:cNvPr>
            <p:cNvSpPr/>
            <p:nvPr/>
          </p:nvSpPr>
          <p:spPr>
            <a:xfrm rot="5400000">
              <a:off x="4224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2" name="Google Shape;668;p32">
              <a:extLst>
                <a:ext uri="{FF2B5EF4-FFF2-40B4-BE49-F238E27FC236}">
                  <a16:creationId xmlns:a16="http://schemas.microsoft.com/office/drawing/2014/main" id="{B0FBB2FF-BE3A-D5C7-9280-266EAC3140C5}"/>
                </a:ext>
              </a:extLst>
            </p:cNvPr>
            <p:cNvSpPr/>
            <p:nvPr/>
          </p:nvSpPr>
          <p:spPr>
            <a:xfrm rot="5400000">
              <a:off x="4399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ISN+140</a:t>
              </a:r>
              <a:endParaRPr sz="1000">
                <a:latin typeface="Roboto"/>
                <a:ea typeface="Roboto"/>
                <a:cs typeface="Roboto"/>
                <a:sym typeface="Roboto"/>
              </a:endParaRPr>
            </a:p>
          </p:txBody>
        </p:sp>
        <p:sp>
          <p:nvSpPr>
            <p:cNvPr id="83" name="Google Shape;666;p32">
              <a:extLst>
                <a:ext uri="{FF2B5EF4-FFF2-40B4-BE49-F238E27FC236}">
                  <a16:creationId xmlns:a16="http://schemas.microsoft.com/office/drawing/2014/main" id="{0AA7977B-C81F-8A82-46CA-6C6EAD270483}"/>
                </a:ext>
              </a:extLst>
            </p:cNvPr>
            <p:cNvSpPr/>
            <p:nvPr/>
          </p:nvSpPr>
          <p:spPr>
            <a:xfrm rot="5400000">
              <a:off x="4574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ISN+141</a:t>
              </a:r>
              <a:endParaRPr sz="1000">
                <a:latin typeface="Roboto"/>
                <a:ea typeface="Roboto"/>
                <a:cs typeface="Roboto"/>
                <a:sym typeface="Roboto"/>
              </a:endParaRPr>
            </a:p>
          </p:txBody>
        </p:sp>
        <p:sp>
          <p:nvSpPr>
            <p:cNvPr id="84" name="Google Shape;664;p32">
              <a:extLst>
                <a:ext uri="{FF2B5EF4-FFF2-40B4-BE49-F238E27FC236}">
                  <a16:creationId xmlns:a16="http://schemas.microsoft.com/office/drawing/2014/main" id="{8CF52116-B6F6-89F5-DF9E-7E36819DC799}"/>
                </a:ext>
              </a:extLst>
            </p:cNvPr>
            <p:cNvSpPr/>
            <p:nvPr/>
          </p:nvSpPr>
          <p:spPr>
            <a:xfrm rot="5400000">
              <a:off x="4749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ISN+142</a:t>
              </a:r>
              <a:endParaRPr sz="1000">
                <a:latin typeface="Roboto"/>
                <a:ea typeface="Roboto"/>
                <a:cs typeface="Roboto"/>
                <a:sym typeface="Roboto"/>
              </a:endParaRPr>
            </a:p>
          </p:txBody>
        </p:sp>
        <p:sp>
          <p:nvSpPr>
            <p:cNvPr id="85" name="Google Shape;662;p32">
              <a:extLst>
                <a:ext uri="{FF2B5EF4-FFF2-40B4-BE49-F238E27FC236}">
                  <a16:creationId xmlns:a16="http://schemas.microsoft.com/office/drawing/2014/main" id="{4ED6A9E0-43D5-31CD-E1D2-137A5462AB1D}"/>
                </a:ext>
              </a:extLst>
            </p:cNvPr>
            <p:cNvSpPr/>
            <p:nvPr/>
          </p:nvSpPr>
          <p:spPr>
            <a:xfrm rot="5400000">
              <a:off x="4923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ISN+143</a:t>
              </a:r>
              <a:endParaRPr sz="1000">
                <a:latin typeface="Roboto"/>
                <a:ea typeface="Roboto"/>
                <a:cs typeface="Roboto"/>
                <a:sym typeface="Roboto"/>
              </a:endParaRPr>
            </a:p>
          </p:txBody>
        </p:sp>
        <p:sp>
          <p:nvSpPr>
            <p:cNvPr id="86" name="Google Shape;652;p32">
              <a:extLst>
                <a:ext uri="{FF2B5EF4-FFF2-40B4-BE49-F238E27FC236}">
                  <a16:creationId xmlns:a16="http://schemas.microsoft.com/office/drawing/2014/main" id="{217529B5-1A8C-596C-C82A-B33FD5FED9B9}"/>
                </a:ext>
              </a:extLst>
            </p:cNvPr>
            <p:cNvSpPr/>
            <p:nvPr/>
          </p:nvSpPr>
          <p:spPr>
            <a:xfrm rot="5400000">
              <a:off x="5098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7" name="Google Shape;654;p32">
              <a:extLst>
                <a:ext uri="{FF2B5EF4-FFF2-40B4-BE49-F238E27FC236}">
                  <a16:creationId xmlns:a16="http://schemas.microsoft.com/office/drawing/2014/main" id="{9245FF3F-C861-E962-1BE9-A6C2BD385D9E}"/>
                </a:ext>
              </a:extLst>
            </p:cNvPr>
            <p:cNvSpPr/>
            <p:nvPr/>
          </p:nvSpPr>
          <p:spPr>
            <a:xfrm rot="5400000">
              <a:off x="5273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8" name="Google Shape;656;p32">
              <a:extLst>
                <a:ext uri="{FF2B5EF4-FFF2-40B4-BE49-F238E27FC236}">
                  <a16:creationId xmlns:a16="http://schemas.microsoft.com/office/drawing/2014/main" id="{08931B1F-DEA7-96B9-A285-9E6215CE348C}"/>
                </a:ext>
              </a:extLst>
            </p:cNvPr>
            <p:cNvSpPr/>
            <p:nvPr/>
          </p:nvSpPr>
          <p:spPr>
            <a:xfrm rot="5400000">
              <a:off x="5448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89" name="Google Shape;658;p32">
              <a:extLst>
                <a:ext uri="{FF2B5EF4-FFF2-40B4-BE49-F238E27FC236}">
                  <a16:creationId xmlns:a16="http://schemas.microsoft.com/office/drawing/2014/main" id="{E1E4467B-3C61-6DC8-529A-098EC80F556A}"/>
                </a:ext>
              </a:extLst>
            </p:cNvPr>
            <p:cNvSpPr/>
            <p:nvPr/>
          </p:nvSpPr>
          <p:spPr>
            <a:xfrm rot="5400000">
              <a:off x="56235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ISN+218</a:t>
              </a:r>
              <a:endParaRPr sz="1000">
                <a:latin typeface="Roboto"/>
                <a:ea typeface="Roboto"/>
                <a:cs typeface="Roboto"/>
                <a:sym typeface="Roboto"/>
              </a:endParaRPr>
            </a:p>
          </p:txBody>
        </p:sp>
        <p:sp>
          <p:nvSpPr>
            <p:cNvPr id="90" name="Google Shape;660;p32">
              <a:extLst>
                <a:ext uri="{FF2B5EF4-FFF2-40B4-BE49-F238E27FC236}">
                  <a16:creationId xmlns:a16="http://schemas.microsoft.com/office/drawing/2014/main" id="{F874180B-2BEC-D0D5-5801-9DD36231774F}"/>
                </a:ext>
              </a:extLst>
            </p:cNvPr>
            <p:cNvSpPr/>
            <p:nvPr/>
          </p:nvSpPr>
          <p:spPr>
            <a:xfrm rot="5400000">
              <a:off x="57984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Roboto"/>
                  <a:ea typeface="Roboto"/>
                  <a:cs typeface="Roboto"/>
                  <a:sym typeface="Roboto"/>
                </a:rPr>
                <a:t>ISN+219</a:t>
              </a:r>
              <a:endParaRPr sz="1000">
                <a:latin typeface="Roboto"/>
                <a:ea typeface="Roboto"/>
                <a:cs typeface="Roboto"/>
                <a:sym typeface="Roboto"/>
              </a:endParaRPr>
            </a:p>
          </p:txBody>
        </p:sp>
        <p:sp>
          <p:nvSpPr>
            <p:cNvPr id="91" name="Google Shape;725;p32">
              <a:extLst>
                <a:ext uri="{FF2B5EF4-FFF2-40B4-BE49-F238E27FC236}">
                  <a16:creationId xmlns:a16="http://schemas.microsoft.com/office/drawing/2014/main" id="{8BBE02ED-55C9-48DD-F26D-E426551955A9}"/>
                </a:ext>
              </a:extLst>
            </p:cNvPr>
            <p:cNvSpPr/>
            <p:nvPr/>
          </p:nvSpPr>
          <p:spPr>
            <a:xfrm rot="5400000">
              <a:off x="59733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93" name="Google Shape;726;p32">
              <a:extLst>
                <a:ext uri="{FF2B5EF4-FFF2-40B4-BE49-F238E27FC236}">
                  <a16:creationId xmlns:a16="http://schemas.microsoft.com/office/drawing/2014/main" id="{1213C34C-C1FA-7247-36B8-4F514CEF96A2}"/>
                </a:ext>
              </a:extLst>
            </p:cNvPr>
            <p:cNvSpPr/>
            <p:nvPr/>
          </p:nvSpPr>
          <p:spPr>
            <a:xfrm rot="5400000">
              <a:off x="61482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7" name="Google Shape;727;p32">
              <a:extLst>
                <a:ext uri="{FF2B5EF4-FFF2-40B4-BE49-F238E27FC236}">
                  <a16:creationId xmlns:a16="http://schemas.microsoft.com/office/drawing/2014/main" id="{98B933A1-9E1C-10B1-55F1-E15E50CE62C9}"/>
                </a:ext>
              </a:extLst>
            </p:cNvPr>
            <p:cNvSpPr/>
            <p:nvPr/>
          </p:nvSpPr>
          <p:spPr>
            <a:xfrm rot="5400000">
              <a:off x="63231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8" name="Google Shape;728;p32">
              <a:extLst>
                <a:ext uri="{FF2B5EF4-FFF2-40B4-BE49-F238E27FC236}">
                  <a16:creationId xmlns:a16="http://schemas.microsoft.com/office/drawing/2014/main" id="{2F9EB66B-8DD4-8E59-0565-3198A428C09F}"/>
                </a:ext>
              </a:extLst>
            </p:cNvPr>
            <p:cNvSpPr/>
            <p:nvPr/>
          </p:nvSpPr>
          <p:spPr>
            <a:xfrm rot="5400000">
              <a:off x="64980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79" name="Google Shape;729;p32">
              <a:extLst>
                <a:ext uri="{FF2B5EF4-FFF2-40B4-BE49-F238E27FC236}">
                  <a16:creationId xmlns:a16="http://schemas.microsoft.com/office/drawing/2014/main" id="{3F3DCF66-0F82-2D16-2DB9-68E49082B1BA}"/>
                </a:ext>
              </a:extLst>
            </p:cNvPr>
            <p:cNvSpPr/>
            <p:nvPr/>
          </p:nvSpPr>
          <p:spPr>
            <a:xfrm rot="5400000">
              <a:off x="66729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0" name="Google Shape;730;p32">
              <a:extLst>
                <a:ext uri="{FF2B5EF4-FFF2-40B4-BE49-F238E27FC236}">
                  <a16:creationId xmlns:a16="http://schemas.microsoft.com/office/drawing/2014/main" id="{C6B520F5-E02B-9364-DF49-1EA9205D2BB7}"/>
                </a:ext>
              </a:extLst>
            </p:cNvPr>
            <p:cNvSpPr/>
            <p:nvPr/>
          </p:nvSpPr>
          <p:spPr>
            <a:xfrm rot="5400000">
              <a:off x="68478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1" name="Google Shape;731;p32">
              <a:extLst>
                <a:ext uri="{FF2B5EF4-FFF2-40B4-BE49-F238E27FC236}">
                  <a16:creationId xmlns:a16="http://schemas.microsoft.com/office/drawing/2014/main" id="{74004B92-330C-A00B-EFC7-56A488B2A9BF}"/>
                </a:ext>
              </a:extLst>
            </p:cNvPr>
            <p:cNvSpPr/>
            <p:nvPr/>
          </p:nvSpPr>
          <p:spPr>
            <a:xfrm rot="5400000">
              <a:off x="70227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2" name="Google Shape;732;p32">
              <a:extLst>
                <a:ext uri="{FF2B5EF4-FFF2-40B4-BE49-F238E27FC236}">
                  <a16:creationId xmlns:a16="http://schemas.microsoft.com/office/drawing/2014/main" id="{F65DE655-9943-A4CC-4D25-1FAF1447BF0D}"/>
                </a:ext>
              </a:extLst>
            </p:cNvPr>
            <p:cNvSpPr/>
            <p:nvPr/>
          </p:nvSpPr>
          <p:spPr>
            <a:xfrm rot="5400000">
              <a:off x="7197650" y="4277075"/>
              <a:ext cx="722100" cy="1749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3" name="Google Shape;733;p32">
              <a:extLst>
                <a:ext uri="{FF2B5EF4-FFF2-40B4-BE49-F238E27FC236}">
                  <a16:creationId xmlns:a16="http://schemas.microsoft.com/office/drawing/2014/main" id="{B40BF1BD-1855-6489-A3D5-201A792DDE98}"/>
                </a:ext>
              </a:extLst>
            </p:cNvPr>
            <p:cNvSpPr/>
            <p:nvPr/>
          </p:nvSpPr>
          <p:spPr>
            <a:xfrm rot="5400000">
              <a:off x="73725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4" name="Google Shape;734;p32">
              <a:extLst>
                <a:ext uri="{FF2B5EF4-FFF2-40B4-BE49-F238E27FC236}">
                  <a16:creationId xmlns:a16="http://schemas.microsoft.com/office/drawing/2014/main" id="{3569D23B-1675-4E49-4F84-4BFF7C33C001}"/>
                </a:ext>
              </a:extLst>
            </p:cNvPr>
            <p:cNvSpPr/>
            <p:nvPr/>
          </p:nvSpPr>
          <p:spPr>
            <a:xfrm rot="5400000">
              <a:off x="75474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5" name="Google Shape;735;p32">
              <a:extLst>
                <a:ext uri="{FF2B5EF4-FFF2-40B4-BE49-F238E27FC236}">
                  <a16:creationId xmlns:a16="http://schemas.microsoft.com/office/drawing/2014/main" id="{43BB637B-663A-0F9C-BC17-192342ACE03E}"/>
                </a:ext>
              </a:extLst>
            </p:cNvPr>
            <p:cNvSpPr/>
            <p:nvPr/>
          </p:nvSpPr>
          <p:spPr>
            <a:xfrm rot="5400000">
              <a:off x="7722350" y="4277075"/>
              <a:ext cx="722100" cy="174900"/>
            </a:xfrm>
            <a:prstGeom prst="rect">
              <a:avLst/>
            </a:prstGeom>
            <a:noFill/>
            <a:ln w="9525" cap="flat" cmpd="sng">
              <a:solidFill>
                <a:schemeClr val="dk2"/>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p:txBody>
        </p:sp>
        <p:sp>
          <p:nvSpPr>
            <p:cNvPr id="186" name="Google Shape;736;p32">
              <a:extLst>
                <a:ext uri="{FF2B5EF4-FFF2-40B4-BE49-F238E27FC236}">
                  <a16:creationId xmlns:a16="http://schemas.microsoft.com/office/drawing/2014/main" id="{58C990AB-3049-9085-B362-7B0C312D3B4B}"/>
                </a:ext>
              </a:extLst>
            </p:cNvPr>
            <p:cNvSpPr txBox="1"/>
            <p:nvPr/>
          </p:nvSpPr>
          <p:spPr>
            <a:xfrm>
              <a:off x="1874450" y="4725575"/>
              <a:ext cx="2273700" cy="270900"/>
            </a:xfrm>
            <a:prstGeom prst="rect">
              <a:avLst/>
            </a:prstGeom>
            <a:noFill/>
            <a:ln>
              <a:noFill/>
            </a:ln>
          </p:spPr>
          <p:txBody>
            <a:bodyPr spcFirstLastPara="1" wrap="square" lIns="27425" tIns="27425" rIns="27425" bIns="27425" anchor="t" anchorCtr="0">
              <a:spAutoFit/>
            </a:bodyPr>
            <a:lstStyle/>
            <a:p>
              <a:pPr marL="0" lvl="0" indent="0" algn="l" rtl="0">
                <a:spcBef>
                  <a:spcPts val="0"/>
                </a:spcBef>
                <a:spcAft>
                  <a:spcPts val="0"/>
                </a:spcAft>
                <a:buNone/>
              </a:pPr>
              <a:r>
                <a:rPr lang="en">
                  <a:solidFill>
                    <a:schemeClr val="dk1"/>
                  </a:solidFill>
                  <a:latin typeface="Roboto"/>
                  <a:ea typeface="Roboto"/>
                  <a:cs typeface="Roboto"/>
                  <a:sym typeface="Roboto"/>
                </a:rPr>
                <a:t>Recipient Application</a:t>
              </a:r>
              <a:endParaRPr>
                <a:solidFill>
                  <a:schemeClr val="dk1"/>
                </a:solidFill>
                <a:latin typeface="Roboto"/>
                <a:ea typeface="Roboto"/>
                <a:cs typeface="Roboto"/>
                <a:sym typeface="Roboto"/>
              </a:endParaRPr>
            </a:p>
          </p:txBody>
        </p:sp>
        <p:cxnSp>
          <p:nvCxnSpPr>
            <p:cNvPr id="187" name="Google Shape;737;p32">
              <a:extLst>
                <a:ext uri="{FF2B5EF4-FFF2-40B4-BE49-F238E27FC236}">
                  <a16:creationId xmlns:a16="http://schemas.microsoft.com/office/drawing/2014/main" id="{B649E080-D5A6-126C-27EE-8D80657E57BB}"/>
                </a:ext>
              </a:extLst>
            </p:cNvPr>
            <p:cNvCxnSpPr>
              <a:stCxn id="49" idx="3"/>
            </p:cNvCxnSpPr>
            <p:nvPr/>
          </p:nvCxnSpPr>
          <p:spPr>
            <a:xfrm>
              <a:off x="53162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88" name="Google Shape;738;p32">
              <a:extLst>
                <a:ext uri="{FF2B5EF4-FFF2-40B4-BE49-F238E27FC236}">
                  <a16:creationId xmlns:a16="http://schemas.microsoft.com/office/drawing/2014/main" id="{B2B6964F-9BD8-1850-2C1E-9DDE8598FFA0}"/>
                </a:ext>
              </a:extLst>
            </p:cNvPr>
            <p:cNvCxnSpPr>
              <a:stCxn id="50" idx="3"/>
            </p:cNvCxnSpPr>
            <p:nvPr/>
          </p:nvCxnSpPr>
          <p:spPr>
            <a:xfrm>
              <a:off x="54911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89" name="Google Shape;739;p32">
              <a:extLst>
                <a:ext uri="{FF2B5EF4-FFF2-40B4-BE49-F238E27FC236}">
                  <a16:creationId xmlns:a16="http://schemas.microsoft.com/office/drawing/2014/main" id="{19906F6C-D867-4903-33F4-C415036CC0D0}"/>
                </a:ext>
              </a:extLst>
            </p:cNvPr>
            <p:cNvCxnSpPr>
              <a:stCxn id="51" idx="3"/>
            </p:cNvCxnSpPr>
            <p:nvPr/>
          </p:nvCxnSpPr>
          <p:spPr>
            <a:xfrm>
              <a:off x="56660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90" name="Google Shape;740;p32">
              <a:extLst>
                <a:ext uri="{FF2B5EF4-FFF2-40B4-BE49-F238E27FC236}">
                  <a16:creationId xmlns:a16="http://schemas.microsoft.com/office/drawing/2014/main" id="{F7F18D1C-5F9A-651B-1054-9642ECC8981E}"/>
                </a:ext>
              </a:extLst>
            </p:cNvPr>
            <p:cNvCxnSpPr>
              <a:stCxn id="52" idx="3"/>
            </p:cNvCxnSpPr>
            <p:nvPr/>
          </p:nvCxnSpPr>
          <p:spPr>
            <a:xfrm>
              <a:off x="58409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91" name="Google Shape;741;p32">
              <a:extLst>
                <a:ext uri="{FF2B5EF4-FFF2-40B4-BE49-F238E27FC236}">
                  <a16:creationId xmlns:a16="http://schemas.microsoft.com/office/drawing/2014/main" id="{B5F6762A-1AD6-3DEB-EFFB-8AB0C7705BA0}"/>
                </a:ext>
              </a:extLst>
            </p:cNvPr>
            <p:cNvCxnSpPr>
              <a:stCxn id="47" idx="3"/>
            </p:cNvCxnSpPr>
            <p:nvPr/>
          </p:nvCxnSpPr>
          <p:spPr>
            <a:xfrm>
              <a:off x="49664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92" name="Google Shape;742;p32">
              <a:extLst>
                <a:ext uri="{FF2B5EF4-FFF2-40B4-BE49-F238E27FC236}">
                  <a16:creationId xmlns:a16="http://schemas.microsoft.com/office/drawing/2014/main" id="{BF47E6BE-9660-5B47-0DC1-5EEE72DC787E}"/>
                </a:ext>
              </a:extLst>
            </p:cNvPr>
            <p:cNvCxnSpPr>
              <a:stCxn id="46" idx="3"/>
            </p:cNvCxnSpPr>
            <p:nvPr/>
          </p:nvCxnSpPr>
          <p:spPr>
            <a:xfrm>
              <a:off x="47915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93" name="Google Shape;743;p32">
              <a:extLst>
                <a:ext uri="{FF2B5EF4-FFF2-40B4-BE49-F238E27FC236}">
                  <a16:creationId xmlns:a16="http://schemas.microsoft.com/office/drawing/2014/main" id="{F4788C25-C772-C3C9-56B4-E8B8CDE89D68}"/>
                </a:ext>
              </a:extLst>
            </p:cNvPr>
            <p:cNvCxnSpPr>
              <a:stCxn id="45" idx="3"/>
            </p:cNvCxnSpPr>
            <p:nvPr/>
          </p:nvCxnSpPr>
          <p:spPr>
            <a:xfrm>
              <a:off x="46166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94" name="Google Shape;744;p32">
              <a:extLst>
                <a:ext uri="{FF2B5EF4-FFF2-40B4-BE49-F238E27FC236}">
                  <a16:creationId xmlns:a16="http://schemas.microsoft.com/office/drawing/2014/main" id="{2FDB7602-A3C9-ACED-8C2F-431150487CAE}"/>
                </a:ext>
              </a:extLst>
            </p:cNvPr>
            <p:cNvCxnSpPr>
              <a:stCxn id="44" idx="3"/>
            </p:cNvCxnSpPr>
            <p:nvPr/>
          </p:nvCxnSpPr>
          <p:spPr>
            <a:xfrm>
              <a:off x="4441700" y="2479475"/>
              <a:ext cx="0" cy="304800"/>
            </a:xfrm>
            <a:prstGeom prst="straightConnector1">
              <a:avLst/>
            </a:prstGeom>
            <a:noFill/>
            <a:ln w="9525" cap="flat" cmpd="sng">
              <a:solidFill>
                <a:schemeClr val="dk2"/>
              </a:solidFill>
              <a:prstDash val="solid"/>
              <a:round/>
              <a:headEnd type="none" w="med" len="med"/>
              <a:tailEnd type="triangle" w="med" len="med"/>
            </a:ln>
          </p:spPr>
        </p:cxnSp>
        <p:cxnSp>
          <p:nvCxnSpPr>
            <p:cNvPr id="195" name="Google Shape;745;p32">
              <a:extLst>
                <a:ext uri="{FF2B5EF4-FFF2-40B4-BE49-F238E27FC236}">
                  <a16:creationId xmlns:a16="http://schemas.microsoft.com/office/drawing/2014/main" id="{D607D0E6-0D7A-C9FA-1AF6-59510F549CEE}"/>
                </a:ext>
              </a:extLst>
            </p:cNvPr>
            <p:cNvCxnSpPr>
              <a:stCxn id="65" idx="2"/>
              <a:endCxn id="18" idx="0"/>
            </p:cNvCxnSpPr>
            <p:nvPr/>
          </p:nvCxnSpPr>
          <p:spPr>
            <a:xfrm>
              <a:off x="5141300" y="3094769"/>
              <a:ext cx="318600" cy="293400"/>
            </a:xfrm>
            <a:prstGeom prst="straightConnector1">
              <a:avLst/>
            </a:prstGeom>
            <a:noFill/>
            <a:ln w="9525" cap="flat" cmpd="sng">
              <a:solidFill>
                <a:schemeClr val="dk2"/>
              </a:solidFill>
              <a:prstDash val="solid"/>
              <a:round/>
              <a:headEnd type="none" w="med" len="med"/>
              <a:tailEnd type="triangle" w="med" len="med"/>
            </a:ln>
          </p:spPr>
        </p:cxnSp>
        <p:sp>
          <p:nvSpPr>
            <p:cNvPr id="196" name="Google Shape;746;p32">
              <a:extLst>
                <a:ext uri="{FF2B5EF4-FFF2-40B4-BE49-F238E27FC236}">
                  <a16:creationId xmlns:a16="http://schemas.microsoft.com/office/drawing/2014/main" id="{58A3B3C2-7925-99E5-10D5-BBEB1F0FA313}"/>
                </a:ext>
              </a:extLst>
            </p:cNvPr>
            <p:cNvSpPr/>
            <p:nvPr/>
          </p:nvSpPr>
          <p:spPr>
            <a:xfrm>
              <a:off x="3921050" y="27842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sp>
          <p:nvSpPr>
            <p:cNvPr id="197" name="Google Shape;747;p32">
              <a:extLst>
                <a:ext uri="{FF2B5EF4-FFF2-40B4-BE49-F238E27FC236}">
                  <a16:creationId xmlns:a16="http://schemas.microsoft.com/office/drawing/2014/main" id="{E79AD447-409A-B108-A235-691BDC032C85}"/>
                </a:ext>
              </a:extLst>
            </p:cNvPr>
            <p:cNvSpPr/>
            <p:nvPr/>
          </p:nvSpPr>
          <p:spPr>
            <a:xfrm>
              <a:off x="4239650" y="3388175"/>
              <a:ext cx="433200" cy="310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800">
                  <a:latin typeface="Roboto"/>
                  <a:ea typeface="Roboto"/>
                  <a:cs typeface="Roboto"/>
                  <a:sym typeface="Roboto"/>
                </a:rPr>
                <a:t>TCP</a:t>
              </a:r>
              <a:endParaRPr sz="800">
                <a:latin typeface="Roboto"/>
                <a:ea typeface="Roboto"/>
                <a:cs typeface="Roboto"/>
                <a:sym typeface="Roboto"/>
              </a:endParaRPr>
            </a:p>
            <a:p>
              <a:pPr marL="0" lvl="0" indent="0" algn="ctr" rtl="0">
                <a:spcBef>
                  <a:spcPts val="0"/>
                </a:spcBef>
                <a:spcAft>
                  <a:spcPts val="0"/>
                </a:spcAft>
                <a:buNone/>
              </a:pPr>
              <a:r>
                <a:rPr lang="en" sz="800">
                  <a:latin typeface="Roboto"/>
                  <a:ea typeface="Roboto"/>
                  <a:cs typeface="Roboto"/>
                  <a:sym typeface="Roboto"/>
                </a:rPr>
                <a:t>HDR</a:t>
              </a:r>
              <a:endParaRPr sz="800">
                <a:latin typeface="Roboto"/>
                <a:ea typeface="Roboto"/>
                <a:cs typeface="Roboto"/>
                <a:sym typeface="Roboto"/>
              </a:endParaRPr>
            </a:p>
          </p:txBody>
        </p:sp>
        <p:cxnSp>
          <p:nvCxnSpPr>
            <p:cNvPr id="198" name="Google Shape;748;p32">
              <a:extLst>
                <a:ext uri="{FF2B5EF4-FFF2-40B4-BE49-F238E27FC236}">
                  <a16:creationId xmlns:a16="http://schemas.microsoft.com/office/drawing/2014/main" id="{807C7F89-FC5D-1900-F3F4-521ED6FA2DD3}"/>
                </a:ext>
              </a:extLst>
            </p:cNvPr>
            <p:cNvCxnSpPr>
              <a:stCxn id="48" idx="3"/>
              <a:endCxn id="65" idx="0"/>
            </p:cNvCxnSpPr>
            <p:nvPr/>
          </p:nvCxnSpPr>
          <p:spPr>
            <a:xfrm>
              <a:off x="5141300" y="2479475"/>
              <a:ext cx="0" cy="304800"/>
            </a:xfrm>
            <a:prstGeom prst="straightConnector1">
              <a:avLst/>
            </a:prstGeom>
            <a:noFill/>
            <a:ln w="9525" cap="flat" cmpd="sng">
              <a:solidFill>
                <a:schemeClr val="dk2"/>
              </a:solidFill>
              <a:prstDash val="solid"/>
              <a:round/>
              <a:headEnd type="none" w="med" len="med"/>
              <a:tailEnd type="triangle" w="med" len="med"/>
            </a:ln>
          </p:spPr>
        </p:cxnSp>
        <p:sp>
          <p:nvSpPr>
            <p:cNvPr id="199" name="Google Shape;749;p32">
              <a:extLst>
                <a:ext uri="{FF2B5EF4-FFF2-40B4-BE49-F238E27FC236}">
                  <a16:creationId xmlns:a16="http://schemas.microsoft.com/office/drawing/2014/main" id="{71412691-3138-DB57-BF69-D7393F987C5F}"/>
                </a:ext>
              </a:extLst>
            </p:cNvPr>
            <p:cNvSpPr/>
            <p:nvPr/>
          </p:nvSpPr>
          <p:spPr>
            <a:xfrm>
              <a:off x="6362300" y="3094775"/>
              <a:ext cx="1693200" cy="393600"/>
            </a:xfrm>
            <a:prstGeom prst="wedgeRoundRectCallout">
              <a:avLst>
                <a:gd name="adj1" fmla="val -51553"/>
                <a:gd name="adj2" fmla="val 170179"/>
                <a:gd name="adj3" fmla="val 0"/>
              </a:avLst>
            </a:prstGeom>
            <a:noFill/>
            <a:ln w="9525" cap="flat" cmpd="sng">
              <a:solidFill>
                <a:srgbClr val="C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solidFill>
                    <a:srgbClr val="C00000"/>
                  </a:solidFill>
                  <a:latin typeface="Roboto"/>
                  <a:ea typeface="Roboto"/>
                  <a:cs typeface="Roboto"/>
                  <a:sym typeface="Roboto"/>
                </a:rPr>
                <a:t>Ack: </a:t>
              </a:r>
              <a:r>
                <a:rPr lang="en" b="1" dirty="0">
                  <a:solidFill>
                    <a:srgbClr val="C00000"/>
                  </a:solidFill>
                  <a:latin typeface="Roboto"/>
                  <a:ea typeface="Roboto"/>
                  <a:cs typeface="Roboto"/>
                  <a:sym typeface="Roboto"/>
                </a:rPr>
                <a:t>ISN + 220</a:t>
              </a:r>
              <a:endParaRPr b="1" dirty="0">
                <a:solidFill>
                  <a:srgbClr val="C00000"/>
                </a:solidFill>
                <a:latin typeface="Roboto"/>
                <a:ea typeface="Roboto"/>
                <a:cs typeface="Roboto"/>
                <a:sym typeface="Roboto"/>
              </a:endParaRPr>
            </a:p>
          </p:txBody>
        </p:sp>
      </p:grpSp>
    </p:spTree>
    <p:extLst>
      <p:ext uri="{BB962C8B-B14F-4D97-AF65-F5344CB8AC3E}">
        <p14:creationId xmlns:p14="http://schemas.microsoft.com/office/powerpoint/2010/main" val="12108381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22DE2-B59E-29AB-0F59-A3CE5853A71E}"/>
            </a:ext>
          </a:extLst>
        </p:cNvPr>
        <p:cNvGrpSpPr/>
        <p:nvPr/>
      </p:nvGrpSpPr>
      <p:grpSpPr>
        <a:xfrm>
          <a:off x="0" y="0"/>
          <a:ext cx="0" cy="0"/>
          <a:chOff x="0" y="0"/>
          <a:chExt cx="0" cy="0"/>
        </a:xfrm>
      </p:grpSpPr>
      <p:sp>
        <p:nvSpPr>
          <p:cNvPr id="2" name="Google Shape;258;p27">
            <a:extLst>
              <a:ext uri="{FF2B5EF4-FFF2-40B4-BE49-F238E27FC236}">
                <a16:creationId xmlns:a16="http://schemas.microsoft.com/office/drawing/2014/main" id="{A40BE992-4F8F-3908-EA04-17074DBCCDC5}"/>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t>TCP </a:t>
            </a:r>
            <a:r>
              <a:rPr lang="en-US" altLang="zh-CN" dirty="0"/>
              <a:t>Sequence and </a:t>
            </a:r>
            <a:r>
              <a:rPr lang="en-US" dirty="0"/>
              <a:t>ACK Numbers</a:t>
            </a:r>
          </a:p>
        </p:txBody>
      </p:sp>
      <p:sp>
        <p:nvSpPr>
          <p:cNvPr id="3" name="Google Shape;468;p30">
            <a:extLst>
              <a:ext uri="{FF2B5EF4-FFF2-40B4-BE49-F238E27FC236}">
                <a16:creationId xmlns:a16="http://schemas.microsoft.com/office/drawing/2014/main" id="{BED8F056-9C77-4EF6-D851-8E6E2FB40709}"/>
              </a:ext>
            </a:extLst>
          </p:cNvPr>
          <p:cNvSpPr txBox="1">
            <a:spLocks/>
          </p:cNvSpPr>
          <p:nvPr/>
        </p:nvSpPr>
        <p:spPr>
          <a:xfrm>
            <a:off x="325514" y="1565173"/>
            <a:ext cx="11540971" cy="4480519"/>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The </a:t>
            </a:r>
            <a:r>
              <a:rPr lang="en-US" sz="2400" dirty="0">
                <a:solidFill>
                  <a:srgbClr val="C00000"/>
                </a:solidFill>
              </a:rPr>
              <a:t>sequence number </a:t>
            </a:r>
            <a:r>
              <a:rPr lang="en-US" sz="2400" dirty="0"/>
              <a:t>of a segment is the number of the first byte in the segment</a:t>
            </a:r>
          </a:p>
          <a:p>
            <a:pPr>
              <a:spcBef>
                <a:spcPts val="600"/>
              </a:spcBef>
              <a:spcAft>
                <a:spcPts val="600"/>
              </a:spcAft>
            </a:pPr>
            <a:r>
              <a:rPr lang="en-US" sz="2400" dirty="0"/>
              <a:t>Sender sends a packet with sequence number j</a:t>
            </a:r>
          </a:p>
          <a:p>
            <a:pPr>
              <a:spcBef>
                <a:spcPts val="600"/>
              </a:spcBef>
              <a:spcAft>
                <a:spcPts val="600"/>
              </a:spcAft>
            </a:pPr>
            <a:r>
              <a:rPr lang="en-US" sz="2400" dirty="0"/>
              <a:t>The packet contains B bytes</a:t>
            </a:r>
          </a:p>
          <a:p>
            <a:pPr>
              <a:spcBef>
                <a:spcPts val="600"/>
              </a:spcBef>
              <a:spcAft>
                <a:spcPts val="600"/>
              </a:spcAft>
            </a:pPr>
            <a:r>
              <a:rPr lang="en-US" sz="2400" dirty="0"/>
              <a:t>Bytes in the packet are numbered: j,  j+1,  j+2,  j+3, ..., ,  </a:t>
            </a:r>
            <a:r>
              <a:rPr lang="en-US" sz="2400" dirty="0" err="1">
                <a:solidFill>
                  <a:srgbClr val="C00000"/>
                </a:solidFill>
              </a:rPr>
              <a:t>j+B</a:t>
            </a:r>
            <a:r>
              <a:rPr lang="en-US" sz="2400" dirty="0">
                <a:solidFill>
                  <a:srgbClr val="C00000"/>
                </a:solidFill>
              </a:rPr>
              <a:t>–1</a:t>
            </a:r>
          </a:p>
          <a:p>
            <a:pPr marL="0" indent="0">
              <a:spcBef>
                <a:spcPts val="600"/>
              </a:spcBef>
              <a:spcAft>
                <a:spcPts val="600"/>
              </a:spcAft>
              <a:buFont typeface="Arial" panose="020B0604020202020204" pitchFamily="34" charset="0"/>
              <a:buNone/>
            </a:pPr>
            <a:endParaRPr lang="en-US" sz="2400" dirty="0"/>
          </a:p>
          <a:p>
            <a:pPr marL="0" indent="0">
              <a:spcBef>
                <a:spcPts val="600"/>
              </a:spcBef>
              <a:spcAft>
                <a:spcPts val="600"/>
              </a:spcAft>
              <a:buFont typeface="Arial" panose="020B0604020202020204" pitchFamily="34" charset="0"/>
              <a:buNone/>
            </a:pPr>
            <a:r>
              <a:rPr lang="en-US" sz="2400" dirty="0"/>
              <a:t>Recipient sends a </a:t>
            </a:r>
            <a:r>
              <a:rPr lang="en-US" sz="2400" dirty="0">
                <a:solidFill>
                  <a:srgbClr val="C00000"/>
                </a:solidFill>
              </a:rPr>
              <a:t>cumulative ack </a:t>
            </a:r>
            <a:r>
              <a:rPr lang="en-US" sz="2400" dirty="0"/>
              <a:t>(number of highest byte received, plus one)</a:t>
            </a:r>
          </a:p>
          <a:p>
            <a:pPr>
              <a:spcBef>
                <a:spcPts val="600"/>
              </a:spcBef>
              <a:spcAft>
                <a:spcPts val="600"/>
              </a:spcAft>
            </a:pPr>
            <a:r>
              <a:rPr lang="en-US" sz="2400" dirty="0"/>
              <a:t>If all prior data is received, ack number is </a:t>
            </a:r>
            <a:r>
              <a:rPr lang="en-US" sz="2400" dirty="0" err="1"/>
              <a:t>j+B</a:t>
            </a:r>
            <a:r>
              <a:rPr lang="en-US" sz="2400" dirty="0"/>
              <a:t>.</a:t>
            </a:r>
          </a:p>
          <a:p>
            <a:pPr>
              <a:spcBef>
                <a:spcPts val="600"/>
              </a:spcBef>
              <a:spcAft>
                <a:spcPts val="600"/>
              </a:spcAft>
            </a:pPr>
            <a:r>
              <a:rPr lang="en-US" sz="2400" dirty="0"/>
              <a:t>Think of this as the next expected byte, or the first unreceived byte.</a:t>
            </a:r>
          </a:p>
          <a:p>
            <a:pPr>
              <a:spcBef>
                <a:spcPts val="600"/>
              </a:spcBef>
              <a:spcAft>
                <a:spcPts val="600"/>
              </a:spcAft>
            </a:pPr>
            <a:r>
              <a:rPr lang="en-US" sz="2400" dirty="0"/>
              <a:t>If earlier data before this packet is missing, the ack number will be lower (Retransmit)</a:t>
            </a:r>
          </a:p>
        </p:txBody>
      </p:sp>
    </p:spTree>
    <p:extLst>
      <p:ext uri="{BB962C8B-B14F-4D97-AF65-F5344CB8AC3E}">
        <p14:creationId xmlns:p14="http://schemas.microsoft.com/office/powerpoint/2010/main" val="4089323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3A00C-AE58-598D-3E31-CE45F69F4CE3}"/>
            </a:ext>
          </a:extLst>
        </p:cNvPr>
        <p:cNvGrpSpPr/>
        <p:nvPr/>
      </p:nvGrpSpPr>
      <p:grpSpPr>
        <a:xfrm>
          <a:off x="0" y="0"/>
          <a:ext cx="0" cy="0"/>
          <a:chOff x="0" y="0"/>
          <a:chExt cx="0" cy="0"/>
        </a:xfrm>
      </p:grpSpPr>
      <p:sp>
        <p:nvSpPr>
          <p:cNvPr id="2" name="Google Shape;258;p27">
            <a:extLst>
              <a:ext uri="{FF2B5EF4-FFF2-40B4-BE49-F238E27FC236}">
                <a16:creationId xmlns:a16="http://schemas.microsoft.com/office/drawing/2014/main" id="{DEBE3556-4342-D1B9-4A4E-5651CBCF29C8}"/>
              </a:ext>
            </a:extLst>
          </p:cNvPr>
          <p:cNvSpPr txBox="1">
            <a:spLocks/>
          </p:cNvSpPr>
          <p:nvPr/>
        </p:nvSpPr>
        <p:spPr>
          <a:xfrm>
            <a:off x="1135353" y="88776"/>
            <a:ext cx="9921294" cy="736847"/>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US" dirty="0"/>
              <a:t>TCP </a:t>
            </a:r>
            <a:r>
              <a:rPr lang="en-US" altLang="zh-CN" dirty="0"/>
              <a:t>Sequence and </a:t>
            </a:r>
            <a:r>
              <a:rPr lang="en-US" dirty="0"/>
              <a:t>ACK Numbers</a:t>
            </a:r>
          </a:p>
        </p:txBody>
      </p:sp>
      <p:sp>
        <p:nvSpPr>
          <p:cNvPr id="3" name="Google Shape;468;p30">
            <a:extLst>
              <a:ext uri="{FF2B5EF4-FFF2-40B4-BE49-F238E27FC236}">
                <a16:creationId xmlns:a16="http://schemas.microsoft.com/office/drawing/2014/main" id="{455AD369-04CE-C29C-0E81-6B2827C69EEE}"/>
              </a:ext>
            </a:extLst>
          </p:cNvPr>
          <p:cNvSpPr txBox="1">
            <a:spLocks/>
          </p:cNvSpPr>
          <p:nvPr/>
        </p:nvSpPr>
        <p:spPr>
          <a:xfrm>
            <a:off x="1135353" y="1317984"/>
            <a:ext cx="9339309" cy="1639666"/>
          </a:xfrm>
          <a:prstGeom prst="rect">
            <a:avLst/>
          </a:prstGeom>
        </p:spPr>
        <p:txBody>
          <a:bodyPr spcFirstLastPara="1" wrap="square" lIns="91425" tIns="91425" rIns="91425" bIns="91425"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spcAft>
                <a:spcPts val="600"/>
              </a:spcAft>
              <a:buFont typeface="Arial" panose="020B0604020202020204" pitchFamily="34" charset="0"/>
              <a:buNone/>
            </a:pPr>
            <a:r>
              <a:rPr lang="en-US" sz="2400" dirty="0"/>
              <a:t>Assuming only one packet in flight, all packets length B, and no loss:</a:t>
            </a:r>
          </a:p>
          <a:p>
            <a:pPr>
              <a:spcBef>
                <a:spcPts val="600"/>
              </a:spcBef>
              <a:spcAft>
                <a:spcPts val="600"/>
              </a:spcAft>
            </a:pPr>
            <a:r>
              <a:rPr lang="en-US" sz="2400" dirty="0"/>
              <a:t>The last ack number is equal to the next sequence number.</a:t>
            </a:r>
          </a:p>
          <a:p>
            <a:pPr>
              <a:spcBef>
                <a:spcPts val="600"/>
              </a:spcBef>
              <a:spcAft>
                <a:spcPts val="600"/>
              </a:spcAft>
            </a:pPr>
            <a:r>
              <a:rPr lang="en-US" sz="2400" dirty="0"/>
              <a:t>"I expect j + B next." → "I'm sending j + B."</a:t>
            </a:r>
          </a:p>
        </p:txBody>
      </p:sp>
      <p:grpSp>
        <p:nvGrpSpPr>
          <p:cNvPr id="23" name="Group 22">
            <a:extLst>
              <a:ext uri="{FF2B5EF4-FFF2-40B4-BE49-F238E27FC236}">
                <a16:creationId xmlns:a16="http://schemas.microsoft.com/office/drawing/2014/main" id="{852F144B-8F47-84AC-308B-EF18298D9D89}"/>
              </a:ext>
            </a:extLst>
          </p:cNvPr>
          <p:cNvGrpSpPr/>
          <p:nvPr/>
        </p:nvGrpSpPr>
        <p:grpSpPr>
          <a:xfrm>
            <a:off x="6882788" y="2556770"/>
            <a:ext cx="5226354" cy="4128830"/>
            <a:chOff x="2485075" y="1791725"/>
            <a:chExt cx="4173859" cy="3256599"/>
          </a:xfrm>
        </p:grpSpPr>
        <p:cxnSp>
          <p:nvCxnSpPr>
            <p:cNvPr id="4" name="Google Shape;762;p34">
              <a:extLst>
                <a:ext uri="{FF2B5EF4-FFF2-40B4-BE49-F238E27FC236}">
                  <a16:creationId xmlns:a16="http://schemas.microsoft.com/office/drawing/2014/main" id="{D1B2A192-01EE-7592-053D-917921F995B1}"/>
                </a:ext>
              </a:extLst>
            </p:cNvPr>
            <p:cNvCxnSpPr/>
            <p:nvPr/>
          </p:nvCxnSpPr>
          <p:spPr>
            <a:xfrm>
              <a:off x="3037525" y="1791725"/>
              <a:ext cx="0" cy="2985600"/>
            </a:xfrm>
            <a:prstGeom prst="straightConnector1">
              <a:avLst/>
            </a:prstGeom>
            <a:noFill/>
            <a:ln w="19050" cap="flat" cmpd="sng">
              <a:solidFill>
                <a:srgbClr val="0000FF"/>
              </a:solidFill>
              <a:prstDash val="solid"/>
              <a:round/>
              <a:headEnd type="none" w="med" len="med"/>
              <a:tailEnd type="none" w="med" len="med"/>
            </a:ln>
          </p:spPr>
        </p:cxnSp>
        <p:sp>
          <p:nvSpPr>
            <p:cNvPr id="5" name="Google Shape;763;p34">
              <a:extLst>
                <a:ext uri="{FF2B5EF4-FFF2-40B4-BE49-F238E27FC236}">
                  <a16:creationId xmlns:a16="http://schemas.microsoft.com/office/drawing/2014/main" id="{583A470E-81B5-365E-5392-5A10901A6DC9}"/>
                </a:ext>
              </a:extLst>
            </p:cNvPr>
            <p:cNvSpPr txBox="1"/>
            <p:nvPr/>
          </p:nvSpPr>
          <p:spPr>
            <a:xfrm>
              <a:off x="2485075" y="4777424"/>
              <a:ext cx="11049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Sender</a:t>
              </a:r>
              <a:endParaRPr>
                <a:solidFill>
                  <a:srgbClr val="0000FF"/>
                </a:solidFill>
                <a:latin typeface="Roboto"/>
                <a:ea typeface="Roboto"/>
                <a:cs typeface="Roboto"/>
                <a:sym typeface="Roboto"/>
              </a:endParaRPr>
            </a:p>
          </p:txBody>
        </p:sp>
        <p:cxnSp>
          <p:nvCxnSpPr>
            <p:cNvPr id="6" name="Google Shape;764;p34">
              <a:extLst>
                <a:ext uri="{FF2B5EF4-FFF2-40B4-BE49-F238E27FC236}">
                  <a16:creationId xmlns:a16="http://schemas.microsoft.com/office/drawing/2014/main" id="{D305D8EB-B2CC-0BB9-D823-CF5C06B32843}"/>
                </a:ext>
              </a:extLst>
            </p:cNvPr>
            <p:cNvCxnSpPr/>
            <p:nvPr/>
          </p:nvCxnSpPr>
          <p:spPr>
            <a:xfrm>
              <a:off x="6058925" y="1791725"/>
              <a:ext cx="0" cy="2985600"/>
            </a:xfrm>
            <a:prstGeom prst="straightConnector1">
              <a:avLst/>
            </a:prstGeom>
            <a:noFill/>
            <a:ln w="19050" cap="flat" cmpd="sng">
              <a:solidFill>
                <a:schemeClr val="accent2"/>
              </a:solidFill>
              <a:prstDash val="solid"/>
              <a:round/>
              <a:headEnd type="none" w="med" len="med"/>
              <a:tailEnd type="none" w="med" len="med"/>
            </a:ln>
          </p:spPr>
        </p:cxnSp>
        <p:sp>
          <p:nvSpPr>
            <p:cNvPr id="7" name="Google Shape;765;p34">
              <a:extLst>
                <a:ext uri="{FF2B5EF4-FFF2-40B4-BE49-F238E27FC236}">
                  <a16:creationId xmlns:a16="http://schemas.microsoft.com/office/drawing/2014/main" id="{A80B552A-F229-D376-14EF-1F5E1D547550}"/>
                </a:ext>
              </a:extLst>
            </p:cNvPr>
            <p:cNvSpPr txBox="1"/>
            <p:nvPr/>
          </p:nvSpPr>
          <p:spPr>
            <a:xfrm>
              <a:off x="5458934" y="4777424"/>
              <a:ext cx="1200000" cy="270900"/>
            </a:xfrm>
            <a:prstGeom prst="rect">
              <a:avLst/>
            </a:prstGeom>
            <a:noFill/>
            <a:ln>
              <a:noFill/>
            </a:ln>
          </p:spPr>
          <p:txBody>
            <a:bodyPr spcFirstLastPara="1" wrap="square" lIns="91425" tIns="27425" rIns="91425" bIns="27425" anchor="t" anchorCtr="0">
              <a:sp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Recipient</a:t>
              </a:r>
              <a:endParaRPr>
                <a:solidFill>
                  <a:schemeClr val="accent2"/>
                </a:solidFill>
                <a:latin typeface="Roboto"/>
                <a:ea typeface="Roboto"/>
                <a:cs typeface="Roboto"/>
                <a:sym typeface="Roboto"/>
              </a:endParaRPr>
            </a:p>
          </p:txBody>
        </p:sp>
        <p:grpSp>
          <p:nvGrpSpPr>
            <p:cNvPr id="8" name="Google Shape;766;p34">
              <a:extLst>
                <a:ext uri="{FF2B5EF4-FFF2-40B4-BE49-F238E27FC236}">
                  <a16:creationId xmlns:a16="http://schemas.microsoft.com/office/drawing/2014/main" id="{7A505494-C8B6-1821-5B6F-3FEC0B854EAC}"/>
                </a:ext>
              </a:extLst>
            </p:cNvPr>
            <p:cNvGrpSpPr/>
            <p:nvPr/>
          </p:nvGrpSpPr>
          <p:grpSpPr>
            <a:xfrm>
              <a:off x="3039475" y="2235652"/>
              <a:ext cx="3019775" cy="728348"/>
              <a:chOff x="3039475" y="1702252"/>
              <a:chExt cx="3019775" cy="728348"/>
            </a:xfrm>
          </p:grpSpPr>
          <p:cxnSp>
            <p:nvCxnSpPr>
              <p:cNvPr id="9" name="Google Shape;767;p34">
                <a:extLst>
                  <a:ext uri="{FF2B5EF4-FFF2-40B4-BE49-F238E27FC236}">
                    <a16:creationId xmlns:a16="http://schemas.microsoft.com/office/drawing/2014/main" id="{3DCC9F9E-D2A8-495E-8A44-3F67B2D7434C}"/>
                  </a:ext>
                </a:extLst>
              </p:cNvPr>
              <p:cNvCxnSpPr/>
              <p:nvPr/>
            </p:nvCxnSpPr>
            <p:spPr>
              <a:xfrm flipH="1">
                <a:off x="3039475" y="19812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10" name="Google Shape;768;p34">
                <a:extLst>
                  <a:ext uri="{FF2B5EF4-FFF2-40B4-BE49-F238E27FC236}">
                    <a16:creationId xmlns:a16="http://schemas.microsoft.com/office/drawing/2014/main" id="{82ECB577-8A8B-D387-A9D9-F2523E8CF949}"/>
                  </a:ext>
                </a:extLst>
              </p:cNvPr>
              <p:cNvSpPr txBox="1"/>
              <p:nvPr/>
            </p:nvSpPr>
            <p:spPr>
              <a:xfrm rot="-511693">
                <a:off x="3050742" y="1923442"/>
                <a:ext cx="3004117"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 </a:t>
                </a:r>
                <a:r>
                  <a:rPr lang="en" i="1">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a:t>
                </a:r>
                <a:r>
                  <a:rPr lang="en" i="1">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11" name="Google Shape;769;p34">
              <a:extLst>
                <a:ext uri="{FF2B5EF4-FFF2-40B4-BE49-F238E27FC236}">
                  <a16:creationId xmlns:a16="http://schemas.microsoft.com/office/drawing/2014/main" id="{D23EA714-5901-B14F-A1CC-0680A1AF3C08}"/>
                </a:ext>
              </a:extLst>
            </p:cNvPr>
            <p:cNvGrpSpPr/>
            <p:nvPr/>
          </p:nvGrpSpPr>
          <p:grpSpPr>
            <a:xfrm>
              <a:off x="3039500" y="1791725"/>
              <a:ext cx="3007800" cy="597249"/>
              <a:chOff x="3039500" y="3010925"/>
              <a:chExt cx="3007800" cy="597249"/>
            </a:xfrm>
          </p:grpSpPr>
          <p:cxnSp>
            <p:nvCxnSpPr>
              <p:cNvPr id="12" name="Google Shape;770;p34">
                <a:extLst>
                  <a:ext uri="{FF2B5EF4-FFF2-40B4-BE49-F238E27FC236}">
                    <a16:creationId xmlns:a16="http://schemas.microsoft.com/office/drawing/2014/main" id="{049A6660-0108-C795-58E6-15C89F6D2D9A}"/>
                  </a:ext>
                </a:extLst>
              </p:cNvPr>
              <p:cNvCxnSpPr/>
              <p:nvPr/>
            </p:nvCxnSpPr>
            <p:spPr>
              <a:xfrm>
                <a:off x="3039500" y="31662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13" name="Google Shape;771;p34">
                <a:extLst>
                  <a:ext uri="{FF2B5EF4-FFF2-40B4-BE49-F238E27FC236}">
                    <a16:creationId xmlns:a16="http://schemas.microsoft.com/office/drawing/2014/main" id="{42303F8C-4BAE-5AA1-4DB2-5F3B55ECAE18}"/>
                  </a:ext>
                </a:extLst>
              </p:cNvPr>
              <p:cNvSpPr txBox="1"/>
              <p:nvPr/>
            </p:nvSpPr>
            <p:spPr>
              <a:xfrm rot="509539">
                <a:off x="3957694" y="3092615"/>
                <a:ext cx="1127462"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endParaRPr>
                  <a:solidFill>
                    <a:srgbClr val="0000FF"/>
                  </a:solidFill>
                  <a:latin typeface="Roboto"/>
                  <a:ea typeface="Roboto"/>
                  <a:cs typeface="Roboto"/>
                  <a:sym typeface="Roboto"/>
                </a:endParaRPr>
              </a:p>
            </p:txBody>
          </p:sp>
        </p:grpSp>
        <p:grpSp>
          <p:nvGrpSpPr>
            <p:cNvPr id="14" name="Google Shape;772;p34">
              <a:extLst>
                <a:ext uri="{FF2B5EF4-FFF2-40B4-BE49-F238E27FC236}">
                  <a16:creationId xmlns:a16="http://schemas.microsoft.com/office/drawing/2014/main" id="{DF276BA6-7CFB-75D5-C4B9-9CFC3629EADC}"/>
                </a:ext>
              </a:extLst>
            </p:cNvPr>
            <p:cNvGrpSpPr/>
            <p:nvPr/>
          </p:nvGrpSpPr>
          <p:grpSpPr>
            <a:xfrm>
              <a:off x="3039500" y="2932525"/>
              <a:ext cx="3007800" cy="599449"/>
              <a:chOff x="3039500" y="3999325"/>
              <a:chExt cx="3007800" cy="599449"/>
            </a:xfrm>
          </p:grpSpPr>
          <p:cxnSp>
            <p:nvCxnSpPr>
              <p:cNvPr id="15" name="Google Shape;773;p34">
                <a:extLst>
                  <a:ext uri="{FF2B5EF4-FFF2-40B4-BE49-F238E27FC236}">
                    <a16:creationId xmlns:a16="http://schemas.microsoft.com/office/drawing/2014/main" id="{AE88BE58-FDB5-B9EF-C984-1A2631F4C8E0}"/>
                  </a:ext>
                </a:extLst>
              </p:cNvPr>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16" name="Google Shape;774;p34">
                <a:extLst>
                  <a:ext uri="{FF2B5EF4-FFF2-40B4-BE49-F238E27FC236}">
                    <a16:creationId xmlns:a16="http://schemas.microsoft.com/office/drawing/2014/main" id="{2826AC63-816F-1A5A-E351-386E259A0301}"/>
                  </a:ext>
                </a:extLst>
              </p:cNvPr>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dirty="0">
                    <a:solidFill>
                      <a:srgbClr val="0000FF"/>
                    </a:solidFill>
                    <a:latin typeface="Roboto"/>
                    <a:ea typeface="Roboto"/>
                    <a:cs typeface="Roboto"/>
                    <a:sym typeface="Roboto"/>
                  </a:rPr>
                  <a:t>seq = </a:t>
                </a:r>
                <a:r>
                  <a:rPr lang="en" i="1" dirty="0">
                    <a:solidFill>
                      <a:srgbClr val="0000FF"/>
                    </a:solidFill>
                    <a:latin typeface="Roboto"/>
                    <a:ea typeface="Roboto"/>
                    <a:cs typeface="Roboto"/>
                    <a:sym typeface="Roboto"/>
                  </a:rPr>
                  <a:t>j</a:t>
                </a:r>
                <a:r>
                  <a:rPr lang="en" dirty="0">
                    <a:solidFill>
                      <a:srgbClr val="0000FF"/>
                    </a:solidFill>
                    <a:latin typeface="Roboto"/>
                    <a:ea typeface="Roboto"/>
                    <a:cs typeface="Roboto"/>
                    <a:sym typeface="Roboto"/>
                  </a:rPr>
                  <a:t> + </a:t>
                </a:r>
                <a:r>
                  <a:rPr lang="en" i="1" dirty="0">
                    <a:solidFill>
                      <a:srgbClr val="0000FF"/>
                    </a:solidFill>
                    <a:latin typeface="Roboto"/>
                    <a:ea typeface="Roboto"/>
                    <a:cs typeface="Roboto"/>
                    <a:sym typeface="Roboto"/>
                  </a:rPr>
                  <a:t>B</a:t>
                </a:r>
                <a:endParaRPr dirty="0">
                  <a:solidFill>
                    <a:srgbClr val="0000FF"/>
                  </a:solidFill>
                  <a:latin typeface="Roboto"/>
                  <a:ea typeface="Roboto"/>
                  <a:cs typeface="Roboto"/>
                  <a:sym typeface="Roboto"/>
                </a:endParaRPr>
              </a:p>
            </p:txBody>
          </p:sp>
        </p:grpSp>
        <p:grpSp>
          <p:nvGrpSpPr>
            <p:cNvPr id="17" name="Google Shape;775;p34">
              <a:extLst>
                <a:ext uri="{FF2B5EF4-FFF2-40B4-BE49-F238E27FC236}">
                  <a16:creationId xmlns:a16="http://schemas.microsoft.com/office/drawing/2014/main" id="{48B06BE7-E3CE-0709-7254-B80F2F8C253D}"/>
                </a:ext>
              </a:extLst>
            </p:cNvPr>
            <p:cNvGrpSpPr/>
            <p:nvPr/>
          </p:nvGrpSpPr>
          <p:grpSpPr>
            <a:xfrm>
              <a:off x="3039475" y="3378652"/>
              <a:ext cx="3019775" cy="728348"/>
              <a:chOff x="3039475" y="1702252"/>
              <a:chExt cx="3019775" cy="728348"/>
            </a:xfrm>
          </p:grpSpPr>
          <p:cxnSp>
            <p:nvCxnSpPr>
              <p:cNvPr id="18" name="Google Shape;776;p34">
                <a:extLst>
                  <a:ext uri="{FF2B5EF4-FFF2-40B4-BE49-F238E27FC236}">
                    <a16:creationId xmlns:a16="http://schemas.microsoft.com/office/drawing/2014/main" id="{1793EF6B-F889-E576-2727-31F33B0910E5}"/>
                  </a:ext>
                </a:extLst>
              </p:cNvPr>
              <p:cNvCxnSpPr/>
              <p:nvPr/>
            </p:nvCxnSpPr>
            <p:spPr>
              <a:xfrm flipH="1">
                <a:off x="3039475" y="1981200"/>
                <a:ext cx="3015000" cy="449400"/>
              </a:xfrm>
              <a:prstGeom prst="straightConnector1">
                <a:avLst/>
              </a:prstGeom>
              <a:noFill/>
              <a:ln w="19050" cap="flat" cmpd="sng">
                <a:solidFill>
                  <a:schemeClr val="accent2"/>
                </a:solidFill>
                <a:prstDash val="solid"/>
                <a:round/>
                <a:headEnd type="none" w="med" len="med"/>
                <a:tailEnd type="triangle" w="med" len="med"/>
              </a:ln>
            </p:spPr>
          </p:cxnSp>
          <p:sp>
            <p:nvSpPr>
              <p:cNvPr id="19" name="Google Shape;777;p34">
                <a:extLst>
                  <a:ext uri="{FF2B5EF4-FFF2-40B4-BE49-F238E27FC236}">
                    <a16:creationId xmlns:a16="http://schemas.microsoft.com/office/drawing/2014/main" id="{F3EA17E2-ABE7-7D55-67D7-E30E81E65317}"/>
                  </a:ext>
                </a:extLst>
              </p:cNvPr>
              <p:cNvSpPr txBox="1"/>
              <p:nvPr/>
            </p:nvSpPr>
            <p:spPr>
              <a:xfrm rot="-511693">
                <a:off x="3050742" y="1923442"/>
                <a:ext cx="3004117"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chemeClr val="accent2"/>
                    </a:solidFill>
                    <a:latin typeface="Roboto"/>
                    <a:ea typeface="Roboto"/>
                    <a:cs typeface="Roboto"/>
                    <a:sym typeface="Roboto"/>
                  </a:rPr>
                  <a:t>ack = </a:t>
                </a:r>
                <a:r>
                  <a:rPr lang="en" i="1">
                    <a:solidFill>
                      <a:schemeClr val="accent2"/>
                    </a:solidFill>
                    <a:latin typeface="Roboto"/>
                    <a:ea typeface="Roboto"/>
                    <a:cs typeface="Roboto"/>
                    <a:sym typeface="Roboto"/>
                  </a:rPr>
                  <a:t>j </a:t>
                </a:r>
                <a:r>
                  <a:rPr lang="en">
                    <a:solidFill>
                      <a:schemeClr val="accent2"/>
                    </a:solidFill>
                    <a:latin typeface="Roboto"/>
                    <a:ea typeface="Roboto"/>
                    <a:cs typeface="Roboto"/>
                    <a:sym typeface="Roboto"/>
                  </a:rPr>
                  <a:t>+ 2</a:t>
                </a:r>
                <a:r>
                  <a:rPr lang="en" i="1">
                    <a:solidFill>
                      <a:schemeClr val="accent2"/>
                    </a:solidFill>
                    <a:latin typeface="Roboto"/>
                    <a:ea typeface="Roboto"/>
                    <a:cs typeface="Roboto"/>
                    <a:sym typeface="Roboto"/>
                  </a:rPr>
                  <a:t>B</a:t>
                </a:r>
                <a:endParaRPr>
                  <a:solidFill>
                    <a:schemeClr val="accent2"/>
                  </a:solidFill>
                  <a:latin typeface="Roboto"/>
                  <a:ea typeface="Roboto"/>
                  <a:cs typeface="Roboto"/>
                  <a:sym typeface="Roboto"/>
                </a:endParaRPr>
              </a:p>
            </p:txBody>
          </p:sp>
        </p:grpSp>
        <p:grpSp>
          <p:nvGrpSpPr>
            <p:cNvPr id="20" name="Google Shape;778;p34">
              <a:extLst>
                <a:ext uri="{FF2B5EF4-FFF2-40B4-BE49-F238E27FC236}">
                  <a16:creationId xmlns:a16="http://schemas.microsoft.com/office/drawing/2014/main" id="{67AE7D64-122C-E874-784C-6ED296A3922D}"/>
                </a:ext>
              </a:extLst>
            </p:cNvPr>
            <p:cNvGrpSpPr/>
            <p:nvPr/>
          </p:nvGrpSpPr>
          <p:grpSpPr>
            <a:xfrm>
              <a:off x="3039500" y="4075525"/>
              <a:ext cx="3007800" cy="599449"/>
              <a:chOff x="3039500" y="3999325"/>
              <a:chExt cx="3007800" cy="599449"/>
            </a:xfrm>
          </p:grpSpPr>
          <p:cxnSp>
            <p:nvCxnSpPr>
              <p:cNvPr id="21" name="Google Shape;779;p34">
                <a:extLst>
                  <a:ext uri="{FF2B5EF4-FFF2-40B4-BE49-F238E27FC236}">
                    <a16:creationId xmlns:a16="http://schemas.microsoft.com/office/drawing/2014/main" id="{C37E8FD3-98B0-F7FA-716A-936900C28191}"/>
                  </a:ext>
                </a:extLst>
              </p:cNvPr>
              <p:cNvCxnSpPr/>
              <p:nvPr/>
            </p:nvCxnSpPr>
            <p:spPr>
              <a:xfrm>
                <a:off x="3039500" y="4156874"/>
                <a:ext cx="3007800" cy="441900"/>
              </a:xfrm>
              <a:prstGeom prst="straightConnector1">
                <a:avLst/>
              </a:prstGeom>
              <a:noFill/>
              <a:ln w="19050" cap="flat" cmpd="sng">
                <a:solidFill>
                  <a:srgbClr val="0000FF"/>
                </a:solidFill>
                <a:prstDash val="solid"/>
                <a:round/>
                <a:headEnd type="none" w="med" len="med"/>
                <a:tailEnd type="triangle" w="med" len="med"/>
              </a:ln>
            </p:spPr>
          </p:cxnSp>
          <p:sp>
            <p:nvSpPr>
              <p:cNvPr id="22" name="Google Shape;780;p34">
                <a:extLst>
                  <a:ext uri="{FF2B5EF4-FFF2-40B4-BE49-F238E27FC236}">
                    <a16:creationId xmlns:a16="http://schemas.microsoft.com/office/drawing/2014/main" id="{AD45B76C-ADC2-55C4-F7A5-CE79309B7024}"/>
                  </a:ext>
                </a:extLst>
              </p:cNvPr>
              <p:cNvSpPr txBox="1"/>
              <p:nvPr/>
            </p:nvSpPr>
            <p:spPr>
              <a:xfrm rot="509640">
                <a:off x="3942862" y="4083115"/>
                <a:ext cx="1155676" cy="284220"/>
              </a:xfrm>
              <a:prstGeom prst="rect">
                <a:avLst/>
              </a:prstGeom>
              <a:noFill/>
              <a:ln>
                <a:noFill/>
              </a:ln>
            </p:spPr>
            <p:txBody>
              <a:bodyPr spcFirstLastPara="1" wrap="square" lIns="27425" tIns="27425" rIns="27425" bIns="27425" anchor="t" anchorCtr="0">
                <a:noAutofit/>
              </a:bodyPr>
              <a:lstStyle/>
              <a:p>
                <a:pPr marL="0" lvl="0" indent="0" algn="ctr" rtl="0">
                  <a:spcBef>
                    <a:spcPts val="0"/>
                  </a:spcBef>
                  <a:spcAft>
                    <a:spcPts val="0"/>
                  </a:spcAft>
                  <a:buNone/>
                </a:pPr>
                <a:r>
                  <a:rPr lang="en">
                    <a:solidFill>
                      <a:srgbClr val="0000FF"/>
                    </a:solidFill>
                    <a:latin typeface="Roboto"/>
                    <a:ea typeface="Roboto"/>
                    <a:cs typeface="Roboto"/>
                    <a:sym typeface="Roboto"/>
                  </a:rPr>
                  <a:t>seq = </a:t>
                </a:r>
                <a:r>
                  <a:rPr lang="en" i="1">
                    <a:solidFill>
                      <a:srgbClr val="0000FF"/>
                    </a:solidFill>
                    <a:latin typeface="Roboto"/>
                    <a:ea typeface="Roboto"/>
                    <a:cs typeface="Roboto"/>
                    <a:sym typeface="Roboto"/>
                  </a:rPr>
                  <a:t>j</a:t>
                </a:r>
                <a:r>
                  <a:rPr lang="en">
                    <a:solidFill>
                      <a:srgbClr val="0000FF"/>
                    </a:solidFill>
                    <a:latin typeface="Roboto"/>
                    <a:ea typeface="Roboto"/>
                    <a:cs typeface="Roboto"/>
                    <a:sym typeface="Roboto"/>
                  </a:rPr>
                  <a:t> + 2</a:t>
                </a:r>
                <a:r>
                  <a:rPr lang="en" i="1">
                    <a:solidFill>
                      <a:srgbClr val="0000FF"/>
                    </a:solidFill>
                    <a:latin typeface="Roboto"/>
                    <a:ea typeface="Roboto"/>
                    <a:cs typeface="Roboto"/>
                    <a:sym typeface="Roboto"/>
                  </a:rPr>
                  <a:t>B</a:t>
                </a:r>
                <a:endParaRPr>
                  <a:solidFill>
                    <a:srgbClr val="0000FF"/>
                  </a:solidFill>
                  <a:latin typeface="Roboto"/>
                  <a:ea typeface="Roboto"/>
                  <a:cs typeface="Roboto"/>
                  <a:sym typeface="Roboto"/>
                </a:endParaRPr>
              </a:p>
            </p:txBody>
          </p:sp>
        </p:grpSp>
      </p:grpSp>
      <p:sp>
        <p:nvSpPr>
          <p:cNvPr id="24" name="Rectangle 1028">
            <a:extLst>
              <a:ext uri="{FF2B5EF4-FFF2-40B4-BE49-F238E27FC236}">
                <a16:creationId xmlns:a16="http://schemas.microsoft.com/office/drawing/2014/main" id="{E190D3CF-D6F0-B21B-D6B3-CD7E49962070}"/>
              </a:ext>
            </a:extLst>
          </p:cNvPr>
          <p:cNvSpPr txBox="1">
            <a:spLocks noChangeArrowheads="1"/>
          </p:cNvSpPr>
          <p:nvPr/>
        </p:nvSpPr>
        <p:spPr>
          <a:xfrm>
            <a:off x="1135353" y="3805299"/>
            <a:ext cx="4985134" cy="2141889"/>
          </a:xfrm>
          <a:prstGeom prst="rect">
            <a:avLst/>
          </a:prstGeom>
        </p:spPr>
        <p:txBody>
          <a:bodyPr vert="horz" lIns="91440" tIns="45720" rIns="91440" bIns="45720" rtlCol="0">
            <a:noAutofit/>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r>
              <a:rPr kumimoji="0" lang="en-US" altLang="en-US" sz="3000" b="1" i="1" u="sng" strike="noStrike" kern="1200" cap="none" spc="0" normalizeH="0" baseline="0" noProof="0" dirty="0">
                <a:ln>
                  <a:noFill/>
                </a:ln>
                <a:solidFill>
                  <a:srgbClr val="C00000"/>
                </a:solidFill>
                <a:effectLst/>
                <a:uLnTx/>
                <a:uFillTx/>
                <a:ea typeface="ＭＳ Ｐゴシック" panose="020B0600070205080204" pitchFamily="34" charset="-128"/>
              </a:rPr>
              <a:t>Q:</a:t>
            </a:r>
            <a:r>
              <a:rPr kumimoji="0" lang="en-US" altLang="en-US" sz="3000" b="1" i="1" u="none" strike="noStrike" kern="1200" cap="none" spc="0" normalizeH="0" baseline="0" noProof="0" dirty="0">
                <a:ln>
                  <a:noFill/>
                </a:ln>
                <a:solidFill>
                  <a:srgbClr val="C00000"/>
                </a:solidFill>
                <a:effectLst/>
                <a:uLnTx/>
                <a:uFillTx/>
                <a:ea typeface="ＭＳ Ｐゴシック" panose="020B0600070205080204" pitchFamily="34" charset="-128"/>
              </a:rPr>
              <a:t> </a:t>
            </a:r>
            <a:r>
              <a:rPr kumimoji="0" lang="en-US" altLang="en-US" sz="3000" b="1" i="1" u="none" strike="noStrike" kern="1200" cap="none" spc="0" normalizeH="0" baseline="0" noProof="0" dirty="0">
                <a:ln>
                  <a:noFill/>
                </a:ln>
                <a:solidFill>
                  <a:prstClr val="black"/>
                </a:solidFill>
                <a:effectLst/>
                <a:uLnTx/>
                <a:uFillTx/>
                <a:ea typeface="ＭＳ Ｐゴシック" panose="020B0600070205080204" pitchFamily="34" charset="-128"/>
              </a:rPr>
              <a:t>What if the packet loss happens?</a:t>
            </a:r>
          </a:p>
          <a:p>
            <a:pPr>
              <a:buClrTx/>
              <a:buFont typeface="Arial" panose="020B0604020202020204" pitchFamily="34" charset="0"/>
              <a:buChar char="•"/>
              <a:defRPr/>
            </a:pPr>
            <a:r>
              <a:rPr lang="en-US" sz="3200" dirty="0">
                <a:solidFill>
                  <a:prstClr val="black"/>
                </a:solidFill>
                <a:latin typeface="Calibri" panose="020F0502020204030204"/>
              </a:rPr>
              <a:t>Sender’s packet is lost</a:t>
            </a:r>
          </a:p>
          <a:p>
            <a:pPr>
              <a:buClrTx/>
              <a:buFont typeface="Arial" panose="020B0604020202020204" pitchFamily="34" charset="0"/>
              <a:buChar char="•"/>
              <a:defRPr/>
            </a:pPr>
            <a:r>
              <a:rPr lang="en-US" sz="3200" dirty="0">
                <a:solidFill>
                  <a:prstClr val="black"/>
                </a:solidFill>
                <a:latin typeface="Calibri" panose="020F0502020204030204"/>
              </a:rPr>
              <a:t>ACK is lost</a:t>
            </a:r>
          </a:p>
          <a:p>
            <a:pPr marL="352425" marR="0" lvl="0" indent="-222250" algn="l" defTabSz="914400" rtl="0" eaLnBrk="1" fontAlgn="auto" latinLnBrk="0" hangingPunct="1">
              <a:lnSpc>
                <a:spcPct val="90000"/>
              </a:lnSpc>
              <a:spcBef>
                <a:spcPts val="1000"/>
              </a:spcBef>
              <a:spcAft>
                <a:spcPts val="0"/>
              </a:spcAft>
              <a:buClr>
                <a:srgbClr val="0000A3"/>
              </a:buClr>
              <a:buSzTx/>
              <a:buFont typeface="Wingdings" pitchFamily="2" charset="2"/>
              <a:buNone/>
              <a:tabLst/>
              <a:defRPr/>
            </a:pPr>
            <a:endParaRPr kumimoji="0" lang="en-US" altLang="en-US" sz="3000" b="1" i="1" u="none" strike="noStrike" kern="1200" cap="none" spc="0" normalizeH="0" baseline="0" noProof="0" dirty="0">
              <a:ln>
                <a:noFill/>
              </a:ln>
              <a:solidFill>
                <a:prstClr val="black"/>
              </a:solidFill>
              <a:effectLst/>
              <a:uLnTx/>
              <a:uFillTx/>
              <a:ea typeface="ＭＳ Ｐゴシック" panose="020B0600070205080204" pitchFamily="34" charset="-128"/>
            </a:endParaRPr>
          </a:p>
        </p:txBody>
      </p:sp>
    </p:spTree>
    <p:extLst>
      <p:ext uri="{BB962C8B-B14F-4D97-AF65-F5344CB8AC3E}">
        <p14:creationId xmlns:p14="http://schemas.microsoft.com/office/powerpoint/2010/main" val="863431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69" name="Text Box 105">
            <a:extLst>
              <a:ext uri="{FF2B5EF4-FFF2-40B4-BE49-F238E27FC236}">
                <a16:creationId xmlns:a16="http://schemas.microsoft.com/office/drawing/2014/main" id="{BFF25F7B-7978-5140-B991-E71AA865A711}"/>
              </a:ext>
            </a:extLst>
          </p:cNvPr>
          <p:cNvSpPr txBox="1">
            <a:spLocks noChangeArrowheads="1"/>
          </p:cNvSpPr>
          <p:nvPr/>
        </p:nvSpPr>
        <p:spPr bwMode="auto">
          <a:xfrm>
            <a:off x="2236856" y="5873422"/>
            <a:ext cx="1922463"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lost ACK scenario</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3" name="Text Box 107">
            <a:extLst>
              <a:ext uri="{FF2B5EF4-FFF2-40B4-BE49-F238E27FC236}">
                <a16:creationId xmlns:a16="http://schemas.microsoft.com/office/drawing/2014/main" id="{F3A3ACB5-362A-6544-B734-58B0D301B082}"/>
              </a:ext>
            </a:extLst>
          </p:cNvPr>
          <p:cNvSpPr txBox="1">
            <a:spLocks noChangeArrowheads="1"/>
          </p:cNvSpPr>
          <p:nvPr/>
        </p:nvSpPr>
        <p:spPr bwMode="auto">
          <a:xfrm>
            <a:off x="3970406" y="1183947"/>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74" name="Text Box 111">
            <a:extLst>
              <a:ext uri="{FF2B5EF4-FFF2-40B4-BE49-F238E27FC236}">
                <a16:creationId xmlns:a16="http://schemas.microsoft.com/office/drawing/2014/main" id="{C335325B-B5CF-6043-990C-413A908C3855}"/>
              </a:ext>
            </a:extLst>
          </p:cNvPr>
          <p:cNvSpPr txBox="1">
            <a:spLocks noChangeArrowheads="1"/>
          </p:cNvSpPr>
          <p:nvPr/>
        </p:nvSpPr>
        <p:spPr bwMode="auto">
          <a:xfrm>
            <a:off x="1636781" y="1201410"/>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4" name="Group 3">
            <a:extLst>
              <a:ext uri="{FF2B5EF4-FFF2-40B4-BE49-F238E27FC236}">
                <a16:creationId xmlns:a16="http://schemas.microsoft.com/office/drawing/2014/main" id="{47AB30F9-BD3F-264E-8DF5-3B4B9CA352A7}"/>
              </a:ext>
            </a:extLst>
          </p:cNvPr>
          <p:cNvGrpSpPr/>
          <p:nvPr/>
        </p:nvGrpSpPr>
        <p:grpSpPr>
          <a:xfrm>
            <a:off x="2032069" y="2342822"/>
            <a:ext cx="2346325" cy="571500"/>
            <a:chOff x="2032069" y="2342822"/>
            <a:chExt cx="2346325" cy="571500"/>
          </a:xfrm>
        </p:grpSpPr>
        <p:sp>
          <p:nvSpPr>
            <p:cNvPr id="171" name="Line 100">
              <a:extLst>
                <a:ext uri="{FF2B5EF4-FFF2-40B4-BE49-F238E27FC236}">
                  <a16:creationId xmlns:a16="http://schemas.microsoft.com/office/drawing/2014/main" id="{9BCB851E-085B-9D4B-8A34-064757F2C932}"/>
                </a:ext>
              </a:extLst>
            </p:cNvPr>
            <p:cNvSpPr>
              <a:spLocks noChangeShapeType="1"/>
            </p:cNvSpPr>
            <p:nvPr/>
          </p:nvSpPr>
          <p:spPr bwMode="auto">
            <a:xfrm>
              <a:off x="2032069"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5" name="Rectangle 112">
              <a:extLst>
                <a:ext uri="{FF2B5EF4-FFF2-40B4-BE49-F238E27FC236}">
                  <a16:creationId xmlns:a16="http://schemas.microsoft.com/office/drawing/2014/main" id="{B9ED3E7B-3C38-A24B-9528-FA547DDE0CDC}"/>
                </a:ext>
              </a:extLst>
            </p:cNvPr>
            <p:cNvSpPr>
              <a:spLocks noChangeArrowheads="1"/>
            </p:cNvSpPr>
            <p:nvPr/>
          </p:nvSpPr>
          <p:spPr bwMode="auto">
            <a:xfrm>
              <a:off x="2735331"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6" name="Text Box 113">
              <a:extLst>
                <a:ext uri="{FF2B5EF4-FFF2-40B4-BE49-F238E27FC236}">
                  <a16:creationId xmlns:a16="http://schemas.microsoft.com/office/drawing/2014/main" id="{08010453-6652-E348-AC57-7E9E8D356969}"/>
                </a:ext>
              </a:extLst>
            </p:cNvPr>
            <p:cNvSpPr txBox="1">
              <a:spLocks noChangeArrowheads="1"/>
            </p:cNvSpPr>
            <p:nvPr/>
          </p:nvSpPr>
          <p:spPr bwMode="auto">
            <a:xfrm>
              <a:off x="2176531" y="2476172"/>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sp>
        <p:nvSpPr>
          <p:cNvPr id="179" name="Line 118">
            <a:extLst>
              <a:ext uri="{FF2B5EF4-FFF2-40B4-BE49-F238E27FC236}">
                <a16:creationId xmlns:a16="http://schemas.microsoft.com/office/drawing/2014/main" id="{5429E427-16E3-344A-A034-DAE0253AB97D}"/>
              </a:ext>
            </a:extLst>
          </p:cNvPr>
          <p:cNvSpPr>
            <a:spLocks noChangeShapeType="1"/>
          </p:cNvSpPr>
          <p:nvPr/>
        </p:nvSpPr>
        <p:spPr bwMode="auto">
          <a:xfrm>
            <a:off x="2011431" y="2101522"/>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0" name="Line 119">
            <a:extLst>
              <a:ext uri="{FF2B5EF4-FFF2-40B4-BE49-F238E27FC236}">
                <a16:creationId xmlns:a16="http://schemas.microsoft.com/office/drawing/2014/main" id="{B685EEAE-4766-CE43-A2A6-32288A3FE5E9}"/>
              </a:ext>
            </a:extLst>
          </p:cNvPr>
          <p:cNvSpPr>
            <a:spLocks noChangeShapeType="1"/>
          </p:cNvSpPr>
          <p:nvPr/>
        </p:nvSpPr>
        <p:spPr bwMode="auto">
          <a:xfrm>
            <a:off x="4438719" y="2096760"/>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8" name="Group 7">
            <a:extLst>
              <a:ext uri="{FF2B5EF4-FFF2-40B4-BE49-F238E27FC236}">
                <a16:creationId xmlns:a16="http://schemas.microsoft.com/office/drawing/2014/main" id="{F2169BDB-26D4-794C-AF29-1EBFE13D6C8F}"/>
              </a:ext>
            </a:extLst>
          </p:cNvPr>
          <p:cNvGrpSpPr/>
          <p:nvPr/>
        </p:nvGrpSpPr>
        <p:grpSpPr>
          <a:xfrm>
            <a:off x="2019369" y="4104947"/>
            <a:ext cx="2351087" cy="512763"/>
            <a:chOff x="2019369" y="4104947"/>
            <a:chExt cx="2351087" cy="512763"/>
          </a:xfrm>
        </p:grpSpPr>
        <p:sp>
          <p:nvSpPr>
            <p:cNvPr id="170" name="Line 99">
              <a:extLst>
                <a:ext uri="{FF2B5EF4-FFF2-40B4-BE49-F238E27FC236}">
                  <a16:creationId xmlns:a16="http://schemas.microsoft.com/office/drawing/2014/main" id="{79B38498-1004-6944-956A-ECE43F5BF0A1}"/>
                </a:ext>
              </a:extLst>
            </p:cNvPr>
            <p:cNvSpPr>
              <a:spLocks noChangeShapeType="1"/>
            </p:cNvSpPr>
            <p:nvPr/>
          </p:nvSpPr>
          <p:spPr bwMode="auto">
            <a:xfrm>
              <a:off x="2019369" y="4111297"/>
              <a:ext cx="2351087" cy="50641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1" name="Rectangle 122">
              <a:extLst>
                <a:ext uri="{FF2B5EF4-FFF2-40B4-BE49-F238E27FC236}">
                  <a16:creationId xmlns:a16="http://schemas.microsoft.com/office/drawing/2014/main" id="{60DDB655-86B1-2D4B-9108-1CEBCFF76AC9}"/>
                </a:ext>
              </a:extLst>
            </p:cNvPr>
            <p:cNvSpPr>
              <a:spLocks noChangeArrowheads="1"/>
            </p:cNvSpPr>
            <p:nvPr/>
          </p:nvSpPr>
          <p:spPr bwMode="auto">
            <a:xfrm>
              <a:off x="2628969" y="4104947"/>
              <a:ext cx="989012" cy="43021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2" name="Text Box 123">
              <a:extLst>
                <a:ext uri="{FF2B5EF4-FFF2-40B4-BE49-F238E27FC236}">
                  <a16:creationId xmlns:a16="http://schemas.microsoft.com/office/drawing/2014/main" id="{FB31845A-BC05-2942-A23F-7101518E3BF6}"/>
                </a:ext>
              </a:extLst>
            </p:cNvPr>
            <p:cNvSpPr txBox="1">
              <a:spLocks noChangeArrowheads="1"/>
            </p:cNvSpPr>
            <p:nvPr/>
          </p:nvSpPr>
          <p:spPr bwMode="auto">
            <a:xfrm>
              <a:off x="2165419" y="4185910"/>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grpSp>
        <p:nvGrpSpPr>
          <p:cNvPr id="6" name="Group 5">
            <a:extLst>
              <a:ext uri="{FF2B5EF4-FFF2-40B4-BE49-F238E27FC236}">
                <a16:creationId xmlns:a16="http://schemas.microsoft.com/office/drawing/2014/main" id="{BDFBEB0F-AD33-9841-96A8-08332FBAA960}"/>
              </a:ext>
            </a:extLst>
          </p:cNvPr>
          <p:cNvGrpSpPr/>
          <p:nvPr/>
        </p:nvGrpSpPr>
        <p:grpSpPr>
          <a:xfrm>
            <a:off x="2857569" y="3004810"/>
            <a:ext cx="1484312" cy="628650"/>
            <a:chOff x="2857569" y="3004810"/>
            <a:chExt cx="1484312" cy="628650"/>
          </a:xfrm>
        </p:grpSpPr>
        <p:sp>
          <p:nvSpPr>
            <p:cNvPr id="172" name="Line 104">
              <a:extLst>
                <a:ext uri="{FF2B5EF4-FFF2-40B4-BE49-F238E27FC236}">
                  <a16:creationId xmlns:a16="http://schemas.microsoft.com/office/drawing/2014/main" id="{CDD77362-C693-4645-AF99-2BBCF441D31A}"/>
                </a:ext>
              </a:extLst>
            </p:cNvPr>
            <p:cNvSpPr>
              <a:spLocks noChangeShapeType="1"/>
            </p:cNvSpPr>
            <p:nvPr/>
          </p:nvSpPr>
          <p:spPr bwMode="auto">
            <a:xfrm flipH="1">
              <a:off x="3068706" y="3004810"/>
              <a:ext cx="1273175" cy="4270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7" name="Rectangle 114">
              <a:extLst>
                <a:ext uri="{FF2B5EF4-FFF2-40B4-BE49-F238E27FC236}">
                  <a16:creationId xmlns:a16="http://schemas.microsoft.com/office/drawing/2014/main" id="{8B525616-75BA-9C49-973A-BD0F57E70412}"/>
                </a:ext>
              </a:extLst>
            </p:cNvPr>
            <p:cNvSpPr>
              <a:spLocks noChangeArrowheads="1"/>
            </p:cNvSpPr>
            <p:nvPr/>
          </p:nvSpPr>
          <p:spPr bwMode="auto">
            <a:xfrm>
              <a:off x="3303656" y="3090535"/>
              <a:ext cx="747713"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78" name="Text Box 115">
              <a:extLst>
                <a:ext uri="{FF2B5EF4-FFF2-40B4-BE49-F238E27FC236}">
                  <a16:creationId xmlns:a16="http://schemas.microsoft.com/office/drawing/2014/main" id="{F3EC555B-6627-3C46-9C43-7AB97835B780}"/>
                </a:ext>
              </a:extLst>
            </p:cNvPr>
            <p:cNvSpPr txBox="1">
              <a:spLocks noChangeArrowheads="1"/>
            </p:cNvSpPr>
            <p:nvPr/>
          </p:nvSpPr>
          <p:spPr bwMode="auto">
            <a:xfrm>
              <a:off x="3224281" y="3046085"/>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183" name="Text Box 124">
              <a:extLst>
                <a:ext uri="{FF2B5EF4-FFF2-40B4-BE49-F238E27FC236}">
                  <a16:creationId xmlns:a16="http://schemas.microsoft.com/office/drawing/2014/main" id="{41BA4870-FF33-4142-991E-EDDE2B5293A4}"/>
                </a:ext>
              </a:extLst>
            </p:cNvPr>
            <p:cNvSpPr txBox="1">
              <a:spLocks noChangeArrowheads="1"/>
            </p:cNvSpPr>
            <p:nvPr/>
          </p:nvSpPr>
          <p:spPr bwMode="auto">
            <a:xfrm>
              <a:off x="2857569" y="3236585"/>
              <a:ext cx="3587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grpSp>
      <p:grpSp>
        <p:nvGrpSpPr>
          <p:cNvPr id="9" name="Group 8">
            <a:extLst>
              <a:ext uri="{FF2B5EF4-FFF2-40B4-BE49-F238E27FC236}">
                <a16:creationId xmlns:a16="http://schemas.microsoft.com/office/drawing/2014/main" id="{CA465D82-8FEB-3440-B371-2468D04E80CF}"/>
              </a:ext>
            </a:extLst>
          </p:cNvPr>
          <p:cNvGrpSpPr/>
          <p:nvPr/>
        </p:nvGrpSpPr>
        <p:grpSpPr>
          <a:xfrm>
            <a:off x="2008256" y="4703435"/>
            <a:ext cx="2338388" cy="782637"/>
            <a:chOff x="2008256" y="4703435"/>
            <a:chExt cx="2338388" cy="782637"/>
          </a:xfrm>
        </p:grpSpPr>
        <p:sp>
          <p:nvSpPr>
            <p:cNvPr id="185" name="Line 127">
              <a:extLst>
                <a:ext uri="{FF2B5EF4-FFF2-40B4-BE49-F238E27FC236}">
                  <a16:creationId xmlns:a16="http://schemas.microsoft.com/office/drawing/2014/main" id="{6B2D3167-D859-5D44-BBF6-C9AD75BFE46D}"/>
                </a:ext>
              </a:extLst>
            </p:cNvPr>
            <p:cNvSpPr>
              <a:spLocks noChangeShapeType="1"/>
            </p:cNvSpPr>
            <p:nvPr/>
          </p:nvSpPr>
          <p:spPr bwMode="auto">
            <a:xfrm flipH="1">
              <a:off x="2008256" y="4703435"/>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6" name="Rectangle 128">
              <a:extLst>
                <a:ext uri="{FF2B5EF4-FFF2-40B4-BE49-F238E27FC236}">
                  <a16:creationId xmlns:a16="http://schemas.microsoft.com/office/drawing/2014/main" id="{37A3DBF6-24FE-EF4F-8D6C-4ABC3854148F}"/>
                </a:ext>
              </a:extLst>
            </p:cNvPr>
            <p:cNvSpPr>
              <a:spLocks noChangeArrowheads="1"/>
            </p:cNvSpPr>
            <p:nvPr/>
          </p:nvSpPr>
          <p:spPr bwMode="auto">
            <a:xfrm>
              <a:off x="2841694" y="4960610"/>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87" name="Text Box 129">
              <a:extLst>
                <a:ext uri="{FF2B5EF4-FFF2-40B4-BE49-F238E27FC236}">
                  <a16:creationId xmlns:a16="http://schemas.microsoft.com/office/drawing/2014/main" id="{06DE42B2-117E-D241-8A87-B070A56CDFEA}"/>
                </a:ext>
              </a:extLst>
            </p:cNvPr>
            <p:cNvSpPr txBox="1">
              <a:spLocks noChangeArrowheads="1"/>
            </p:cNvSpPr>
            <p:nvPr/>
          </p:nvSpPr>
          <p:spPr bwMode="auto">
            <a:xfrm>
              <a:off x="2762319" y="4916160"/>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7" name="Group 6">
            <a:extLst>
              <a:ext uri="{FF2B5EF4-FFF2-40B4-BE49-F238E27FC236}">
                <a16:creationId xmlns:a16="http://schemas.microsoft.com/office/drawing/2014/main" id="{9218D318-345A-1343-9E16-E2157D9EC9CA}"/>
              </a:ext>
            </a:extLst>
          </p:cNvPr>
          <p:cNvGrpSpPr/>
          <p:nvPr/>
        </p:nvGrpSpPr>
        <p:grpSpPr>
          <a:xfrm>
            <a:off x="1638369" y="2347585"/>
            <a:ext cx="396875" cy="1751012"/>
            <a:chOff x="1638369" y="2347585"/>
            <a:chExt cx="396875" cy="1751012"/>
          </a:xfrm>
        </p:grpSpPr>
        <p:sp>
          <p:nvSpPr>
            <p:cNvPr id="184" name="Text Box 126">
              <a:extLst>
                <a:ext uri="{FF2B5EF4-FFF2-40B4-BE49-F238E27FC236}">
                  <a16:creationId xmlns:a16="http://schemas.microsoft.com/office/drawing/2014/main" id="{708F4626-9140-0E43-9D62-AA0567E12965}"/>
                </a:ext>
              </a:extLst>
            </p:cNvPr>
            <p:cNvSpPr txBox="1">
              <a:spLocks noChangeArrowheads="1"/>
            </p:cNvSpPr>
            <p:nvPr/>
          </p:nvSpPr>
          <p:spPr bwMode="auto">
            <a:xfrm rot="10800000">
              <a:off x="1638369" y="2890510"/>
              <a:ext cx="396875" cy="688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188" name="Group 134">
              <a:extLst>
                <a:ext uri="{FF2B5EF4-FFF2-40B4-BE49-F238E27FC236}">
                  <a16:creationId xmlns:a16="http://schemas.microsoft.com/office/drawing/2014/main" id="{A9BA4A8C-06E2-9D49-BA1F-308DB5A5179B}"/>
                </a:ext>
              </a:extLst>
            </p:cNvPr>
            <p:cNvGrpSpPr>
              <a:grpSpLocks/>
            </p:cNvGrpSpPr>
            <p:nvPr/>
          </p:nvGrpSpPr>
          <p:grpSpPr bwMode="auto">
            <a:xfrm>
              <a:off x="1779656" y="2347585"/>
              <a:ext cx="104775" cy="508000"/>
              <a:chOff x="3099" y="1749"/>
              <a:chExt cx="66" cy="320"/>
            </a:xfrm>
          </p:grpSpPr>
          <p:sp>
            <p:nvSpPr>
              <p:cNvPr id="189" name="Line 132">
                <a:extLst>
                  <a:ext uri="{FF2B5EF4-FFF2-40B4-BE49-F238E27FC236}">
                    <a16:creationId xmlns:a16="http://schemas.microsoft.com/office/drawing/2014/main" id="{9EFE05E8-2CD9-1641-9F8B-2FBC570F2364}"/>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0" name="Line 133">
                <a:extLst>
                  <a:ext uri="{FF2B5EF4-FFF2-40B4-BE49-F238E27FC236}">
                    <a16:creationId xmlns:a16="http://schemas.microsoft.com/office/drawing/2014/main" id="{65E827A8-0207-644E-85CB-90C7657D1F32}"/>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91" name="Group 135">
              <a:extLst>
                <a:ext uri="{FF2B5EF4-FFF2-40B4-BE49-F238E27FC236}">
                  <a16:creationId xmlns:a16="http://schemas.microsoft.com/office/drawing/2014/main" id="{0EF52FA7-3D6C-FA40-A158-75B80E576A89}"/>
                </a:ext>
              </a:extLst>
            </p:cNvPr>
            <p:cNvGrpSpPr>
              <a:grpSpLocks/>
            </p:cNvGrpSpPr>
            <p:nvPr/>
          </p:nvGrpSpPr>
          <p:grpSpPr bwMode="auto">
            <a:xfrm rot="10800000">
              <a:off x="1774894" y="3590597"/>
              <a:ext cx="104775" cy="508000"/>
              <a:chOff x="3099" y="1749"/>
              <a:chExt cx="66" cy="320"/>
            </a:xfrm>
          </p:grpSpPr>
          <p:sp>
            <p:nvSpPr>
              <p:cNvPr id="192" name="Line 136">
                <a:extLst>
                  <a:ext uri="{FF2B5EF4-FFF2-40B4-BE49-F238E27FC236}">
                    <a16:creationId xmlns:a16="http://schemas.microsoft.com/office/drawing/2014/main" id="{5229B570-0DC5-A34A-9912-9DC1EC3AF608}"/>
                  </a:ext>
                </a:extLst>
              </p:cNvPr>
              <p:cNvSpPr>
                <a:spLocks noChangeShapeType="1"/>
              </p:cNvSpPr>
              <p:nvPr/>
            </p:nvSpPr>
            <p:spPr bwMode="auto">
              <a:xfrm flipV="1">
                <a:off x="3136"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3" name="Line 137">
                <a:extLst>
                  <a:ext uri="{FF2B5EF4-FFF2-40B4-BE49-F238E27FC236}">
                    <a16:creationId xmlns:a16="http://schemas.microsoft.com/office/drawing/2014/main" id="{F842F667-D30F-4D4B-9510-3CA19042994E}"/>
                  </a:ext>
                </a:extLst>
              </p:cNvPr>
              <p:cNvSpPr>
                <a:spLocks noChangeShapeType="1"/>
              </p:cNvSpPr>
              <p:nvPr/>
            </p:nvSpPr>
            <p:spPr bwMode="auto">
              <a:xfrm>
                <a:off x="3106"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sp>
        <p:nvSpPr>
          <p:cNvPr id="194" name="Text Box 172">
            <a:extLst>
              <a:ext uri="{FF2B5EF4-FFF2-40B4-BE49-F238E27FC236}">
                <a16:creationId xmlns:a16="http://schemas.microsoft.com/office/drawing/2014/main" id="{5B3CEA4D-B0D0-D04E-ADE8-909B1EDA7441}"/>
              </a:ext>
            </a:extLst>
          </p:cNvPr>
          <p:cNvSpPr txBox="1">
            <a:spLocks noChangeArrowheads="1"/>
          </p:cNvSpPr>
          <p:nvPr/>
        </p:nvSpPr>
        <p:spPr bwMode="auto">
          <a:xfrm>
            <a:off x="7759116" y="5873422"/>
            <a:ext cx="2073275" cy="3667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premature timeout</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98" name="Text Box 177">
            <a:extLst>
              <a:ext uri="{FF2B5EF4-FFF2-40B4-BE49-F238E27FC236}">
                <a16:creationId xmlns:a16="http://schemas.microsoft.com/office/drawing/2014/main" id="{970D57D0-6509-F14E-A7FF-FFA09672DA95}"/>
              </a:ext>
            </a:extLst>
          </p:cNvPr>
          <p:cNvSpPr txBox="1">
            <a:spLocks noChangeArrowheads="1"/>
          </p:cNvSpPr>
          <p:nvPr/>
        </p:nvSpPr>
        <p:spPr bwMode="auto">
          <a:xfrm>
            <a:off x="9567278" y="1183947"/>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99" name="Text Box 181">
            <a:extLst>
              <a:ext uri="{FF2B5EF4-FFF2-40B4-BE49-F238E27FC236}">
                <a16:creationId xmlns:a16="http://schemas.microsoft.com/office/drawing/2014/main" id="{5C9181D9-76B4-1547-B4C6-C03AC2F11CD9}"/>
              </a:ext>
            </a:extLst>
          </p:cNvPr>
          <p:cNvSpPr txBox="1">
            <a:spLocks noChangeArrowheads="1"/>
          </p:cNvSpPr>
          <p:nvPr/>
        </p:nvSpPr>
        <p:spPr bwMode="auto">
          <a:xfrm>
            <a:off x="7233653" y="1201410"/>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205" name="Line 186">
            <a:extLst>
              <a:ext uri="{FF2B5EF4-FFF2-40B4-BE49-F238E27FC236}">
                <a16:creationId xmlns:a16="http://schemas.microsoft.com/office/drawing/2014/main" id="{DCFF6781-2E36-E241-A5F5-C0B04BC7CABB}"/>
              </a:ext>
            </a:extLst>
          </p:cNvPr>
          <p:cNvSpPr>
            <a:spLocks noChangeShapeType="1"/>
          </p:cNvSpPr>
          <p:nvPr/>
        </p:nvSpPr>
        <p:spPr bwMode="auto">
          <a:xfrm>
            <a:off x="7608303" y="2101522"/>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6" name="Line 187">
            <a:extLst>
              <a:ext uri="{FF2B5EF4-FFF2-40B4-BE49-F238E27FC236}">
                <a16:creationId xmlns:a16="http://schemas.microsoft.com/office/drawing/2014/main" id="{9C6DC5B3-2960-3047-BC8D-684B3D849A13}"/>
              </a:ext>
            </a:extLst>
          </p:cNvPr>
          <p:cNvSpPr>
            <a:spLocks noChangeShapeType="1"/>
          </p:cNvSpPr>
          <p:nvPr/>
        </p:nvSpPr>
        <p:spPr bwMode="auto">
          <a:xfrm>
            <a:off x="10013366" y="2096760"/>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7" name="Rectangle 188">
            <a:extLst>
              <a:ext uri="{FF2B5EF4-FFF2-40B4-BE49-F238E27FC236}">
                <a16:creationId xmlns:a16="http://schemas.microsoft.com/office/drawing/2014/main" id="{C15D63E4-15E1-BA4A-9606-42B07BDE7490}"/>
              </a:ext>
            </a:extLst>
          </p:cNvPr>
          <p:cNvSpPr>
            <a:spLocks noChangeArrowheads="1"/>
          </p:cNvSpPr>
          <p:nvPr/>
        </p:nvSpPr>
        <p:spPr bwMode="auto">
          <a:xfrm>
            <a:off x="8621128" y="4228772"/>
            <a:ext cx="1057275"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3" name="Group 12">
            <a:extLst>
              <a:ext uri="{FF2B5EF4-FFF2-40B4-BE49-F238E27FC236}">
                <a16:creationId xmlns:a16="http://schemas.microsoft.com/office/drawing/2014/main" id="{B716CABB-9429-2844-BE7D-347FDDC00473}"/>
              </a:ext>
            </a:extLst>
          </p:cNvPr>
          <p:cNvGrpSpPr/>
          <p:nvPr/>
        </p:nvGrpSpPr>
        <p:grpSpPr>
          <a:xfrm>
            <a:off x="7595603" y="4111297"/>
            <a:ext cx="2441575" cy="668338"/>
            <a:chOff x="7595603" y="4111297"/>
            <a:chExt cx="2441575" cy="668338"/>
          </a:xfrm>
        </p:grpSpPr>
        <p:sp>
          <p:nvSpPr>
            <p:cNvPr id="195" name="Line 173">
              <a:extLst>
                <a:ext uri="{FF2B5EF4-FFF2-40B4-BE49-F238E27FC236}">
                  <a16:creationId xmlns:a16="http://schemas.microsoft.com/office/drawing/2014/main" id="{3966F5D7-3131-A64E-88FC-C5DD67C3305E}"/>
                </a:ext>
              </a:extLst>
            </p:cNvPr>
            <p:cNvSpPr>
              <a:spLocks noChangeShapeType="1"/>
            </p:cNvSpPr>
            <p:nvPr/>
          </p:nvSpPr>
          <p:spPr bwMode="auto">
            <a:xfrm>
              <a:off x="7595603" y="4111297"/>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8" name="Text Box 189">
              <a:extLst>
                <a:ext uri="{FF2B5EF4-FFF2-40B4-BE49-F238E27FC236}">
                  <a16:creationId xmlns:a16="http://schemas.microsoft.com/office/drawing/2014/main" id="{3EE494A8-6A2C-9F45-AA30-D5C659A717EE}"/>
                </a:ext>
              </a:extLst>
            </p:cNvPr>
            <p:cNvSpPr txBox="1">
              <a:spLocks noChangeArrowheads="1"/>
            </p:cNvSpPr>
            <p:nvPr/>
          </p:nvSpPr>
          <p:spPr bwMode="auto">
            <a:xfrm>
              <a:off x="8541753" y="4262110"/>
              <a:ext cx="1212850" cy="5175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bytes of data</a:t>
              </a:r>
            </a:p>
          </p:txBody>
        </p:sp>
      </p:grpSp>
      <p:sp>
        <p:nvSpPr>
          <p:cNvPr id="211" name="Rectangle 193">
            <a:extLst>
              <a:ext uri="{FF2B5EF4-FFF2-40B4-BE49-F238E27FC236}">
                <a16:creationId xmlns:a16="http://schemas.microsoft.com/office/drawing/2014/main" id="{1BAF70E7-D466-2441-88C5-22FFEB1CAF5E}"/>
              </a:ext>
            </a:extLst>
          </p:cNvPr>
          <p:cNvSpPr>
            <a:spLocks noChangeArrowheads="1"/>
          </p:cNvSpPr>
          <p:nvPr/>
        </p:nvSpPr>
        <p:spPr bwMode="auto">
          <a:xfrm>
            <a:off x="8460791" y="5071735"/>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5" name="Group 14">
            <a:extLst>
              <a:ext uri="{FF2B5EF4-FFF2-40B4-BE49-F238E27FC236}">
                <a16:creationId xmlns:a16="http://schemas.microsoft.com/office/drawing/2014/main" id="{9E6A0178-9B0F-8A48-942B-60D872AAAD83}"/>
              </a:ext>
            </a:extLst>
          </p:cNvPr>
          <p:cNvGrpSpPr/>
          <p:nvPr/>
        </p:nvGrpSpPr>
        <p:grpSpPr>
          <a:xfrm>
            <a:off x="7627353" y="4814560"/>
            <a:ext cx="2338388" cy="782637"/>
            <a:chOff x="7627353" y="4814560"/>
            <a:chExt cx="2338388" cy="782637"/>
          </a:xfrm>
        </p:grpSpPr>
        <p:sp>
          <p:nvSpPr>
            <p:cNvPr id="210" name="Line 192">
              <a:extLst>
                <a:ext uri="{FF2B5EF4-FFF2-40B4-BE49-F238E27FC236}">
                  <a16:creationId xmlns:a16="http://schemas.microsoft.com/office/drawing/2014/main" id="{3827C940-37F6-2042-821B-DC7FC5969C64}"/>
                </a:ext>
              </a:extLst>
            </p:cNvPr>
            <p:cNvSpPr>
              <a:spLocks noChangeShapeType="1"/>
            </p:cNvSpPr>
            <p:nvPr/>
          </p:nvSpPr>
          <p:spPr bwMode="auto">
            <a:xfrm flipH="1">
              <a:off x="7627353" y="4814560"/>
              <a:ext cx="2338388" cy="78263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2" name="Text Box 194">
              <a:extLst>
                <a:ext uri="{FF2B5EF4-FFF2-40B4-BE49-F238E27FC236}">
                  <a16:creationId xmlns:a16="http://schemas.microsoft.com/office/drawing/2014/main" id="{7D3D6198-BDB0-DC4C-B2A5-2DBD9359B868}"/>
                </a:ext>
              </a:extLst>
            </p:cNvPr>
            <p:cNvSpPr txBox="1">
              <a:spLocks noChangeArrowheads="1"/>
            </p:cNvSpPr>
            <p:nvPr/>
          </p:nvSpPr>
          <p:spPr bwMode="auto">
            <a:xfrm>
              <a:off x="8381416" y="5027285"/>
              <a:ext cx="94932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nvGrpSpPr>
          <p:cNvPr id="10" name="Group 9">
            <a:extLst>
              <a:ext uri="{FF2B5EF4-FFF2-40B4-BE49-F238E27FC236}">
                <a16:creationId xmlns:a16="http://schemas.microsoft.com/office/drawing/2014/main" id="{31CBCB81-D9E2-8D44-8B58-3A8203D0290F}"/>
              </a:ext>
            </a:extLst>
          </p:cNvPr>
          <p:cNvGrpSpPr/>
          <p:nvPr/>
        </p:nvGrpSpPr>
        <p:grpSpPr>
          <a:xfrm>
            <a:off x="7235241" y="2347585"/>
            <a:ext cx="396875" cy="1751012"/>
            <a:chOff x="7235241" y="2347585"/>
            <a:chExt cx="396875" cy="1751012"/>
          </a:xfrm>
        </p:grpSpPr>
        <p:sp>
          <p:nvSpPr>
            <p:cNvPr id="209" name="Text Box 191">
              <a:extLst>
                <a:ext uri="{FF2B5EF4-FFF2-40B4-BE49-F238E27FC236}">
                  <a16:creationId xmlns:a16="http://schemas.microsoft.com/office/drawing/2014/main" id="{D65DE059-0ADE-BA43-86FA-261D968382D9}"/>
                </a:ext>
              </a:extLst>
            </p:cNvPr>
            <p:cNvSpPr txBox="1">
              <a:spLocks noChangeArrowheads="1"/>
            </p:cNvSpPr>
            <p:nvPr/>
          </p:nvSpPr>
          <p:spPr bwMode="auto">
            <a:xfrm rot="10800000">
              <a:off x="7235241" y="2890510"/>
              <a:ext cx="396875" cy="6889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213" name="Group 195">
              <a:extLst>
                <a:ext uri="{FF2B5EF4-FFF2-40B4-BE49-F238E27FC236}">
                  <a16:creationId xmlns:a16="http://schemas.microsoft.com/office/drawing/2014/main" id="{FD63DE3D-F3EB-7747-87C5-F31E049B82E4}"/>
                </a:ext>
              </a:extLst>
            </p:cNvPr>
            <p:cNvGrpSpPr>
              <a:grpSpLocks/>
            </p:cNvGrpSpPr>
            <p:nvPr/>
          </p:nvGrpSpPr>
          <p:grpSpPr bwMode="auto">
            <a:xfrm>
              <a:off x="7376528" y="2347585"/>
              <a:ext cx="104775" cy="508000"/>
              <a:chOff x="3099" y="1749"/>
              <a:chExt cx="66" cy="320"/>
            </a:xfrm>
          </p:grpSpPr>
          <p:sp>
            <p:nvSpPr>
              <p:cNvPr id="214" name="Line 196">
                <a:extLst>
                  <a:ext uri="{FF2B5EF4-FFF2-40B4-BE49-F238E27FC236}">
                    <a16:creationId xmlns:a16="http://schemas.microsoft.com/office/drawing/2014/main" id="{F7116EE1-F7FA-8E4C-BC16-6BA1240EF8FC}"/>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5" name="Line 197">
                <a:extLst>
                  <a:ext uri="{FF2B5EF4-FFF2-40B4-BE49-F238E27FC236}">
                    <a16:creationId xmlns:a16="http://schemas.microsoft.com/office/drawing/2014/main" id="{057CB57E-4B2F-8C47-97F5-D0924F70DC97}"/>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216" name="Group 198">
              <a:extLst>
                <a:ext uri="{FF2B5EF4-FFF2-40B4-BE49-F238E27FC236}">
                  <a16:creationId xmlns:a16="http://schemas.microsoft.com/office/drawing/2014/main" id="{2E37771D-0A96-C34C-9C6B-504E80416ADC}"/>
                </a:ext>
              </a:extLst>
            </p:cNvPr>
            <p:cNvGrpSpPr>
              <a:grpSpLocks/>
            </p:cNvGrpSpPr>
            <p:nvPr/>
          </p:nvGrpSpPr>
          <p:grpSpPr bwMode="auto">
            <a:xfrm rot="10800000">
              <a:off x="7371766" y="3590597"/>
              <a:ext cx="104775" cy="508000"/>
              <a:chOff x="3099" y="1749"/>
              <a:chExt cx="66" cy="320"/>
            </a:xfrm>
          </p:grpSpPr>
          <p:sp>
            <p:nvSpPr>
              <p:cNvPr id="217" name="Line 199">
                <a:extLst>
                  <a:ext uri="{FF2B5EF4-FFF2-40B4-BE49-F238E27FC236}">
                    <a16:creationId xmlns:a16="http://schemas.microsoft.com/office/drawing/2014/main" id="{8E20D991-E195-FF4D-88F7-684DF42E9E14}"/>
                  </a:ext>
                </a:extLst>
              </p:cNvPr>
              <p:cNvSpPr>
                <a:spLocks noChangeShapeType="1"/>
              </p:cNvSpPr>
              <p:nvPr/>
            </p:nvSpPr>
            <p:spPr bwMode="auto">
              <a:xfrm flipV="1">
                <a:off x="3137" y="1756"/>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18" name="Line 200">
                <a:extLst>
                  <a:ext uri="{FF2B5EF4-FFF2-40B4-BE49-F238E27FC236}">
                    <a16:creationId xmlns:a16="http://schemas.microsoft.com/office/drawing/2014/main" id="{22C60B84-78BE-7345-BBC2-2490BC4DEFD3}"/>
                  </a:ext>
                </a:extLst>
              </p:cNvPr>
              <p:cNvSpPr>
                <a:spLocks noChangeShapeType="1"/>
              </p:cNvSpPr>
              <p:nvPr/>
            </p:nvSpPr>
            <p:spPr bwMode="auto">
              <a:xfrm>
                <a:off x="3107" y="1759"/>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12" name="Group 11">
            <a:extLst>
              <a:ext uri="{FF2B5EF4-FFF2-40B4-BE49-F238E27FC236}">
                <a16:creationId xmlns:a16="http://schemas.microsoft.com/office/drawing/2014/main" id="{A4259714-F109-3243-BC51-888D64DBCE91}"/>
              </a:ext>
            </a:extLst>
          </p:cNvPr>
          <p:cNvGrpSpPr/>
          <p:nvPr/>
        </p:nvGrpSpPr>
        <p:grpSpPr>
          <a:xfrm>
            <a:off x="7603541" y="3004810"/>
            <a:ext cx="2339975" cy="1944687"/>
            <a:chOff x="7603541" y="3004810"/>
            <a:chExt cx="2339975" cy="1944687"/>
          </a:xfrm>
        </p:grpSpPr>
        <p:sp>
          <p:nvSpPr>
            <p:cNvPr id="197" name="Line 175">
              <a:extLst>
                <a:ext uri="{FF2B5EF4-FFF2-40B4-BE49-F238E27FC236}">
                  <a16:creationId xmlns:a16="http://schemas.microsoft.com/office/drawing/2014/main" id="{C6151221-64CD-0A4D-8DCC-7243A0014631}"/>
                </a:ext>
              </a:extLst>
            </p:cNvPr>
            <p:cNvSpPr>
              <a:spLocks noChangeShapeType="1"/>
            </p:cNvSpPr>
            <p:nvPr/>
          </p:nvSpPr>
          <p:spPr bwMode="auto">
            <a:xfrm flipH="1">
              <a:off x="7603541" y="3004810"/>
              <a:ext cx="2335212"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02" name="Group 202">
              <a:extLst>
                <a:ext uri="{FF2B5EF4-FFF2-40B4-BE49-F238E27FC236}">
                  <a16:creationId xmlns:a16="http://schemas.microsoft.com/office/drawing/2014/main" id="{D30CD59C-C944-CF4F-B17A-64886A573C0F}"/>
                </a:ext>
              </a:extLst>
            </p:cNvPr>
            <p:cNvGrpSpPr>
              <a:grpSpLocks/>
            </p:cNvGrpSpPr>
            <p:nvPr/>
          </p:nvGrpSpPr>
          <p:grpSpPr bwMode="auto">
            <a:xfrm>
              <a:off x="8505241" y="3496935"/>
              <a:ext cx="949325" cy="304800"/>
              <a:chOff x="4215" y="2253"/>
              <a:chExt cx="598" cy="192"/>
            </a:xfrm>
          </p:grpSpPr>
          <p:sp>
            <p:nvSpPr>
              <p:cNvPr id="203" name="Rectangle 184">
                <a:extLst>
                  <a:ext uri="{FF2B5EF4-FFF2-40B4-BE49-F238E27FC236}">
                    <a16:creationId xmlns:a16="http://schemas.microsoft.com/office/drawing/2014/main" id="{38FC2E88-8043-CE4C-A502-AFA317824443}"/>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4" name="Text Box 185">
                <a:extLst>
                  <a:ext uri="{FF2B5EF4-FFF2-40B4-BE49-F238E27FC236}">
                    <a16:creationId xmlns:a16="http://schemas.microsoft.com/office/drawing/2014/main" id="{7BF7DF1E-2F02-9D41-B7BC-991A51E982F6}"/>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223" name="Line 207">
              <a:extLst>
                <a:ext uri="{FF2B5EF4-FFF2-40B4-BE49-F238E27FC236}">
                  <a16:creationId xmlns:a16="http://schemas.microsoft.com/office/drawing/2014/main" id="{00ED8980-6CB4-9148-B161-8172F2430A06}"/>
                </a:ext>
              </a:extLst>
            </p:cNvPr>
            <p:cNvSpPr>
              <a:spLocks noChangeShapeType="1"/>
            </p:cNvSpPr>
            <p:nvPr/>
          </p:nvSpPr>
          <p:spPr bwMode="auto">
            <a:xfrm flipH="1">
              <a:off x="7608303" y="3360410"/>
              <a:ext cx="2335213" cy="1589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224" name="Group 208">
              <a:extLst>
                <a:ext uri="{FF2B5EF4-FFF2-40B4-BE49-F238E27FC236}">
                  <a16:creationId xmlns:a16="http://schemas.microsoft.com/office/drawing/2014/main" id="{6EE49A40-BE68-654E-AAC3-24E6E2BB625A}"/>
                </a:ext>
              </a:extLst>
            </p:cNvPr>
            <p:cNvGrpSpPr>
              <a:grpSpLocks/>
            </p:cNvGrpSpPr>
            <p:nvPr/>
          </p:nvGrpSpPr>
          <p:grpSpPr bwMode="auto">
            <a:xfrm>
              <a:off x="8744953" y="3773160"/>
              <a:ext cx="949325" cy="304800"/>
              <a:chOff x="4215" y="2253"/>
              <a:chExt cx="598" cy="192"/>
            </a:xfrm>
          </p:grpSpPr>
          <p:sp>
            <p:nvSpPr>
              <p:cNvPr id="225" name="Rectangle 209">
                <a:extLst>
                  <a:ext uri="{FF2B5EF4-FFF2-40B4-BE49-F238E27FC236}">
                    <a16:creationId xmlns:a16="http://schemas.microsoft.com/office/drawing/2014/main" id="{25CA1210-B468-0040-9898-13C2587BDB0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6" name="Text Box 210">
                <a:extLst>
                  <a:ext uri="{FF2B5EF4-FFF2-40B4-BE49-F238E27FC236}">
                    <a16:creationId xmlns:a16="http://schemas.microsoft.com/office/drawing/2014/main" id="{8918B79C-3FE7-FC4C-B606-5C7CA33715A9}"/>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14" name="Group 13">
            <a:extLst>
              <a:ext uri="{FF2B5EF4-FFF2-40B4-BE49-F238E27FC236}">
                <a16:creationId xmlns:a16="http://schemas.microsoft.com/office/drawing/2014/main" id="{CD914285-EBDF-1947-9C97-6E8CD760020F}"/>
              </a:ext>
            </a:extLst>
          </p:cNvPr>
          <p:cNvGrpSpPr/>
          <p:nvPr/>
        </p:nvGrpSpPr>
        <p:grpSpPr>
          <a:xfrm>
            <a:off x="6241466" y="4416097"/>
            <a:ext cx="1382712" cy="646113"/>
            <a:chOff x="6241466" y="4416097"/>
            <a:chExt cx="1382712" cy="646113"/>
          </a:xfrm>
        </p:grpSpPr>
        <p:sp>
          <p:nvSpPr>
            <p:cNvPr id="227" name="Text Box 211">
              <a:extLst>
                <a:ext uri="{FF2B5EF4-FFF2-40B4-BE49-F238E27FC236}">
                  <a16:creationId xmlns:a16="http://schemas.microsoft.com/office/drawing/2014/main" id="{1E82E105-7918-0E47-A934-825752F52D6B}"/>
                </a:ext>
              </a:extLst>
            </p:cNvPr>
            <p:cNvSpPr txBox="1">
              <a:spLocks noChangeArrowheads="1"/>
            </p:cNvSpPr>
            <p:nvPr/>
          </p:nvSpPr>
          <p:spPr bwMode="auto">
            <a:xfrm>
              <a:off x="6241466" y="4416097"/>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SendBase=100</a:t>
              </a:r>
            </a:p>
          </p:txBody>
        </p:sp>
        <p:sp>
          <p:nvSpPr>
            <p:cNvPr id="228" name="Text Box 212">
              <a:extLst>
                <a:ext uri="{FF2B5EF4-FFF2-40B4-BE49-F238E27FC236}">
                  <a16:creationId xmlns:a16="http://schemas.microsoft.com/office/drawing/2014/main" id="{387E9E87-069A-FA4A-9F20-9DB5B471A427}"/>
                </a:ext>
              </a:extLst>
            </p:cNvPr>
            <p:cNvSpPr txBox="1">
              <a:spLocks noChangeArrowheads="1"/>
            </p:cNvSpPr>
            <p:nvPr/>
          </p:nvSpPr>
          <p:spPr bwMode="auto">
            <a:xfrm>
              <a:off x="6260516" y="4757410"/>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sp>
        <p:nvSpPr>
          <p:cNvPr id="229" name="Text Box 213">
            <a:extLst>
              <a:ext uri="{FF2B5EF4-FFF2-40B4-BE49-F238E27FC236}">
                <a16:creationId xmlns:a16="http://schemas.microsoft.com/office/drawing/2014/main" id="{31AD8D03-5F21-0F49-8D71-B6031900CD41}"/>
              </a:ext>
            </a:extLst>
          </p:cNvPr>
          <p:cNvSpPr txBox="1">
            <a:spLocks noChangeArrowheads="1"/>
          </p:cNvSpPr>
          <p:nvPr/>
        </p:nvSpPr>
        <p:spPr bwMode="auto">
          <a:xfrm>
            <a:off x="6279566" y="5432097"/>
            <a:ext cx="1363662"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SendBase=120</a:t>
            </a:r>
          </a:p>
        </p:txBody>
      </p:sp>
      <p:grpSp>
        <p:nvGrpSpPr>
          <p:cNvPr id="11" name="Group 10">
            <a:extLst>
              <a:ext uri="{FF2B5EF4-FFF2-40B4-BE49-F238E27FC236}">
                <a16:creationId xmlns:a16="http://schemas.microsoft.com/office/drawing/2014/main" id="{5474E6BB-CCA6-CC47-8617-346673F363BD}"/>
              </a:ext>
            </a:extLst>
          </p:cNvPr>
          <p:cNvGrpSpPr/>
          <p:nvPr/>
        </p:nvGrpSpPr>
        <p:grpSpPr>
          <a:xfrm>
            <a:off x="6306553" y="2187247"/>
            <a:ext cx="3668713" cy="1112838"/>
            <a:chOff x="6306553" y="2187247"/>
            <a:chExt cx="3668713" cy="1112838"/>
          </a:xfrm>
        </p:grpSpPr>
        <p:sp>
          <p:nvSpPr>
            <p:cNvPr id="196" name="Line 174">
              <a:extLst>
                <a:ext uri="{FF2B5EF4-FFF2-40B4-BE49-F238E27FC236}">
                  <a16:creationId xmlns:a16="http://schemas.microsoft.com/office/drawing/2014/main" id="{FF81BD19-4683-8144-8837-5193B3691D8F}"/>
                </a:ext>
              </a:extLst>
            </p:cNvPr>
            <p:cNvSpPr>
              <a:spLocks noChangeShapeType="1"/>
            </p:cNvSpPr>
            <p:nvPr/>
          </p:nvSpPr>
          <p:spPr bwMode="auto">
            <a:xfrm>
              <a:off x="7628941" y="2342822"/>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0" name="Rectangle 182">
              <a:extLst>
                <a:ext uri="{FF2B5EF4-FFF2-40B4-BE49-F238E27FC236}">
                  <a16:creationId xmlns:a16="http://schemas.microsoft.com/office/drawing/2014/main" id="{C74BFDE4-D3AE-5C4E-B670-449D49B67C22}"/>
                </a:ext>
              </a:extLst>
            </p:cNvPr>
            <p:cNvSpPr>
              <a:spLocks noChangeArrowheads="1"/>
            </p:cNvSpPr>
            <p:nvPr/>
          </p:nvSpPr>
          <p:spPr bwMode="auto">
            <a:xfrm>
              <a:off x="8332203" y="2423785"/>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01" name="Text Box 183">
              <a:extLst>
                <a:ext uri="{FF2B5EF4-FFF2-40B4-BE49-F238E27FC236}">
                  <a16:creationId xmlns:a16="http://schemas.microsoft.com/office/drawing/2014/main" id="{B8140015-E345-EE4A-90B6-3552DAC43E5C}"/>
                </a:ext>
              </a:extLst>
            </p:cNvPr>
            <p:cNvSpPr txBox="1">
              <a:spLocks noChangeArrowheads="1"/>
            </p:cNvSpPr>
            <p:nvPr/>
          </p:nvSpPr>
          <p:spPr bwMode="auto">
            <a:xfrm>
              <a:off x="7773403" y="2476172"/>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grpSp>
          <p:nvGrpSpPr>
            <p:cNvPr id="219" name="Group 206">
              <a:extLst>
                <a:ext uri="{FF2B5EF4-FFF2-40B4-BE49-F238E27FC236}">
                  <a16:creationId xmlns:a16="http://schemas.microsoft.com/office/drawing/2014/main" id="{C3DB656C-371F-854E-81A2-904083BC4AF6}"/>
                </a:ext>
              </a:extLst>
            </p:cNvPr>
            <p:cNvGrpSpPr>
              <a:grpSpLocks/>
            </p:cNvGrpSpPr>
            <p:nvPr/>
          </p:nvGrpSpPr>
          <p:grpSpPr bwMode="auto">
            <a:xfrm>
              <a:off x="7614653" y="2728585"/>
              <a:ext cx="2346325" cy="571500"/>
              <a:chOff x="3759" y="1622"/>
              <a:chExt cx="1478" cy="360"/>
            </a:xfrm>
          </p:grpSpPr>
          <p:sp>
            <p:nvSpPr>
              <p:cNvPr id="220" name="Line 203">
                <a:extLst>
                  <a:ext uri="{FF2B5EF4-FFF2-40B4-BE49-F238E27FC236}">
                    <a16:creationId xmlns:a16="http://schemas.microsoft.com/office/drawing/2014/main" id="{90E12E5A-5437-8944-A28F-2F13C852A4D2}"/>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1" name="Rectangle 204">
                <a:extLst>
                  <a:ext uri="{FF2B5EF4-FFF2-40B4-BE49-F238E27FC236}">
                    <a16:creationId xmlns:a16="http://schemas.microsoft.com/office/drawing/2014/main" id="{7550E74D-2DAE-BC48-88DC-FF5E0936D8AA}"/>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222" name="Text Box 205">
                <a:extLst>
                  <a:ext uri="{FF2B5EF4-FFF2-40B4-BE49-F238E27FC236}">
                    <a16:creationId xmlns:a16="http://schemas.microsoft.com/office/drawing/2014/main" id="{1863CB88-8ADD-294C-BE46-8D80EEB9E9FE}"/>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sp>
          <p:nvSpPr>
            <p:cNvPr id="230" name="Text Box 214">
              <a:extLst>
                <a:ext uri="{FF2B5EF4-FFF2-40B4-BE49-F238E27FC236}">
                  <a16:creationId xmlns:a16="http://schemas.microsoft.com/office/drawing/2014/main" id="{8333BF3A-4F52-4F44-921F-4BAD57A4119A}"/>
                </a:ext>
              </a:extLst>
            </p:cNvPr>
            <p:cNvSpPr txBox="1">
              <a:spLocks noChangeArrowheads="1"/>
            </p:cNvSpPr>
            <p:nvPr/>
          </p:nvSpPr>
          <p:spPr bwMode="auto">
            <a:xfrm>
              <a:off x="6306553" y="2187247"/>
              <a:ext cx="1266825" cy="3048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SendBase=92</a:t>
              </a:r>
            </a:p>
          </p:txBody>
        </p:sp>
      </p:grpSp>
      <p:grpSp>
        <p:nvGrpSpPr>
          <p:cNvPr id="231" name="Group 219">
            <a:extLst>
              <a:ext uri="{FF2B5EF4-FFF2-40B4-BE49-F238E27FC236}">
                <a16:creationId xmlns:a16="http://schemas.microsoft.com/office/drawing/2014/main" id="{2259D372-4B08-6D4E-A450-9719B81C5E51}"/>
              </a:ext>
            </a:extLst>
          </p:cNvPr>
          <p:cNvGrpSpPr>
            <a:grpSpLocks/>
          </p:cNvGrpSpPr>
          <p:nvPr/>
        </p:nvGrpSpPr>
        <p:grpSpPr bwMode="auto">
          <a:xfrm>
            <a:off x="7186028" y="1463347"/>
            <a:ext cx="630238" cy="533400"/>
            <a:chOff x="-44" y="1473"/>
            <a:chExt cx="981" cy="1105"/>
          </a:xfrm>
        </p:grpSpPr>
        <p:pic>
          <p:nvPicPr>
            <p:cNvPr id="232" name="Picture 220" descr="desktop_computer_stylized_medium">
              <a:extLst>
                <a:ext uri="{FF2B5EF4-FFF2-40B4-BE49-F238E27FC236}">
                  <a16:creationId xmlns:a16="http://schemas.microsoft.com/office/drawing/2014/main" id="{2D27C27D-9556-884F-AE7C-167179E6E0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3" name="Freeform 221">
              <a:extLst>
                <a:ext uri="{FF2B5EF4-FFF2-40B4-BE49-F238E27FC236}">
                  <a16:creationId xmlns:a16="http://schemas.microsoft.com/office/drawing/2014/main" id="{7E825289-4A0B-4346-8F90-2D5646E5B4C9}"/>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4" name="Group 225">
            <a:extLst>
              <a:ext uri="{FF2B5EF4-FFF2-40B4-BE49-F238E27FC236}">
                <a16:creationId xmlns:a16="http://schemas.microsoft.com/office/drawing/2014/main" id="{E20B8076-92C2-A04F-B618-A3527994FF6A}"/>
              </a:ext>
            </a:extLst>
          </p:cNvPr>
          <p:cNvGrpSpPr>
            <a:grpSpLocks/>
          </p:cNvGrpSpPr>
          <p:nvPr/>
        </p:nvGrpSpPr>
        <p:grpSpPr bwMode="auto">
          <a:xfrm flipH="1">
            <a:off x="9753016" y="1469697"/>
            <a:ext cx="631825" cy="622300"/>
            <a:chOff x="-44" y="1473"/>
            <a:chExt cx="981" cy="1105"/>
          </a:xfrm>
        </p:grpSpPr>
        <p:pic>
          <p:nvPicPr>
            <p:cNvPr id="235" name="Picture 226" descr="desktop_computer_stylized_medium">
              <a:extLst>
                <a:ext uri="{FF2B5EF4-FFF2-40B4-BE49-F238E27FC236}">
                  <a16:creationId xmlns:a16="http://schemas.microsoft.com/office/drawing/2014/main" id="{892509C8-70E3-9344-BECE-67F22233D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 name="Freeform 227">
              <a:extLst>
                <a:ext uri="{FF2B5EF4-FFF2-40B4-BE49-F238E27FC236}">
                  <a16:creationId xmlns:a16="http://schemas.microsoft.com/office/drawing/2014/main" id="{36FE986B-8994-0941-B989-B811ADDEEE34}"/>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37" name="Group 228">
            <a:extLst>
              <a:ext uri="{FF2B5EF4-FFF2-40B4-BE49-F238E27FC236}">
                <a16:creationId xmlns:a16="http://schemas.microsoft.com/office/drawing/2014/main" id="{F8939732-2442-144E-A5BB-23D63EE09D71}"/>
              </a:ext>
            </a:extLst>
          </p:cNvPr>
          <p:cNvGrpSpPr>
            <a:grpSpLocks/>
          </p:cNvGrpSpPr>
          <p:nvPr/>
        </p:nvGrpSpPr>
        <p:grpSpPr bwMode="auto">
          <a:xfrm>
            <a:off x="1601856" y="1474460"/>
            <a:ext cx="630238" cy="533400"/>
            <a:chOff x="-44" y="1473"/>
            <a:chExt cx="981" cy="1105"/>
          </a:xfrm>
        </p:grpSpPr>
        <p:pic>
          <p:nvPicPr>
            <p:cNvPr id="238" name="Picture 229" descr="desktop_computer_stylized_medium">
              <a:extLst>
                <a:ext uri="{FF2B5EF4-FFF2-40B4-BE49-F238E27FC236}">
                  <a16:creationId xmlns:a16="http://schemas.microsoft.com/office/drawing/2014/main" id="{D7F5765B-05B0-5245-99DA-1820CD6FB8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 name="Freeform 230">
              <a:extLst>
                <a:ext uri="{FF2B5EF4-FFF2-40B4-BE49-F238E27FC236}">
                  <a16:creationId xmlns:a16="http://schemas.microsoft.com/office/drawing/2014/main" id="{D897DE15-A97F-F848-8C0A-B28F47B33231}"/>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240" name="Group 231">
            <a:extLst>
              <a:ext uri="{FF2B5EF4-FFF2-40B4-BE49-F238E27FC236}">
                <a16:creationId xmlns:a16="http://schemas.microsoft.com/office/drawing/2014/main" id="{E145A84A-1570-9C46-A817-B68A25E966D9}"/>
              </a:ext>
            </a:extLst>
          </p:cNvPr>
          <p:cNvGrpSpPr>
            <a:grpSpLocks/>
          </p:cNvGrpSpPr>
          <p:nvPr/>
        </p:nvGrpSpPr>
        <p:grpSpPr bwMode="auto">
          <a:xfrm flipH="1">
            <a:off x="4179956" y="1458585"/>
            <a:ext cx="709613" cy="600075"/>
            <a:chOff x="-44" y="1473"/>
            <a:chExt cx="981" cy="1105"/>
          </a:xfrm>
        </p:grpSpPr>
        <p:pic>
          <p:nvPicPr>
            <p:cNvPr id="241" name="Picture 232" descr="desktop_computer_stylized_medium">
              <a:extLst>
                <a:ext uri="{FF2B5EF4-FFF2-40B4-BE49-F238E27FC236}">
                  <a16:creationId xmlns:a16="http://schemas.microsoft.com/office/drawing/2014/main" id="{332C004D-ED3A-7348-8EC0-DF65AFEC6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 name="Freeform 233">
              <a:extLst>
                <a:ext uri="{FF2B5EF4-FFF2-40B4-BE49-F238E27FC236}">
                  <a16:creationId xmlns:a16="http://schemas.microsoft.com/office/drawing/2014/main" id="{A74C9FB1-2D29-F14B-8569-8E203840CFB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
        <p:nvSpPr>
          <p:cNvPr id="19" name="TextBox 18">
            <a:extLst>
              <a:ext uri="{FF2B5EF4-FFF2-40B4-BE49-F238E27FC236}">
                <a16:creationId xmlns:a16="http://schemas.microsoft.com/office/drawing/2014/main" id="{8C70D25B-261A-724E-991C-E91D345300FB}"/>
              </a:ext>
            </a:extLst>
          </p:cNvPr>
          <p:cNvSpPr txBox="1"/>
          <p:nvPr/>
        </p:nvSpPr>
        <p:spPr>
          <a:xfrm>
            <a:off x="9973410" y="4508500"/>
            <a:ext cx="2163926" cy="701731"/>
          </a:xfrm>
          <a:prstGeom prst="rect">
            <a:avLst/>
          </a:prstGeom>
          <a:noFill/>
        </p:spPr>
        <p:txBody>
          <a:bodyPr wrap="none" rtlCol="0">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00000"/>
                </a:solidFill>
                <a:effectLst/>
                <a:uLnTx/>
                <a:uFillTx/>
                <a:latin typeface="Calibri"/>
                <a:ea typeface="+mn-ea"/>
                <a:cs typeface="+mn-cs"/>
              </a:rPr>
              <a:t>send cumulative </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C00000"/>
                </a:solidFill>
                <a:effectLst/>
                <a:uLnTx/>
                <a:uFillTx/>
                <a:latin typeface="Calibri"/>
                <a:ea typeface="+mn-ea"/>
                <a:cs typeface="+mn-cs"/>
              </a:rPr>
              <a:t>ACK for 120</a:t>
            </a:r>
          </a:p>
        </p:txBody>
      </p:sp>
    </p:spTree>
    <p:extLst>
      <p:ext uri="{BB962C8B-B14F-4D97-AF65-F5344CB8AC3E}">
        <p14:creationId xmlns:p14="http://schemas.microsoft.com/office/powerpoint/2010/main" val="423881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right)">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dissolve">
                                      <p:cBhvr>
                                        <p:cTn id="16" dur="500"/>
                                        <p:tgtEl>
                                          <p:spTgt spid="7"/>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childTnLst>
                          </p:cTn>
                        </p:par>
                        <p:par>
                          <p:cTn id="21" fill="hold">
                            <p:stCondLst>
                              <p:cond delay="1000"/>
                            </p:stCondLst>
                            <p:childTnLst>
                              <p:par>
                                <p:cTn id="22" presetID="22" presetClass="entr" presetSubtype="2"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right)">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left)">
                                      <p:cBhvr>
                                        <p:cTn id="29" dur="500"/>
                                        <p:tgtEl>
                                          <p:spTgt spid="11"/>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wipe(right)">
                                      <p:cBhvr>
                                        <p:cTn id="33" dur="500"/>
                                        <p:tgtEl>
                                          <p:spTgt spid="12"/>
                                        </p:tgtEl>
                                      </p:cBhvr>
                                    </p:animEffect>
                                  </p:childTnLst>
                                </p:cTn>
                              </p:par>
                            </p:childTnLst>
                          </p:cTn>
                        </p:par>
                        <p:par>
                          <p:cTn id="34" fill="hold">
                            <p:stCondLst>
                              <p:cond delay="1000"/>
                            </p:stCondLst>
                            <p:childTnLst>
                              <p:par>
                                <p:cTn id="35" presetID="9" presetClass="entr" presetSubtype="0" fill="hold" nodeType="after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dissolv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wipe(left)">
                                      <p:cBhvr>
                                        <p:cTn id="46" dur="500"/>
                                        <p:tgtEl>
                                          <p:spTgt spid="13"/>
                                        </p:tgtEl>
                                      </p:cBhvr>
                                    </p:animEffect>
                                  </p:childTnLst>
                                </p:cTn>
                              </p:par>
                            </p:childTnLst>
                          </p:cTn>
                        </p:par>
                        <p:par>
                          <p:cTn id="47" fill="hold">
                            <p:stCondLst>
                              <p:cond delay="1000"/>
                            </p:stCondLst>
                            <p:childTnLst>
                              <p:par>
                                <p:cTn id="48" presetID="9" presetClass="entr" presetSubtype="0"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dissolve">
                                      <p:cBhvr>
                                        <p:cTn id="50" dur="500"/>
                                        <p:tgtEl>
                                          <p:spTgt spid="19"/>
                                        </p:tgtEl>
                                      </p:cBhvr>
                                    </p:animEffect>
                                  </p:childTnLst>
                                </p:cTn>
                              </p:par>
                            </p:childTnLst>
                          </p:cTn>
                        </p:par>
                        <p:par>
                          <p:cTn id="51" fill="hold">
                            <p:stCondLst>
                              <p:cond delay="1500"/>
                            </p:stCondLst>
                            <p:childTnLst>
                              <p:par>
                                <p:cTn id="52" presetID="22" presetClass="entr" presetSubtype="2" fill="hold"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wipe(right)">
                                      <p:cBhvr>
                                        <p:cTn id="54" dur="500"/>
                                        <p:tgtEl>
                                          <p:spTgt spid="15"/>
                                        </p:tgtEl>
                                      </p:cBhvr>
                                    </p:animEffect>
                                  </p:childTnLst>
                                </p:cTn>
                              </p:par>
                            </p:childTnLst>
                          </p:cTn>
                        </p:par>
                        <p:par>
                          <p:cTn id="55" fill="hold">
                            <p:stCondLst>
                              <p:cond delay="2000"/>
                            </p:stCondLst>
                            <p:childTnLst>
                              <p:par>
                                <p:cTn id="56" presetID="9" presetClass="entr" presetSubtype="0" fill="hold" grpId="0" nodeType="afterEffect">
                                  <p:stCondLst>
                                    <p:cond delay="0"/>
                                  </p:stCondLst>
                                  <p:childTnLst>
                                    <p:set>
                                      <p:cBhvr>
                                        <p:cTn id="57" dur="1" fill="hold">
                                          <p:stCondLst>
                                            <p:cond delay="0"/>
                                          </p:stCondLst>
                                        </p:cTn>
                                        <p:tgtEl>
                                          <p:spTgt spid="229"/>
                                        </p:tgtEl>
                                        <p:attrNameLst>
                                          <p:attrName>style.visibility</p:attrName>
                                        </p:attrNameLst>
                                      </p:cBhvr>
                                      <p:to>
                                        <p:strVal val="visible"/>
                                      </p:to>
                                    </p:set>
                                    <p:animEffect transition="in" filter="dissolve">
                                      <p:cBhvr>
                                        <p:cTn id="58" dur="5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P spid="1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Retransmission Scenarios</a:t>
            </a:r>
            <a:endParaRPr lang="en-US" sz="4400" b="0" dirty="0"/>
          </a:p>
        </p:txBody>
      </p:sp>
      <p:sp>
        <p:nvSpPr>
          <p:cNvPr id="119" name="Text Box 34">
            <a:extLst>
              <a:ext uri="{FF2B5EF4-FFF2-40B4-BE49-F238E27FC236}">
                <a16:creationId xmlns:a16="http://schemas.microsoft.com/office/drawing/2014/main" id="{ADFB94EB-2205-5C4D-A60C-0BE52074D9EF}"/>
              </a:ext>
            </a:extLst>
          </p:cNvPr>
          <p:cNvSpPr txBox="1">
            <a:spLocks noChangeArrowheads="1"/>
          </p:cNvSpPr>
          <p:nvPr/>
        </p:nvSpPr>
        <p:spPr bwMode="auto">
          <a:xfrm>
            <a:off x="1902139" y="5486400"/>
            <a:ext cx="2542862" cy="64633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0" cap="none" spc="0" normalizeH="0" baseline="0" noProof="0" dirty="0">
                <a:ln>
                  <a:noFill/>
                </a:ln>
                <a:solidFill>
                  <a:srgbClr val="000000"/>
                </a:solidFill>
                <a:effectLst/>
                <a:uLnTx/>
                <a:uFillTx/>
                <a:latin typeface="Tahoma" charset="0"/>
                <a:ea typeface="ＭＳ Ｐゴシック" charset="0"/>
                <a:cs typeface="+mn-cs"/>
              </a:rPr>
              <a:t>cumulative ACK covers for earlier lost ACK</a:t>
            </a:r>
            <a:endParaRPr kumimoji="0" lang="en-US" sz="10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1" name="Line 36">
            <a:extLst>
              <a:ext uri="{FF2B5EF4-FFF2-40B4-BE49-F238E27FC236}">
                <a16:creationId xmlns:a16="http://schemas.microsoft.com/office/drawing/2014/main" id="{CCBE06AD-8A86-F04F-8691-D7894B915278}"/>
              </a:ext>
            </a:extLst>
          </p:cNvPr>
          <p:cNvSpPr>
            <a:spLocks noChangeShapeType="1"/>
          </p:cNvSpPr>
          <p:nvPr/>
        </p:nvSpPr>
        <p:spPr bwMode="auto">
          <a:xfrm>
            <a:off x="2039800" y="2349049"/>
            <a:ext cx="2346325" cy="57150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3" name="Text Box 39">
            <a:extLst>
              <a:ext uri="{FF2B5EF4-FFF2-40B4-BE49-F238E27FC236}">
                <a16:creationId xmlns:a16="http://schemas.microsoft.com/office/drawing/2014/main" id="{97669ECF-79A1-4D41-8748-0027E9432529}"/>
              </a:ext>
            </a:extLst>
          </p:cNvPr>
          <p:cNvSpPr txBox="1">
            <a:spLocks noChangeArrowheads="1"/>
          </p:cNvSpPr>
          <p:nvPr/>
        </p:nvSpPr>
        <p:spPr bwMode="auto">
          <a:xfrm>
            <a:off x="3965437" y="1177474"/>
            <a:ext cx="773113"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124" name="Text Box 43">
            <a:extLst>
              <a:ext uri="{FF2B5EF4-FFF2-40B4-BE49-F238E27FC236}">
                <a16:creationId xmlns:a16="http://schemas.microsoft.com/office/drawing/2014/main" id="{0992C83B-4206-984D-AB17-6BDBF1D64593}"/>
              </a:ext>
            </a:extLst>
          </p:cNvPr>
          <p:cNvSpPr txBox="1">
            <a:spLocks noChangeArrowheads="1"/>
          </p:cNvSpPr>
          <p:nvPr/>
        </p:nvSpPr>
        <p:spPr bwMode="auto">
          <a:xfrm>
            <a:off x="1644512" y="1207637"/>
            <a:ext cx="776288" cy="33655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sp>
        <p:nvSpPr>
          <p:cNvPr id="125" name="Rectangle 44">
            <a:extLst>
              <a:ext uri="{FF2B5EF4-FFF2-40B4-BE49-F238E27FC236}">
                <a16:creationId xmlns:a16="http://schemas.microsoft.com/office/drawing/2014/main" id="{831F8853-027A-294B-AA6D-ACCABA945CDE}"/>
              </a:ext>
            </a:extLst>
          </p:cNvPr>
          <p:cNvSpPr>
            <a:spLocks noChangeArrowheads="1"/>
          </p:cNvSpPr>
          <p:nvPr/>
        </p:nvSpPr>
        <p:spPr bwMode="auto">
          <a:xfrm>
            <a:off x="2743062" y="2430012"/>
            <a:ext cx="869950" cy="40163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6" name="Text Box 45">
            <a:extLst>
              <a:ext uri="{FF2B5EF4-FFF2-40B4-BE49-F238E27FC236}">
                <a16:creationId xmlns:a16="http://schemas.microsoft.com/office/drawing/2014/main" id="{8D027E41-059B-A348-B661-6F2DD0666670}"/>
              </a:ext>
            </a:extLst>
          </p:cNvPr>
          <p:cNvSpPr txBox="1">
            <a:spLocks noChangeArrowheads="1"/>
          </p:cNvSpPr>
          <p:nvPr/>
        </p:nvSpPr>
        <p:spPr bwMode="auto">
          <a:xfrm>
            <a:off x="2184262" y="2482399"/>
            <a:ext cx="2085975"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130" name="Line 49">
            <a:extLst>
              <a:ext uri="{FF2B5EF4-FFF2-40B4-BE49-F238E27FC236}">
                <a16:creationId xmlns:a16="http://schemas.microsoft.com/office/drawing/2014/main" id="{7554A1BA-7B17-9947-9957-0D23896F869A}"/>
              </a:ext>
            </a:extLst>
          </p:cNvPr>
          <p:cNvSpPr>
            <a:spLocks noChangeShapeType="1"/>
          </p:cNvSpPr>
          <p:nvPr/>
        </p:nvSpPr>
        <p:spPr bwMode="auto">
          <a:xfrm>
            <a:off x="2019162" y="2107749"/>
            <a:ext cx="0" cy="3525838"/>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1" name="Line 50">
            <a:extLst>
              <a:ext uri="{FF2B5EF4-FFF2-40B4-BE49-F238E27FC236}">
                <a16:creationId xmlns:a16="http://schemas.microsoft.com/office/drawing/2014/main" id="{CBDA8AA8-732F-A344-BAE1-68752D7E6D4A}"/>
              </a:ext>
            </a:extLst>
          </p:cNvPr>
          <p:cNvSpPr>
            <a:spLocks noChangeShapeType="1"/>
          </p:cNvSpPr>
          <p:nvPr/>
        </p:nvSpPr>
        <p:spPr bwMode="auto">
          <a:xfrm>
            <a:off x="4424225" y="2102987"/>
            <a:ext cx="0" cy="3538537"/>
          </a:xfrm>
          <a:prstGeom prst="line">
            <a:avLst/>
          </a:prstGeom>
          <a:noFill/>
          <a:ln w="9525">
            <a:solidFill>
              <a:srgbClr val="808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5" name="Group 4">
            <a:extLst>
              <a:ext uri="{FF2B5EF4-FFF2-40B4-BE49-F238E27FC236}">
                <a16:creationId xmlns:a16="http://schemas.microsoft.com/office/drawing/2014/main" id="{15CBAF7E-F641-074E-A960-6453A9AD2BBF}"/>
              </a:ext>
            </a:extLst>
          </p:cNvPr>
          <p:cNvGrpSpPr/>
          <p:nvPr/>
        </p:nvGrpSpPr>
        <p:grpSpPr>
          <a:xfrm>
            <a:off x="2009637" y="4431849"/>
            <a:ext cx="2652713" cy="879475"/>
            <a:chOff x="2035037" y="4444549"/>
            <a:chExt cx="2652713" cy="879475"/>
          </a:xfrm>
        </p:grpSpPr>
        <p:sp>
          <p:nvSpPr>
            <p:cNvPr id="120" name="Line 35">
              <a:extLst>
                <a:ext uri="{FF2B5EF4-FFF2-40B4-BE49-F238E27FC236}">
                  <a16:creationId xmlns:a16="http://schemas.microsoft.com/office/drawing/2014/main" id="{2F729834-AA00-3F49-9DAA-5799D25FBE77}"/>
                </a:ext>
              </a:extLst>
            </p:cNvPr>
            <p:cNvSpPr>
              <a:spLocks noChangeShapeType="1"/>
            </p:cNvSpPr>
            <p:nvPr/>
          </p:nvSpPr>
          <p:spPr bwMode="auto">
            <a:xfrm>
              <a:off x="2063612" y="4444549"/>
              <a:ext cx="2441575" cy="665163"/>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2" name="Rectangle 51">
              <a:extLst>
                <a:ext uri="{FF2B5EF4-FFF2-40B4-BE49-F238E27FC236}">
                  <a16:creationId xmlns:a16="http://schemas.microsoft.com/office/drawing/2014/main" id="{5452ECDA-B3E0-374F-AC96-350658E75BBD}"/>
                </a:ext>
              </a:extLst>
            </p:cNvPr>
            <p:cNvSpPr>
              <a:spLocks noChangeArrowheads="1"/>
            </p:cNvSpPr>
            <p:nvPr/>
          </p:nvSpPr>
          <p:spPr bwMode="auto">
            <a:xfrm>
              <a:off x="2760525" y="4517574"/>
              <a:ext cx="933450" cy="50800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33" name="Text Box 52">
              <a:extLst>
                <a:ext uri="{FF2B5EF4-FFF2-40B4-BE49-F238E27FC236}">
                  <a16:creationId xmlns:a16="http://schemas.microsoft.com/office/drawing/2014/main" id="{CE55EEB5-1B37-394C-A536-E0960B386C84}"/>
                </a:ext>
              </a:extLst>
            </p:cNvPr>
            <p:cNvSpPr txBox="1">
              <a:spLocks noChangeArrowheads="1"/>
            </p:cNvSpPr>
            <p:nvPr/>
          </p:nvSpPr>
          <p:spPr bwMode="auto">
            <a:xfrm>
              <a:off x="2035037" y="4604887"/>
              <a:ext cx="2652713" cy="304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Seq=120,  15 bytes of data</a:t>
              </a:r>
            </a:p>
          </p:txBody>
        </p:sp>
        <p:sp>
          <p:nvSpPr>
            <p:cNvPr id="134" name="Rectangle 55">
              <a:extLst>
                <a:ext uri="{FF2B5EF4-FFF2-40B4-BE49-F238E27FC236}">
                  <a16:creationId xmlns:a16="http://schemas.microsoft.com/office/drawing/2014/main" id="{448E8CE2-468E-C147-BBB6-851B8973F0A4}"/>
                </a:ext>
              </a:extLst>
            </p:cNvPr>
            <p:cNvSpPr>
              <a:spLocks noChangeArrowheads="1"/>
            </p:cNvSpPr>
            <p:nvPr/>
          </p:nvSpPr>
          <p:spPr bwMode="auto">
            <a:xfrm>
              <a:off x="2871650" y="5077962"/>
              <a:ext cx="747712" cy="24606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143" name="Group 63">
            <a:extLst>
              <a:ext uri="{FF2B5EF4-FFF2-40B4-BE49-F238E27FC236}">
                <a16:creationId xmlns:a16="http://schemas.microsoft.com/office/drawing/2014/main" id="{C3C010AE-BE43-6F47-963B-D6CB3155D42B}"/>
              </a:ext>
            </a:extLst>
          </p:cNvPr>
          <p:cNvGrpSpPr>
            <a:grpSpLocks/>
          </p:cNvGrpSpPr>
          <p:nvPr/>
        </p:nvGrpSpPr>
        <p:grpSpPr bwMode="auto">
          <a:xfrm>
            <a:off x="2025512" y="2734812"/>
            <a:ext cx="2346325" cy="571500"/>
            <a:chOff x="3759" y="1622"/>
            <a:chExt cx="1478" cy="360"/>
          </a:xfrm>
        </p:grpSpPr>
        <p:sp>
          <p:nvSpPr>
            <p:cNvPr id="144" name="Line 64">
              <a:extLst>
                <a:ext uri="{FF2B5EF4-FFF2-40B4-BE49-F238E27FC236}">
                  <a16:creationId xmlns:a16="http://schemas.microsoft.com/office/drawing/2014/main" id="{1530CC4E-B289-DB44-8685-B440E2B60DE1}"/>
                </a:ext>
              </a:extLst>
            </p:cNvPr>
            <p:cNvSpPr>
              <a:spLocks noChangeShapeType="1"/>
            </p:cNvSpPr>
            <p:nvPr/>
          </p:nvSpPr>
          <p:spPr bwMode="auto">
            <a:xfrm>
              <a:off x="3759" y="1622"/>
              <a:ext cx="1478" cy="3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5" name="Rectangle 65">
              <a:extLst>
                <a:ext uri="{FF2B5EF4-FFF2-40B4-BE49-F238E27FC236}">
                  <a16:creationId xmlns:a16="http://schemas.microsoft.com/office/drawing/2014/main" id="{FE817F64-FB48-EB47-B984-31AC87976FF4}"/>
                </a:ext>
              </a:extLst>
            </p:cNvPr>
            <p:cNvSpPr>
              <a:spLocks noChangeArrowheads="1"/>
            </p:cNvSpPr>
            <p:nvPr/>
          </p:nvSpPr>
          <p:spPr bwMode="auto">
            <a:xfrm>
              <a:off x="4202" y="1673"/>
              <a:ext cx="548" cy="253"/>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46" name="Text Box 66">
              <a:extLst>
                <a:ext uri="{FF2B5EF4-FFF2-40B4-BE49-F238E27FC236}">
                  <a16:creationId xmlns:a16="http://schemas.microsoft.com/office/drawing/2014/main" id="{F1525CD3-6EAD-8B46-AE7B-D63A2D957330}"/>
                </a:ext>
              </a:extLst>
            </p:cNvPr>
            <p:cNvSpPr txBox="1">
              <a:spLocks noChangeArrowheads="1"/>
            </p:cNvSpPr>
            <p:nvPr/>
          </p:nvSpPr>
          <p:spPr bwMode="auto">
            <a:xfrm>
              <a:off x="3790" y="1706"/>
              <a:ext cx="1437"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4" name="Group 3">
            <a:extLst>
              <a:ext uri="{FF2B5EF4-FFF2-40B4-BE49-F238E27FC236}">
                <a16:creationId xmlns:a16="http://schemas.microsoft.com/office/drawing/2014/main" id="{AEA8CEC7-4316-034E-9A10-D1758AB5C1E8}"/>
              </a:ext>
            </a:extLst>
          </p:cNvPr>
          <p:cNvGrpSpPr/>
          <p:nvPr/>
        </p:nvGrpSpPr>
        <p:grpSpPr>
          <a:xfrm>
            <a:off x="2030275" y="3011037"/>
            <a:ext cx="2324100" cy="1381125"/>
            <a:chOff x="2030275" y="3011037"/>
            <a:chExt cx="2324100" cy="1381125"/>
          </a:xfrm>
        </p:grpSpPr>
        <p:sp>
          <p:nvSpPr>
            <p:cNvPr id="118" name="Text Box 22">
              <a:extLst>
                <a:ext uri="{FF2B5EF4-FFF2-40B4-BE49-F238E27FC236}">
                  <a16:creationId xmlns:a16="http://schemas.microsoft.com/office/drawing/2014/main" id="{26DC4EAE-1D60-F74E-A59A-4591BEF7DB8A}"/>
                </a:ext>
              </a:extLst>
            </p:cNvPr>
            <p:cNvSpPr txBox="1">
              <a:spLocks noChangeArrowheads="1"/>
            </p:cNvSpPr>
            <p:nvPr/>
          </p:nvSpPr>
          <p:spPr bwMode="auto">
            <a:xfrm>
              <a:off x="2654162" y="3372987"/>
              <a:ext cx="358775" cy="3968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1" i="0" u="none" strike="noStrike" kern="0" cap="none" spc="0" normalizeH="0" baseline="0" noProof="0" dirty="0">
                  <a:ln>
                    <a:noFill/>
                  </a:ln>
                  <a:solidFill>
                    <a:srgbClr val="FF0000"/>
                  </a:solidFill>
                  <a:effectLst/>
                  <a:uLnTx/>
                  <a:uFillTx/>
                  <a:latin typeface="Tahoma" charset="0"/>
                  <a:ea typeface="ＭＳ Ｐゴシック" charset="0"/>
                  <a:cs typeface="+mn-cs"/>
                </a:rPr>
                <a:t>X</a:t>
              </a:r>
            </a:p>
          </p:txBody>
        </p:sp>
        <p:sp>
          <p:nvSpPr>
            <p:cNvPr id="122" name="Line 37">
              <a:extLst>
                <a:ext uri="{FF2B5EF4-FFF2-40B4-BE49-F238E27FC236}">
                  <a16:creationId xmlns:a16="http://schemas.microsoft.com/office/drawing/2014/main" id="{F82F123D-402E-6549-ACF5-E00DB455230B}"/>
                </a:ext>
              </a:extLst>
            </p:cNvPr>
            <p:cNvSpPr>
              <a:spLocks noChangeShapeType="1"/>
            </p:cNvSpPr>
            <p:nvPr/>
          </p:nvSpPr>
          <p:spPr bwMode="auto">
            <a:xfrm flipH="1">
              <a:off x="2917687" y="3011037"/>
              <a:ext cx="1431925" cy="57308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27" name="Group 46">
              <a:extLst>
                <a:ext uri="{FF2B5EF4-FFF2-40B4-BE49-F238E27FC236}">
                  <a16:creationId xmlns:a16="http://schemas.microsoft.com/office/drawing/2014/main" id="{324855DF-61E7-B748-8BCC-0D83D44C7E23}"/>
                </a:ext>
              </a:extLst>
            </p:cNvPr>
            <p:cNvGrpSpPr>
              <a:grpSpLocks/>
            </p:cNvGrpSpPr>
            <p:nvPr/>
          </p:nvGrpSpPr>
          <p:grpSpPr bwMode="auto">
            <a:xfrm>
              <a:off x="2939912" y="3211062"/>
              <a:ext cx="949325" cy="304800"/>
              <a:chOff x="4215" y="2253"/>
              <a:chExt cx="598" cy="192"/>
            </a:xfrm>
          </p:grpSpPr>
          <p:sp>
            <p:nvSpPr>
              <p:cNvPr id="128" name="Rectangle 47">
                <a:extLst>
                  <a:ext uri="{FF2B5EF4-FFF2-40B4-BE49-F238E27FC236}">
                    <a16:creationId xmlns:a16="http://schemas.microsoft.com/office/drawing/2014/main" id="{9FB09B08-6C10-9344-B5F2-19059A82D4DA}"/>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29" name="Text Box 48">
                <a:extLst>
                  <a:ext uri="{FF2B5EF4-FFF2-40B4-BE49-F238E27FC236}">
                    <a16:creationId xmlns:a16="http://schemas.microsoft.com/office/drawing/2014/main" id="{53E02B34-B365-F741-81B4-3CC6B76EE9BD}"/>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147" name="Line 67">
              <a:extLst>
                <a:ext uri="{FF2B5EF4-FFF2-40B4-BE49-F238E27FC236}">
                  <a16:creationId xmlns:a16="http://schemas.microsoft.com/office/drawing/2014/main" id="{3A9C7800-3C25-D246-B475-A10782D1A42F}"/>
                </a:ext>
              </a:extLst>
            </p:cNvPr>
            <p:cNvSpPr>
              <a:spLocks noChangeShapeType="1"/>
            </p:cNvSpPr>
            <p:nvPr/>
          </p:nvSpPr>
          <p:spPr bwMode="auto">
            <a:xfrm flipH="1">
              <a:off x="2030275" y="3366637"/>
              <a:ext cx="2324100" cy="1025525"/>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148" name="Group 68">
              <a:extLst>
                <a:ext uri="{FF2B5EF4-FFF2-40B4-BE49-F238E27FC236}">
                  <a16:creationId xmlns:a16="http://schemas.microsoft.com/office/drawing/2014/main" id="{17041CF4-B3BE-AC4C-8F4D-F6EFAD312E20}"/>
                </a:ext>
              </a:extLst>
            </p:cNvPr>
            <p:cNvGrpSpPr>
              <a:grpSpLocks/>
            </p:cNvGrpSpPr>
            <p:nvPr/>
          </p:nvGrpSpPr>
          <p:grpSpPr bwMode="auto">
            <a:xfrm>
              <a:off x="2673212" y="3768274"/>
              <a:ext cx="949325" cy="304800"/>
              <a:chOff x="4215" y="2253"/>
              <a:chExt cx="598" cy="192"/>
            </a:xfrm>
          </p:grpSpPr>
          <p:sp>
            <p:nvSpPr>
              <p:cNvPr id="149" name="Rectangle 69">
                <a:extLst>
                  <a:ext uri="{FF2B5EF4-FFF2-40B4-BE49-F238E27FC236}">
                    <a16:creationId xmlns:a16="http://schemas.microsoft.com/office/drawing/2014/main" id="{3AAC76A6-2B0F-6244-8FEC-36E70DA156CD}"/>
                  </a:ext>
                </a:extLst>
              </p:cNvPr>
              <p:cNvSpPr>
                <a:spLocks noChangeArrowheads="1"/>
              </p:cNvSpPr>
              <p:nvPr/>
            </p:nvSpPr>
            <p:spPr bwMode="auto">
              <a:xfrm>
                <a:off x="4265" y="2274"/>
                <a:ext cx="471" cy="15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50" name="Text Box 70">
                <a:extLst>
                  <a:ext uri="{FF2B5EF4-FFF2-40B4-BE49-F238E27FC236}">
                    <a16:creationId xmlns:a16="http://schemas.microsoft.com/office/drawing/2014/main" id="{821F7D19-F8C8-AE45-80AF-5153ED6D8304}"/>
                  </a:ext>
                </a:extLst>
              </p:cNvPr>
              <p:cNvSpPr txBox="1">
                <a:spLocks noChangeArrowheads="1"/>
              </p:cNvSpPr>
              <p:nvPr/>
            </p:nvSpPr>
            <p:spPr bwMode="auto">
              <a:xfrm>
                <a:off x="4215" y="2253"/>
                <a:ext cx="598" cy="19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ACK=120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grpSp>
      <p:grpSp>
        <p:nvGrpSpPr>
          <p:cNvPr id="151" name="Group 84">
            <a:extLst>
              <a:ext uri="{FF2B5EF4-FFF2-40B4-BE49-F238E27FC236}">
                <a16:creationId xmlns:a16="http://schemas.microsoft.com/office/drawing/2014/main" id="{A513F213-614E-9644-8CDB-349CE9C0E465}"/>
              </a:ext>
            </a:extLst>
          </p:cNvPr>
          <p:cNvGrpSpPr>
            <a:grpSpLocks/>
          </p:cNvGrpSpPr>
          <p:nvPr/>
        </p:nvGrpSpPr>
        <p:grpSpPr bwMode="auto">
          <a:xfrm>
            <a:off x="1598475" y="1469574"/>
            <a:ext cx="630237" cy="533400"/>
            <a:chOff x="-44" y="1473"/>
            <a:chExt cx="981" cy="1105"/>
          </a:xfrm>
        </p:grpSpPr>
        <p:pic>
          <p:nvPicPr>
            <p:cNvPr id="152" name="Picture 85" descr="desktop_computer_stylized_medium">
              <a:extLst>
                <a:ext uri="{FF2B5EF4-FFF2-40B4-BE49-F238E27FC236}">
                  <a16:creationId xmlns:a16="http://schemas.microsoft.com/office/drawing/2014/main" id="{9BBAD69B-B04A-1542-BCB4-1BBB280A55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 name="Freeform 86">
              <a:extLst>
                <a:ext uri="{FF2B5EF4-FFF2-40B4-BE49-F238E27FC236}">
                  <a16:creationId xmlns:a16="http://schemas.microsoft.com/office/drawing/2014/main" id="{B7171269-7915-9C4F-B3F9-C51F59FC7196}"/>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54" name="Group 87">
            <a:extLst>
              <a:ext uri="{FF2B5EF4-FFF2-40B4-BE49-F238E27FC236}">
                <a16:creationId xmlns:a16="http://schemas.microsoft.com/office/drawing/2014/main" id="{C16FC996-18F5-D44A-B06A-968A8827AE39}"/>
              </a:ext>
            </a:extLst>
          </p:cNvPr>
          <p:cNvGrpSpPr>
            <a:grpSpLocks/>
          </p:cNvGrpSpPr>
          <p:nvPr/>
        </p:nvGrpSpPr>
        <p:grpSpPr bwMode="auto">
          <a:xfrm flipH="1">
            <a:off x="4176575" y="1464812"/>
            <a:ext cx="674687" cy="590550"/>
            <a:chOff x="-44" y="1473"/>
            <a:chExt cx="981" cy="1105"/>
          </a:xfrm>
        </p:grpSpPr>
        <p:pic>
          <p:nvPicPr>
            <p:cNvPr id="155" name="Picture 88" descr="desktop_computer_stylized_medium">
              <a:extLst>
                <a:ext uri="{FF2B5EF4-FFF2-40B4-BE49-F238E27FC236}">
                  <a16:creationId xmlns:a16="http://schemas.microsoft.com/office/drawing/2014/main" id="{DD8C1025-5742-124A-A45D-17C092AE9E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6" name="Freeform 89">
              <a:extLst>
                <a:ext uri="{FF2B5EF4-FFF2-40B4-BE49-F238E27FC236}">
                  <a16:creationId xmlns:a16="http://schemas.microsoft.com/office/drawing/2014/main" id="{29DD3896-6A51-A043-8276-55B2A1834ABA}"/>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spTree>
    <p:extLst>
      <p:ext uri="{BB962C8B-B14F-4D97-AF65-F5344CB8AC3E}">
        <p14:creationId xmlns:p14="http://schemas.microsoft.com/office/powerpoint/2010/main" val="3143968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wipe(left)">
                                      <p:cBhvr>
                                        <p:cTn id="7" dur="500"/>
                                        <p:tgtEl>
                                          <p:spTgt spid="12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25"/>
                                        </p:tgtEl>
                                        <p:attrNameLst>
                                          <p:attrName>style.visibility</p:attrName>
                                        </p:attrNameLst>
                                      </p:cBhvr>
                                      <p:to>
                                        <p:strVal val="visible"/>
                                      </p:to>
                                    </p:set>
                                    <p:animEffect transition="in" filter="wipe(left)">
                                      <p:cBhvr>
                                        <p:cTn id="10" dur="500"/>
                                        <p:tgtEl>
                                          <p:spTgt spid="125"/>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26"/>
                                        </p:tgtEl>
                                        <p:attrNameLst>
                                          <p:attrName>style.visibility</p:attrName>
                                        </p:attrNameLst>
                                      </p:cBhvr>
                                      <p:to>
                                        <p:strVal val="visible"/>
                                      </p:to>
                                    </p:set>
                                    <p:animEffect transition="in" filter="wipe(left)">
                                      <p:cBhvr>
                                        <p:cTn id="13" dur="500"/>
                                        <p:tgtEl>
                                          <p:spTgt spid="126"/>
                                        </p:tgtEl>
                                      </p:cBhvr>
                                    </p:animEffect>
                                  </p:childTnLst>
                                </p:cTn>
                              </p:par>
                              <p:par>
                                <p:cTn id="14" presetID="22" presetClass="entr" presetSubtype="8" fill="hold" nodeType="withEffect">
                                  <p:stCondLst>
                                    <p:cond delay="0"/>
                                  </p:stCondLst>
                                  <p:childTnLst>
                                    <p:set>
                                      <p:cBhvr>
                                        <p:cTn id="15" dur="1" fill="hold">
                                          <p:stCondLst>
                                            <p:cond delay="0"/>
                                          </p:stCondLst>
                                        </p:cTn>
                                        <p:tgtEl>
                                          <p:spTgt spid="143"/>
                                        </p:tgtEl>
                                        <p:attrNameLst>
                                          <p:attrName>style.visibility</p:attrName>
                                        </p:attrNameLst>
                                      </p:cBhvr>
                                      <p:to>
                                        <p:strVal val="visible"/>
                                      </p:to>
                                    </p:set>
                                    <p:animEffect transition="in" filter="wipe(left)">
                                      <p:cBhvr>
                                        <p:cTn id="16" dur="500"/>
                                        <p:tgtEl>
                                          <p:spTgt spid="143"/>
                                        </p:tgtEl>
                                      </p:cBhvr>
                                    </p:animEffect>
                                  </p:childTnLst>
                                </p:cTn>
                              </p:par>
                            </p:childTnLst>
                          </p:cTn>
                        </p:par>
                        <p:par>
                          <p:cTn id="17" fill="hold">
                            <p:stCondLst>
                              <p:cond delay="500"/>
                            </p:stCondLst>
                            <p:childTnLst>
                              <p:par>
                                <p:cTn id="18" presetID="22" presetClass="entr" presetSubtype="2" fill="hold"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wipe(right)">
                                      <p:cBhvr>
                                        <p:cTn id="20" dur="500"/>
                                        <p:tgtEl>
                                          <p:spTgt spid="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animBg="1"/>
      <p:bldP spid="1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CD900-19EC-824C-BF74-AADFBF5A172E}"/>
              </a:ext>
            </a:extLst>
          </p:cNvPr>
          <p:cNvSpPr>
            <a:spLocks noGrp="1"/>
          </p:cNvSpPr>
          <p:nvPr>
            <p:ph type="title"/>
          </p:nvPr>
        </p:nvSpPr>
        <p:spPr>
          <a:xfrm>
            <a:off x="798690" y="289325"/>
            <a:ext cx="11393310" cy="894622"/>
          </a:xfrm>
        </p:spPr>
        <p:txBody>
          <a:bodyPr>
            <a:normAutofit/>
          </a:bodyPr>
          <a:lstStyle/>
          <a:p>
            <a:r>
              <a:rPr lang="en-US" sz="4800" dirty="0"/>
              <a:t>TCP Fast Retransmit</a:t>
            </a:r>
            <a:endParaRPr lang="en-US" sz="4400" b="0" dirty="0"/>
          </a:p>
        </p:txBody>
      </p:sp>
      <p:sp>
        <p:nvSpPr>
          <p:cNvPr id="62" name="Line 10">
            <a:extLst>
              <a:ext uri="{FF2B5EF4-FFF2-40B4-BE49-F238E27FC236}">
                <a16:creationId xmlns:a16="http://schemas.microsoft.com/office/drawing/2014/main" id="{D5DBB1B8-3A7B-2149-A7A5-727E44799BF4}"/>
              </a:ext>
            </a:extLst>
          </p:cNvPr>
          <p:cNvSpPr>
            <a:spLocks noChangeShapeType="1"/>
          </p:cNvSpPr>
          <p:nvPr/>
        </p:nvSpPr>
        <p:spPr bwMode="auto">
          <a:xfrm flipH="1">
            <a:off x="7137251" y="1928015"/>
            <a:ext cx="0" cy="4413474"/>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3" name="Line 11">
            <a:extLst>
              <a:ext uri="{FF2B5EF4-FFF2-40B4-BE49-F238E27FC236}">
                <a16:creationId xmlns:a16="http://schemas.microsoft.com/office/drawing/2014/main" id="{689C7DF6-5B6C-F34C-B350-3B553A4C7C71}"/>
              </a:ext>
            </a:extLst>
          </p:cNvPr>
          <p:cNvSpPr>
            <a:spLocks noChangeShapeType="1"/>
          </p:cNvSpPr>
          <p:nvPr/>
        </p:nvSpPr>
        <p:spPr bwMode="auto">
          <a:xfrm>
            <a:off x="10614518" y="2016469"/>
            <a:ext cx="14666" cy="43250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4" name="Text Box 34">
            <a:extLst>
              <a:ext uri="{FF2B5EF4-FFF2-40B4-BE49-F238E27FC236}">
                <a16:creationId xmlns:a16="http://schemas.microsoft.com/office/drawing/2014/main" id="{7F373F6A-C03C-9348-95D5-6812428E4AB9}"/>
              </a:ext>
            </a:extLst>
          </p:cNvPr>
          <p:cNvSpPr txBox="1">
            <a:spLocks noChangeArrowheads="1"/>
          </p:cNvSpPr>
          <p:nvPr/>
        </p:nvSpPr>
        <p:spPr bwMode="auto">
          <a:xfrm>
            <a:off x="9960336" y="1045159"/>
            <a:ext cx="1069083"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B</a:t>
            </a:r>
          </a:p>
        </p:txBody>
      </p:sp>
      <p:sp>
        <p:nvSpPr>
          <p:cNvPr id="75" name="Text Box 38">
            <a:extLst>
              <a:ext uri="{FF2B5EF4-FFF2-40B4-BE49-F238E27FC236}">
                <a16:creationId xmlns:a16="http://schemas.microsoft.com/office/drawing/2014/main" id="{DAC7237E-4C51-2843-8070-FFEA26334B0E}"/>
              </a:ext>
            </a:extLst>
          </p:cNvPr>
          <p:cNvSpPr txBox="1">
            <a:spLocks noChangeArrowheads="1"/>
          </p:cNvSpPr>
          <p:nvPr/>
        </p:nvSpPr>
        <p:spPr bwMode="auto">
          <a:xfrm>
            <a:off x="6733327" y="1065430"/>
            <a:ext cx="1073474" cy="39067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rPr>
              <a:t>Host A</a:t>
            </a:r>
          </a:p>
        </p:txBody>
      </p:sp>
      <p:grpSp>
        <p:nvGrpSpPr>
          <p:cNvPr id="80" name="Group 78">
            <a:extLst>
              <a:ext uri="{FF2B5EF4-FFF2-40B4-BE49-F238E27FC236}">
                <a16:creationId xmlns:a16="http://schemas.microsoft.com/office/drawing/2014/main" id="{BFB3AB37-E716-1346-A8BA-2EFF122E1DFB}"/>
              </a:ext>
            </a:extLst>
          </p:cNvPr>
          <p:cNvGrpSpPr>
            <a:grpSpLocks/>
          </p:cNvGrpSpPr>
          <p:nvPr/>
        </p:nvGrpSpPr>
        <p:grpSpPr bwMode="auto">
          <a:xfrm>
            <a:off x="6606003" y="2250502"/>
            <a:ext cx="548811" cy="4090987"/>
            <a:chOff x="397" y="868"/>
            <a:chExt cx="250" cy="2220"/>
          </a:xfrm>
        </p:grpSpPr>
        <p:sp>
          <p:nvSpPr>
            <p:cNvPr id="81" name="Text Box 50">
              <a:extLst>
                <a:ext uri="{FF2B5EF4-FFF2-40B4-BE49-F238E27FC236}">
                  <a16:creationId xmlns:a16="http://schemas.microsoft.com/office/drawing/2014/main" id="{20D2BEC4-83BC-594C-9709-4963DF5C652E}"/>
                </a:ext>
              </a:extLst>
            </p:cNvPr>
            <p:cNvSpPr txBox="1">
              <a:spLocks noChangeArrowheads="1"/>
            </p:cNvSpPr>
            <p:nvPr/>
          </p:nvSpPr>
          <p:spPr bwMode="auto">
            <a:xfrm rot="10800000">
              <a:off x="397" y="1778"/>
              <a:ext cx="250" cy="43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eaVert"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timeout</a:t>
              </a:r>
            </a:p>
          </p:txBody>
        </p:sp>
        <p:grpSp>
          <p:nvGrpSpPr>
            <p:cNvPr id="82" name="Group 51">
              <a:extLst>
                <a:ext uri="{FF2B5EF4-FFF2-40B4-BE49-F238E27FC236}">
                  <a16:creationId xmlns:a16="http://schemas.microsoft.com/office/drawing/2014/main" id="{EDCC85C1-CBD8-CF48-BE14-AB550ACC9CD9}"/>
                </a:ext>
              </a:extLst>
            </p:cNvPr>
            <p:cNvGrpSpPr>
              <a:grpSpLocks/>
            </p:cNvGrpSpPr>
            <p:nvPr/>
          </p:nvGrpSpPr>
          <p:grpSpPr bwMode="auto">
            <a:xfrm>
              <a:off x="488" y="868"/>
              <a:ext cx="66" cy="893"/>
              <a:chOff x="3099" y="1749"/>
              <a:chExt cx="66" cy="320"/>
            </a:xfrm>
          </p:grpSpPr>
          <p:sp>
            <p:nvSpPr>
              <p:cNvPr id="86" name="Line 52">
                <a:extLst>
                  <a:ext uri="{FF2B5EF4-FFF2-40B4-BE49-F238E27FC236}">
                    <a16:creationId xmlns:a16="http://schemas.microsoft.com/office/drawing/2014/main" id="{F5C3CCA7-42E1-5E4B-B134-3ADAAE25F478}"/>
                  </a:ext>
                </a:extLst>
              </p:cNvPr>
              <p:cNvSpPr>
                <a:spLocks noChangeShapeType="1"/>
              </p:cNvSpPr>
              <p:nvPr/>
            </p:nvSpPr>
            <p:spPr bwMode="auto">
              <a:xfrm flipV="1">
                <a:off x="3129"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7" name="Line 53">
                <a:extLst>
                  <a:ext uri="{FF2B5EF4-FFF2-40B4-BE49-F238E27FC236}">
                    <a16:creationId xmlns:a16="http://schemas.microsoft.com/office/drawing/2014/main" id="{8E5A8D16-FBBC-D14E-8BAD-251BDDCBBDB1}"/>
                  </a:ext>
                </a:extLst>
              </p:cNvPr>
              <p:cNvSpPr>
                <a:spLocks noChangeShapeType="1"/>
              </p:cNvSpPr>
              <p:nvPr/>
            </p:nvSpPr>
            <p:spPr bwMode="auto">
              <a:xfrm>
                <a:off x="3099"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nvGrpSpPr>
            <p:cNvPr id="83" name="Group 54">
              <a:extLst>
                <a:ext uri="{FF2B5EF4-FFF2-40B4-BE49-F238E27FC236}">
                  <a16:creationId xmlns:a16="http://schemas.microsoft.com/office/drawing/2014/main" id="{21D50596-28D4-5A43-9FB1-7BBC7387FCE9}"/>
                </a:ext>
              </a:extLst>
            </p:cNvPr>
            <p:cNvGrpSpPr>
              <a:grpSpLocks/>
            </p:cNvGrpSpPr>
            <p:nvPr/>
          </p:nvGrpSpPr>
          <p:grpSpPr bwMode="auto">
            <a:xfrm rot="10800000">
              <a:off x="485" y="2224"/>
              <a:ext cx="66" cy="864"/>
              <a:chOff x="3099" y="1749"/>
              <a:chExt cx="66" cy="320"/>
            </a:xfrm>
          </p:grpSpPr>
          <p:sp>
            <p:nvSpPr>
              <p:cNvPr id="84" name="Line 55">
                <a:extLst>
                  <a:ext uri="{FF2B5EF4-FFF2-40B4-BE49-F238E27FC236}">
                    <a16:creationId xmlns:a16="http://schemas.microsoft.com/office/drawing/2014/main" id="{80D32A34-44D9-C043-A214-A031ADF68922}"/>
                  </a:ext>
                </a:extLst>
              </p:cNvPr>
              <p:cNvSpPr>
                <a:spLocks noChangeShapeType="1"/>
              </p:cNvSpPr>
              <p:nvPr/>
            </p:nvSpPr>
            <p:spPr bwMode="auto">
              <a:xfrm flipV="1">
                <a:off x="3132" y="1749"/>
                <a:ext cx="0" cy="320"/>
              </a:xfrm>
              <a:prstGeom prst="line">
                <a:avLst/>
              </a:prstGeom>
              <a:noFill/>
              <a:ln w="9525">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85" name="Line 56">
                <a:extLst>
                  <a:ext uri="{FF2B5EF4-FFF2-40B4-BE49-F238E27FC236}">
                    <a16:creationId xmlns:a16="http://schemas.microsoft.com/office/drawing/2014/main" id="{AE50FFCD-888F-5F49-95EA-1422F4F92DA1}"/>
                  </a:ext>
                </a:extLst>
              </p:cNvPr>
              <p:cNvSpPr>
                <a:spLocks noChangeShapeType="1"/>
              </p:cNvSpPr>
              <p:nvPr/>
            </p:nvSpPr>
            <p:spPr bwMode="auto">
              <a:xfrm>
                <a:off x="3106" y="1752"/>
                <a:ext cx="66" cy="0"/>
              </a:xfrm>
              <a:prstGeom prst="line">
                <a:avLst/>
              </a:prstGeom>
              <a:noFill/>
              <a:ln w="9525">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grpSp>
      <p:grpSp>
        <p:nvGrpSpPr>
          <p:cNvPr id="5" name="Group 4">
            <a:extLst>
              <a:ext uri="{FF2B5EF4-FFF2-40B4-BE49-F238E27FC236}">
                <a16:creationId xmlns:a16="http://schemas.microsoft.com/office/drawing/2014/main" id="{DFEC346A-D192-A745-962D-2F7187BE2EBA}"/>
              </a:ext>
            </a:extLst>
          </p:cNvPr>
          <p:cNvGrpSpPr/>
          <p:nvPr/>
        </p:nvGrpSpPr>
        <p:grpSpPr>
          <a:xfrm>
            <a:off x="7013299" y="3003106"/>
            <a:ext cx="3612455" cy="2092660"/>
            <a:chOff x="7013299" y="3003106"/>
            <a:chExt cx="3612455" cy="2092660"/>
          </a:xfrm>
        </p:grpSpPr>
        <p:sp>
          <p:nvSpPr>
            <p:cNvPr id="64" name="Line 12">
              <a:extLst>
                <a:ext uri="{FF2B5EF4-FFF2-40B4-BE49-F238E27FC236}">
                  <a16:creationId xmlns:a16="http://schemas.microsoft.com/office/drawing/2014/main" id="{95AEFD21-3019-6045-8B8C-F134C817BFAE}"/>
                </a:ext>
              </a:extLst>
            </p:cNvPr>
            <p:cNvSpPr>
              <a:spLocks noChangeShapeType="1"/>
            </p:cNvSpPr>
            <p:nvPr/>
          </p:nvSpPr>
          <p:spPr bwMode="auto">
            <a:xfrm flipH="1">
              <a:off x="7124339" y="3003106"/>
              <a:ext cx="3483853" cy="939821"/>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8" name="Line 17">
              <a:extLst>
                <a:ext uri="{FF2B5EF4-FFF2-40B4-BE49-F238E27FC236}">
                  <a16:creationId xmlns:a16="http://schemas.microsoft.com/office/drawing/2014/main" id="{D424C827-C61B-5F47-A8EF-11555EB430C0}"/>
                </a:ext>
              </a:extLst>
            </p:cNvPr>
            <p:cNvSpPr>
              <a:spLocks noChangeShapeType="1"/>
            </p:cNvSpPr>
            <p:nvPr/>
          </p:nvSpPr>
          <p:spPr bwMode="auto">
            <a:xfrm flipH="1">
              <a:off x="7126535" y="3495131"/>
              <a:ext cx="3499219" cy="96377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9" name="Line 18">
              <a:extLst>
                <a:ext uri="{FF2B5EF4-FFF2-40B4-BE49-F238E27FC236}">
                  <a16:creationId xmlns:a16="http://schemas.microsoft.com/office/drawing/2014/main" id="{E299C9DA-59E0-D740-8F25-10DD099B646A}"/>
                </a:ext>
              </a:extLst>
            </p:cNvPr>
            <p:cNvSpPr>
              <a:spLocks noChangeShapeType="1"/>
            </p:cNvSpPr>
            <p:nvPr/>
          </p:nvSpPr>
          <p:spPr bwMode="auto">
            <a:xfrm flipH="1">
              <a:off x="7137252" y="3785544"/>
              <a:ext cx="3466289" cy="10301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0" name="Line 19">
              <a:extLst>
                <a:ext uri="{FF2B5EF4-FFF2-40B4-BE49-F238E27FC236}">
                  <a16:creationId xmlns:a16="http://schemas.microsoft.com/office/drawing/2014/main" id="{5BBCCA9A-EE48-4F4D-B1C7-EAC125089125}"/>
                </a:ext>
              </a:extLst>
            </p:cNvPr>
            <p:cNvSpPr>
              <a:spLocks noChangeShapeType="1"/>
            </p:cNvSpPr>
            <p:nvPr/>
          </p:nvSpPr>
          <p:spPr bwMode="auto">
            <a:xfrm flipH="1">
              <a:off x="7137252" y="4050906"/>
              <a:ext cx="3450923" cy="1044860"/>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9" name="Text Box 43">
              <a:extLst>
                <a:ext uri="{FF2B5EF4-FFF2-40B4-BE49-F238E27FC236}">
                  <a16:creationId xmlns:a16="http://schemas.microsoft.com/office/drawing/2014/main" id="{239E35BD-73CE-0B47-977F-0F2E0F1170FF}"/>
                </a:ext>
              </a:extLst>
            </p:cNvPr>
            <p:cNvSpPr txBox="1">
              <a:spLocks noChangeArrowheads="1"/>
            </p:cNvSpPr>
            <p:nvPr/>
          </p:nvSpPr>
          <p:spPr bwMode="auto">
            <a:xfrm rot="20736981">
              <a:off x="7013299" y="3540991"/>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0" name="Text Box 67">
              <a:extLst>
                <a:ext uri="{FF2B5EF4-FFF2-40B4-BE49-F238E27FC236}">
                  <a16:creationId xmlns:a16="http://schemas.microsoft.com/office/drawing/2014/main" id="{0D263B80-AF59-D348-84FD-932DC45167E5}"/>
                </a:ext>
              </a:extLst>
            </p:cNvPr>
            <p:cNvSpPr txBox="1">
              <a:spLocks noChangeArrowheads="1"/>
            </p:cNvSpPr>
            <p:nvPr/>
          </p:nvSpPr>
          <p:spPr bwMode="auto">
            <a:xfrm rot="20635106">
              <a:off x="7025762" y="4030047"/>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3" name="Text Box 74">
              <a:extLst>
                <a:ext uri="{FF2B5EF4-FFF2-40B4-BE49-F238E27FC236}">
                  <a16:creationId xmlns:a16="http://schemas.microsoft.com/office/drawing/2014/main" id="{8EFF23A0-366A-E64A-A6E3-90FD7CB3D7C0}"/>
                </a:ext>
              </a:extLst>
            </p:cNvPr>
            <p:cNvSpPr txBox="1">
              <a:spLocks noChangeArrowheads="1"/>
            </p:cNvSpPr>
            <p:nvPr/>
          </p:nvSpPr>
          <p:spPr bwMode="auto">
            <a:xfrm rot="20657108">
              <a:off x="7017491" y="4400415"/>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96" name="Text Box 77">
              <a:extLst>
                <a:ext uri="{FF2B5EF4-FFF2-40B4-BE49-F238E27FC236}">
                  <a16:creationId xmlns:a16="http://schemas.microsoft.com/office/drawing/2014/main" id="{589E2F0E-5EA2-944C-B543-F8CCDFFE3457}"/>
                </a:ext>
              </a:extLst>
            </p:cNvPr>
            <p:cNvSpPr txBox="1">
              <a:spLocks noChangeArrowheads="1"/>
            </p:cNvSpPr>
            <p:nvPr/>
          </p:nvSpPr>
          <p:spPr bwMode="auto">
            <a:xfrm rot="20628354">
              <a:off x="7020313" y="4687228"/>
              <a:ext cx="1312756" cy="35381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charset="0"/>
                  <a:ea typeface="ＭＳ Ｐゴシック" charset="0"/>
                  <a:cs typeface="+mn-cs"/>
                </a:rPr>
                <a:t>ACK=100</a:t>
              </a:r>
              <a:endParaRPr kumimoji="0" lang="en-US" sz="1000" b="0" i="0" u="none" strike="noStrike" kern="0" cap="none" spc="0" normalizeH="0" baseline="0" noProof="0" dirty="0">
                <a:ln>
                  <a:noFill/>
                </a:ln>
                <a:solidFill>
                  <a:srgbClr val="000000"/>
                </a:solidFill>
                <a:effectLst/>
                <a:uLnTx/>
                <a:uFillTx/>
                <a:latin typeface="Times New Roman" charset="0"/>
                <a:ea typeface="ＭＳ Ｐゴシック" charset="0"/>
                <a:cs typeface="+mn-cs"/>
              </a:endParaRPr>
            </a:p>
          </p:txBody>
        </p:sp>
      </p:grpSp>
      <p:sp>
        <p:nvSpPr>
          <p:cNvPr id="97" name="Rectangle 84">
            <a:extLst>
              <a:ext uri="{FF2B5EF4-FFF2-40B4-BE49-F238E27FC236}">
                <a16:creationId xmlns:a16="http://schemas.microsoft.com/office/drawing/2014/main" id="{DDC13008-E549-D946-9386-1DAF70895444}"/>
              </a:ext>
            </a:extLst>
          </p:cNvPr>
          <p:cNvSpPr>
            <a:spLocks noChangeArrowheads="1"/>
          </p:cNvSpPr>
          <p:nvPr/>
        </p:nvSpPr>
        <p:spPr bwMode="auto">
          <a:xfrm>
            <a:off x="7435805" y="2563776"/>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grpSp>
        <p:nvGrpSpPr>
          <p:cNvPr id="4" name="Group 3">
            <a:extLst>
              <a:ext uri="{FF2B5EF4-FFF2-40B4-BE49-F238E27FC236}">
                <a16:creationId xmlns:a16="http://schemas.microsoft.com/office/drawing/2014/main" id="{A410A887-ABC6-3C43-BE7B-AF0C2FBB6C93}"/>
              </a:ext>
            </a:extLst>
          </p:cNvPr>
          <p:cNvGrpSpPr/>
          <p:nvPr/>
        </p:nvGrpSpPr>
        <p:grpSpPr>
          <a:xfrm>
            <a:off x="7137252" y="2219051"/>
            <a:ext cx="3503609" cy="1809741"/>
            <a:chOff x="7137252" y="2219051"/>
            <a:chExt cx="3503609" cy="1809741"/>
          </a:xfrm>
        </p:grpSpPr>
        <p:sp>
          <p:nvSpPr>
            <p:cNvPr id="60" name="Line 3">
              <a:extLst>
                <a:ext uri="{FF2B5EF4-FFF2-40B4-BE49-F238E27FC236}">
                  <a16:creationId xmlns:a16="http://schemas.microsoft.com/office/drawing/2014/main" id="{2DDEC3DE-B6A8-CB4A-8854-325CA53758C5}"/>
                </a:ext>
              </a:extLst>
            </p:cNvPr>
            <p:cNvSpPr>
              <a:spLocks noChangeShapeType="1"/>
            </p:cNvSpPr>
            <p:nvPr/>
          </p:nvSpPr>
          <p:spPr bwMode="auto">
            <a:xfrm>
              <a:off x="7137252" y="2281830"/>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1" name="Line 9">
              <a:extLst>
                <a:ext uri="{FF2B5EF4-FFF2-40B4-BE49-F238E27FC236}">
                  <a16:creationId xmlns:a16="http://schemas.microsoft.com/office/drawing/2014/main" id="{7443982D-7E67-3541-8BDB-FB3F54B4C262}"/>
                </a:ext>
              </a:extLst>
            </p:cNvPr>
            <p:cNvSpPr>
              <a:spLocks noChangeShapeType="1"/>
            </p:cNvSpPr>
            <p:nvPr/>
          </p:nvSpPr>
          <p:spPr bwMode="auto">
            <a:xfrm>
              <a:off x="7137252" y="2547191"/>
              <a:ext cx="2430134" cy="48096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5" name="Line 14">
              <a:extLst>
                <a:ext uri="{FF2B5EF4-FFF2-40B4-BE49-F238E27FC236}">
                  <a16:creationId xmlns:a16="http://schemas.microsoft.com/office/drawing/2014/main" id="{45E4DCDF-3370-7840-AFF3-2F4DBC2FB6CD}"/>
                </a:ext>
              </a:extLst>
            </p:cNvPr>
            <p:cNvSpPr>
              <a:spLocks noChangeShapeType="1"/>
            </p:cNvSpPr>
            <p:nvPr/>
          </p:nvSpPr>
          <p:spPr bwMode="auto">
            <a:xfrm>
              <a:off x="7137252" y="2812553"/>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6" name="Line 15">
              <a:extLst>
                <a:ext uri="{FF2B5EF4-FFF2-40B4-BE49-F238E27FC236}">
                  <a16:creationId xmlns:a16="http://schemas.microsoft.com/office/drawing/2014/main" id="{99432412-7F47-DD4A-A770-DACE51980B08}"/>
                </a:ext>
              </a:extLst>
            </p:cNvPr>
            <p:cNvSpPr>
              <a:spLocks noChangeShapeType="1"/>
            </p:cNvSpPr>
            <p:nvPr/>
          </p:nvSpPr>
          <p:spPr bwMode="auto">
            <a:xfrm>
              <a:off x="7137252" y="3343275"/>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67" name="Line 16">
              <a:extLst>
                <a:ext uri="{FF2B5EF4-FFF2-40B4-BE49-F238E27FC236}">
                  <a16:creationId xmlns:a16="http://schemas.microsoft.com/office/drawing/2014/main" id="{D5993C48-F14C-2044-846C-9FEC391300A9}"/>
                </a:ext>
              </a:extLst>
            </p:cNvPr>
            <p:cNvSpPr>
              <a:spLocks noChangeShapeType="1"/>
            </p:cNvSpPr>
            <p:nvPr/>
          </p:nvSpPr>
          <p:spPr bwMode="auto">
            <a:xfrm>
              <a:off x="7137252" y="3077914"/>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71" name="Text Box 20">
              <a:extLst>
                <a:ext uri="{FF2B5EF4-FFF2-40B4-BE49-F238E27FC236}">
                  <a16:creationId xmlns:a16="http://schemas.microsoft.com/office/drawing/2014/main" id="{E876EFCF-EFAF-7745-82C0-69510059A681}"/>
                </a:ext>
              </a:extLst>
            </p:cNvPr>
            <p:cNvSpPr txBox="1">
              <a:spLocks noChangeArrowheads="1"/>
            </p:cNvSpPr>
            <p:nvPr/>
          </p:nvSpPr>
          <p:spPr bwMode="auto">
            <a:xfrm>
              <a:off x="9451039" y="2740684"/>
              <a:ext cx="390753" cy="53072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charset="0"/>
                  <a:ea typeface="ＭＳ Ｐゴシック" charset="0"/>
                  <a:cs typeface="+mn-cs"/>
                </a:rPr>
                <a:t>X</a:t>
              </a:r>
              <a:endParaRPr kumimoji="0" lang="en-US" sz="1000" b="0" i="0" u="none" strike="noStrike" kern="1200" cap="none" spc="0" normalizeH="0" baseline="0" noProof="0" dirty="0">
                <a:ln>
                  <a:noFill/>
                </a:ln>
                <a:solidFill>
                  <a:srgbClr val="000000"/>
                </a:solidFill>
                <a:effectLst/>
                <a:uLnTx/>
                <a:uFillTx/>
                <a:latin typeface="Times New Roman" charset="0"/>
                <a:ea typeface="ＭＳ Ｐゴシック" charset="0"/>
                <a:cs typeface="+mn-cs"/>
              </a:endParaRPr>
            </a:p>
          </p:txBody>
        </p:sp>
        <p:sp>
          <p:nvSpPr>
            <p:cNvPr id="76" name="Text Box 40">
              <a:extLst>
                <a:ext uri="{FF2B5EF4-FFF2-40B4-BE49-F238E27FC236}">
                  <a16:creationId xmlns:a16="http://schemas.microsoft.com/office/drawing/2014/main" id="{9B99FD84-14B7-6845-8B4C-03596E083BDE}"/>
                </a:ext>
              </a:extLst>
            </p:cNvPr>
            <p:cNvSpPr txBox="1">
              <a:spLocks noChangeArrowheads="1"/>
            </p:cNvSpPr>
            <p:nvPr/>
          </p:nvSpPr>
          <p:spPr bwMode="auto">
            <a:xfrm rot="584648">
              <a:off x="7273253" y="2219051"/>
              <a:ext cx="2122193" cy="307777"/>
            </a:xfrm>
            <a:prstGeom prst="rect">
              <a:avLst/>
            </a:prstGeom>
            <a:no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Seq=92, 8 bytes of data</a:t>
              </a:r>
            </a:p>
          </p:txBody>
        </p:sp>
        <p:sp>
          <p:nvSpPr>
            <p:cNvPr id="98" name="Text Box 83">
              <a:extLst>
                <a:ext uri="{FF2B5EF4-FFF2-40B4-BE49-F238E27FC236}">
                  <a16:creationId xmlns:a16="http://schemas.microsoft.com/office/drawing/2014/main" id="{677E8A81-661D-AA46-A7ED-6BC634EAB244}"/>
                </a:ext>
              </a:extLst>
            </p:cNvPr>
            <p:cNvSpPr txBox="1">
              <a:spLocks noChangeArrowheads="1"/>
            </p:cNvSpPr>
            <p:nvPr/>
          </p:nvSpPr>
          <p:spPr bwMode="auto">
            <a:xfrm rot="665764">
              <a:off x="7287508" y="2545419"/>
              <a:ext cx="2313691" cy="307777"/>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8" name="Group 7">
            <a:extLst>
              <a:ext uri="{FF2B5EF4-FFF2-40B4-BE49-F238E27FC236}">
                <a16:creationId xmlns:a16="http://schemas.microsoft.com/office/drawing/2014/main" id="{13A0E61A-342C-6348-8A8F-CA25838E85CE}"/>
              </a:ext>
            </a:extLst>
          </p:cNvPr>
          <p:cNvGrpSpPr/>
          <p:nvPr/>
        </p:nvGrpSpPr>
        <p:grpSpPr>
          <a:xfrm>
            <a:off x="6842436" y="5132585"/>
            <a:ext cx="3833549" cy="696610"/>
            <a:chOff x="6842436" y="5132585"/>
            <a:chExt cx="3833549" cy="696610"/>
          </a:xfrm>
        </p:grpSpPr>
        <p:sp>
          <p:nvSpPr>
            <p:cNvPr id="72" name="Line 24">
              <a:extLst>
                <a:ext uri="{FF2B5EF4-FFF2-40B4-BE49-F238E27FC236}">
                  <a16:creationId xmlns:a16="http://schemas.microsoft.com/office/drawing/2014/main" id="{A22F562A-B278-CF40-B0A2-08D7E895698A}"/>
                </a:ext>
              </a:extLst>
            </p:cNvPr>
            <p:cNvSpPr>
              <a:spLocks noChangeShapeType="1"/>
            </p:cNvSpPr>
            <p:nvPr/>
          </p:nvSpPr>
          <p:spPr bwMode="auto">
            <a:xfrm>
              <a:off x="7172376" y="5143678"/>
              <a:ext cx="3503609" cy="685517"/>
            </a:xfrm>
            <a:prstGeom prst="line">
              <a:avLst/>
            </a:prstGeom>
            <a:noFill/>
            <a:ln w="28575">
              <a:solidFill>
                <a:srgbClr val="3333CC"/>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99" name="Rectangle 85">
              <a:extLst>
                <a:ext uri="{FF2B5EF4-FFF2-40B4-BE49-F238E27FC236}">
                  <a16:creationId xmlns:a16="http://schemas.microsoft.com/office/drawing/2014/main" id="{C18ABD18-73AE-1540-89A2-73F2330E4BCD}"/>
                </a:ext>
              </a:extLst>
            </p:cNvPr>
            <p:cNvSpPr>
              <a:spLocks noChangeArrowheads="1"/>
            </p:cNvSpPr>
            <p:nvPr/>
          </p:nvSpPr>
          <p:spPr bwMode="auto">
            <a:xfrm>
              <a:off x="7408171" y="5224724"/>
              <a:ext cx="1047131" cy="261676"/>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charset="0"/>
                <a:ea typeface="ＭＳ Ｐゴシック" charset="0"/>
                <a:cs typeface="+mn-cs"/>
              </a:endParaRPr>
            </a:p>
          </p:txBody>
        </p:sp>
        <p:sp>
          <p:nvSpPr>
            <p:cNvPr id="100" name="Text Box 86">
              <a:extLst>
                <a:ext uri="{FF2B5EF4-FFF2-40B4-BE49-F238E27FC236}">
                  <a16:creationId xmlns:a16="http://schemas.microsoft.com/office/drawing/2014/main" id="{DDF60828-DFE2-734F-A384-4D3CA07DDADD}"/>
                </a:ext>
              </a:extLst>
            </p:cNvPr>
            <p:cNvSpPr txBox="1">
              <a:spLocks noChangeArrowheads="1"/>
            </p:cNvSpPr>
            <p:nvPr/>
          </p:nvSpPr>
          <p:spPr bwMode="auto">
            <a:xfrm>
              <a:off x="6842436" y="5132585"/>
              <a:ext cx="3154565" cy="35381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Tahoma" charset="0"/>
                  <a:ea typeface="ＭＳ Ｐゴシック" charset="0"/>
                  <a:cs typeface="+mn-cs"/>
                </a:rPr>
                <a:t>Seq=100, 20 bytes of data</a:t>
              </a:r>
            </a:p>
          </p:txBody>
        </p:sp>
      </p:grpSp>
      <p:grpSp>
        <p:nvGrpSpPr>
          <p:cNvPr id="101" name="Group 93">
            <a:extLst>
              <a:ext uri="{FF2B5EF4-FFF2-40B4-BE49-F238E27FC236}">
                <a16:creationId xmlns:a16="http://schemas.microsoft.com/office/drawing/2014/main" id="{90980625-BCFD-F546-BD95-6CC80FC48859}"/>
              </a:ext>
            </a:extLst>
          </p:cNvPr>
          <p:cNvGrpSpPr>
            <a:grpSpLocks/>
          </p:cNvGrpSpPr>
          <p:nvPr/>
        </p:nvGrpSpPr>
        <p:grpSpPr bwMode="auto">
          <a:xfrm>
            <a:off x="6608198" y="1343690"/>
            <a:ext cx="810044" cy="619176"/>
            <a:chOff x="-44" y="1473"/>
            <a:chExt cx="981" cy="1105"/>
          </a:xfrm>
        </p:grpSpPr>
        <p:pic>
          <p:nvPicPr>
            <p:cNvPr id="102" name="Picture 94" descr="desktop_computer_stylized_medium">
              <a:extLst>
                <a:ext uri="{FF2B5EF4-FFF2-40B4-BE49-F238E27FC236}">
                  <a16:creationId xmlns:a16="http://schemas.microsoft.com/office/drawing/2014/main" id="{6FD17C8F-7985-B64F-82A4-84E39A7C7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 name="Freeform 95">
              <a:extLst>
                <a:ext uri="{FF2B5EF4-FFF2-40B4-BE49-F238E27FC236}">
                  <a16:creationId xmlns:a16="http://schemas.microsoft.com/office/drawing/2014/main" id="{F7BDE405-F464-BB4E-8D0F-F82DE05FCBE3}"/>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104" name="Group 96">
            <a:extLst>
              <a:ext uri="{FF2B5EF4-FFF2-40B4-BE49-F238E27FC236}">
                <a16:creationId xmlns:a16="http://schemas.microsoft.com/office/drawing/2014/main" id="{30D13886-717C-5C49-84EB-DD7C28AC75E9}"/>
              </a:ext>
            </a:extLst>
          </p:cNvPr>
          <p:cNvGrpSpPr>
            <a:grpSpLocks/>
          </p:cNvGrpSpPr>
          <p:nvPr/>
        </p:nvGrpSpPr>
        <p:grpSpPr bwMode="auto">
          <a:xfrm flipH="1">
            <a:off x="10328620" y="1375018"/>
            <a:ext cx="749093" cy="672617"/>
            <a:chOff x="-44" y="1473"/>
            <a:chExt cx="981" cy="1105"/>
          </a:xfrm>
        </p:grpSpPr>
        <p:pic>
          <p:nvPicPr>
            <p:cNvPr id="105" name="Picture 97" descr="desktop_computer_stylized_medium">
              <a:extLst>
                <a:ext uri="{FF2B5EF4-FFF2-40B4-BE49-F238E27FC236}">
                  <a16:creationId xmlns:a16="http://schemas.microsoft.com/office/drawing/2014/main" id="{5EB3C43B-1013-9A41-8AA9-8D6C5A2815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 name="Freeform 98">
              <a:extLst>
                <a:ext uri="{FF2B5EF4-FFF2-40B4-BE49-F238E27FC236}">
                  <a16:creationId xmlns:a16="http://schemas.microsoft.com/office/drawing/2014/main" id="{1D800635-1037-4C4C-A3B0-794CE30A5042}"/>
                </a:ext>
              </a:extLst>
            </p:cNvPr>
            <p:cNvSpPr>
              <a:spLocks/>
            </p:cNvSpPr>
            <p:nvPr/>
          </p:nvSpPr>
          <p:spPr bwMode="auto">
            <a:xfrm flipH="1">
              <a:off x="374" y="1579"/>
              <a:ext cx="477" cy="506"/>
            </a:xfrm>
            <a:custGeom>
              <a:avLst/>
              <a:gdLst>
                <a:gd name="T0" fmla="*/ 0 w 356"/>
                <a:gd name="T1" fmla="*/ 0 h 368"/>
                <a:gd name="T2" fmla="*/ 5595 w 356"/>
                <a:gd name="T3" fmla="*/ 341 h 368"/>
                <a:gd name="T4" fmla="*/ 6638 w 356"/>
                <a:gd name="T5" fmla="*/ 7113 h 368"/>
                <a:gd name="T6" fmla="*/ 1463 w 356"/>
                <a:gd name="T7" fmla="*/ 8895 h 368"/>
                <a:gd name="T8" fmla="*/ 0 w 356"/>
                <a:gd name="T9" fmla="*/ 0 h 3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ffectLst/>
            <a:extLs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dirty="0">
                <a:ln>
                  <a:noFill/>
                </a:ln>
                <a:solidFill>
                  <a:srgbClr val="000000"/>
                </a:solidFill>
                <a:effectLst/>
                <a:uLnTx/>
                <a:uFillTx/>
                <a:latin typeface="Tahoma" panose="020B0604030504040204" pitchFamily="34" charset="0"/>
                <a:ea typeface="ＭＳ Ｐゴシック" panose="020B0600070205080204" pitchFamily="34" charset="-128"/>
                <a:cs typeface="+mn-cs"/>
              </a:endParaRPr>
            </a:p>
          </p:txBody>
        </p:sp>
      </p:grpSp>
      <p:grpSp>
        <p:nvGrpSpPr>
          <p:cNvPr id="7" name="Group 6">
            <a:extLst>
              <a:ext uri="{FF2B5EF4-FFF2-40B4-BE49-F238E27FC236}">
                <a16:creationId xmlns:a16="http://schemas.microsoft.com/office/drawing/2014/main" id="{96BABFE7-C970-8E4B-A16C-A7D788B9DA23}"/>
              </a:ext>
            </a:extLst>
          </p:cNvPr>
          <p:cNvGrpSpPr/>
          <p:nvPr/>
        </p:nvGrpSpPr>
        <p:grpSpPr>
          <a:xfrm>
            <a:off x="1803400" y="4591050"/>
            <a:ext cx="5319534" cy="1606314"/>
            <a:chOff x="1803400" y="4591050"/>
            <a:chExt cx="5319534" cy="1606314"/>
          </a:xfrm>
        </p:grpSpPr>
        <p:pic>
          <p:nvPicPr>
            <p:cNvPr id="52" name="Picture 2" descr="Image result for light bulb icon">
              <a:extLst>
                <a:ext uri="{FF2B5EF4-FFF2-40B4-BE49-F238E27FC236}">
                  <a16:creationId xmlns:a16="http://schemas.microsoft.com/office/drawing/2014/main" id="{F30DA35F-A671-6D4D-9DD4-D0D5E13E1A4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3400" y="4591050"/>
              <a:ext cx="819150" cy="819150"/>
            </a:xfrm>
            <a:prstGeom prst="rect">
              <a:avLst/>
            </a:prstGeom>
            <a:noFill/>
            <a:extLst>
              <a:ext uri="{909E8E84-426E-40DD-AFC4-6F175D3DCCD1}">
                <a14:hiddenFill xmlns:a14="http://schemas.microsoft.com/office/drawing/2010/main">
                  <a:solidFill>
                    <a:srgbClr val="FFFFFF"/>
                  </a:solidFill>
                </a14:hiddenFill>
              </a:ext>
            </a:extLst>
          </p:spPr>
        </p:pic>
        <p:sp>
          <p:nvSpPr>
            <p:cNvPr id="73" name="Text Box 29">
              <a:extLst>
                <a:ext uri="{FF2B5EF4-FFF2-40B4-BE49-F238E27FC236}">
                  <a16:creationId xmlns:a16="http://schemas.microsoft.com/office/drawing/2014/main" id="{34AAC8DC-F059-7445-99BF-80AECC3E6614}"/>
                </a:ext>
              </a:extLst>
            </p:cNvPr>
            <p:cNvSpPr txBox="1">
              <a:spLocks noChangeArrowheads="1"/>
            </p:cNvSpPr>
            <p:nvPr/>
          </p:nvSpPr>
          <p:spPr bwMode="auto">
            <a:xfrm>
              <a:off x="2235200" y="4775436"/>
              <a:ext cx="4145527" cy="142192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r" defTabSz="914400" rtl="0" eaLnBrk="0" fontAlgn="base" latinLnBrk="0" hangingPunct="0">
                <a:lnSpc>
                  <a:spcPct val="90000"/>
                </a:lnSpc>
                <a:spcBef>
                  <a:spcPct val="0"/>
                </a:spcBef>
                <a:spcAft>
                  <a:spcPct val="0"/>
                </a:spcAft>
                <a:buClrTx/>
                <a:buSzTx/>
                <a:buFontTx/>
                <a:buNone/>
                <a:tabLst/>
                <a:defRPr/>
              </a:pPr>
              <a:r>
                <a:rPr kumimoji="0" lang="en-US" sz="2400" b="0" i="0" u="none" strike="noStrike" kern="0" cap="none" spc="0" normalizeH="0" baseline="0" noProof="0" dirty="0">
                  <a:ln>
                    <a:noFill/>
                  </a:ln>
                  <a:solidFill>
                    <a:srgbClr val="000000"/>
                  </a:solidFill>
                  <a:effectLst/>
                  <a:uLnTx/>
                  <a:uFillTx/>
                  <a:latin typeface="Calibri"/>
                  <a:ea typeface="ＭＳ Ｐゴシック" charset="0"/>
                  <a:cs typeface="+mn-cs"/>
                </a:rPr>
                <a:t>Receipt of three duplicate ACKs indicates 3 segments received after a missing segment – lost segment is likely. So retransmit!</a:t>
              </a:r>
              <a:endParaRPr kumimoji="0" lang="en-US" sz="1100" b="0" i="0" u="none" strike="noStrike" kern="0" cap="none" spc="0" normalizeH="0" baseline="0" noProof="0" dirty="0">
                <a:ln>
                  <a:noFill/>
                </a:ln>
                <a:solidFill>
                  <a:srgbClr val="000000"/>
                </a:solidFill>
                <a:effectLst/>
                <a:uLnTx/>
                <a:uFillTx/>
                <a:latin typeface="Calibri"/>
                <a:ea typeface="ＭＳ Ｐゴシック" charset="0"/>
                <a:cs typeface="+mn-cs"/>
              </a:endParaRPr>
            </a:p>
          </p:txBody>
        </p:sp>
        <p:cxnSp>
          <p:nvCxnSpPr>
            <p:cNvPr id="6" name="Straight Connector 5">
              <a:extLst>
                <a:ext uri="{FF2B5EF4-FFF2-40B4-BE49-F238E27FC236}">
                  <a16:creationId xmlns:a16="http://schemas.microsoft.com/office/drawing/2014/main" id="{CD551B68-D8DE-9043-B6CA-9F2F28DD2CA6}"/>
                </a:ext>
              </a:extLst>
            </p:cNvPr>
            <p:cNvCxnSpPr>
              <a:cxnSpLocks/>
            </p:cNvCxnSpPr>
            <p:nvPr/>
          </p:nvCxnSpPr>
          <p:spPr>
            <a:xfrm>
              <a:off x="6359939" y="5143678"/>
              <a:ext cx="762995" cy="0"/>
            </a:xfrm>
            <a:prstGeom prst="line">
              <a:avLst/>
            </a:prstGeom>
            <a:ln w="22225">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57" name="Group 56">
            <a:extLst>
              <a:ext uri="{FF2B5EF4-FFF2-40B4-BE49-F238E27FC236}">
                <a16:creationId xmlns:a16="http://schemas.microsoft.com/office/drawing/2014/main" id="{34962C80-D280-E449-81BD-84D3E53124DD}"/>
              </a:ext>
            </a:extLst>
          </p:cNvPr>
          <p:cNvGrpSpPr/>
          <p:nvPr/>
        </p:nvGrpSpPr>
        <p:grpSpPr>
          <a:xfrm>
            <a:off x="790711" y="1227535"/>
            <a:ext cx="5214977" cy="2878929"/>
            <a:chOff x="7089911" y="1681505"/>
            <a:chExt cx="5214977" cy="2878929"/>
          </a:xfrm>
        </p:grpSpPr>
        <p:sp>
          <p:nvSpPr>
            <p:cNvPr id="58" name="Rectangle 5">
              <a:extLst>
                <a:ext uri="{FF2B5EF4-FFF2-40B4-BE49-F238E27FC236}">
                  <a16:creationId xmlns:a16="http://schemas.microsoft.com/office/drawing/2014/main" id="{F5C10379-FA54-C34D-B355-F07F5DA409A8}"/>
                </a:ext>
              </a:extLst>
            </p:cNvPr>
            <p:cNvSpPr>
              <a:spLocks noChangeArrowheads="1"/>
            </p:cNvSpPr>
            <p:nvPr/>
          </p:nvSpPr>
          <p:spPr bwMode="auto">
            <a:xfrm>
              <a:off x="7360355" y="2207758"/>
              <a:ext cx="4809067" cy="2263775"/>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sz="1600">
                  <a:solidFill>
                    <a:schemeClr val="tx1"/>
                  </a:solidFill>
                  <a:latin typeface="Tahoma" panose="020B0604030504040204" pitchFamily="34" charset="0"/>
                  <a:ea typeface="ＭＳ Ｐゴシック" panose="020B0600070205080204" pitchFamily="34" charset="-128"/>
                </a:defRPr>
              </a:lvl1pPr>
              <a:lvl2pPr marL="463550" indent="-238125">
                <a:defRPr sz="1600">
                  <a:solidFill>
                    <a:schemeClr val="tx1"/>
                  </a:solidFill>
                  <a:latin typeface="Tahoma" panose="020B0604030504040204" pitchFamily="34" charset="0"/>
                  <a:ea typeface="ＭＳ Ｐゴシック" panose="020B0600070205080204" pitchFamily="34" charset="-128"/>
                </a:defRPr>
              </a:lvl2pPr>
              <a:lvl3pPr marL="1143000" indent="-228600">
                <a:defRPr sz="1600">
                  <a:solidFill>
                    <a:schemeClr val="tx1"/>
                  </a:solidFill>
                  <a:latin typeface="Tahoma" panose="020B0604030504040204" pitchFamily="34" charset="0"/>
                  <a:ea typeface="ＭＳ Ｐゴシック" panose="020B0600070205080204" pitchFamily="34" charset="-128"/>
                </a:defRPr>
              </a:lvl3pPr>
              <a:lvl4pPr marL="1600200" indent="-228600">
                <a:defRPr sz="1600">
                  <a:solidFill>
                    <a:schemeClr val="tx1"/>
                  </a:solidFill>
                  <a:latin typeface="Tahoma" panose="020B0604030504040204" pitchFamily="34" charset="0"/>
                  <a:ea typeface="ＭＳ Ｐゴシック" panose="020B0600070205080204" pitchFamily="34" charset="-128"/>
                </a:defRPr>
              </a:lvl4pPr>
              <a:lvl5pPr marL="2057400" indent="-228600">
                <a:defRPr sz="1600">
                  <a:solidFill>
                    <a:schemeClr val="tx1"/>
                  </a:solidFill>
                  <a:latin typeface="Tahoma" panose="020B0604030504040204" pitchFamily="34" charset="0"/>
                  <a:ea typeface="ＭＳ Ｐゴシック" panose="020B0600070205080204" pitchFamily="34" charset="-128"/>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ＭＳ Ｐゴシック" panose="020B0600070205080204" pitchFamily="34" charset="-128"/>
                </a:defRPr>
              </a:lvl9pPr>
            </a:lstStyle>
            <a:p>
              <a:pPr marL="0" marR="0" lvl="0" indent="0" algn="l" defTabSz="914400" rtl="0" eaLnBrk="1" fontAlgn="auto" latinLnBrk="0" hangingPunct="1">
                <a:lnSpc>
                  <a:spcPct val="85000"/>
                </a:lnSpc>
                <a:spcBef>
                  <a:spcPct val="20000"/>
                </a:spcBef>
                <a:spcAft>
                  <a:spcPts val="0"/>
                </a:spcAft>
                <a:buClr>
                  <a:srgbClr val="000099"/>
                </a:buClr>
                <a:buSzPct val="65000"/>
                <a:buFont typeface="Wingdings" pitchFamily="2" charset="2"/>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if sender receives 3 additional ACKs for same data </a:t>
              </a: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triple duplicate ACKs”),</a:t>
              </a:r>
              <a:r>
                <a:rPr kumimoji="0" lang="en-US" altLang="ja-JP"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 resend unACKed segment with smallest seq #</a:t>
              </a:r>
            </a:p>
            <a:p>
              <a:pPr marL="463550" marR="0" lvl="1" indent="-238125" algn="l" defTabSz="914400" rtl="0" eaLnBrk="1" fontAlgn="auto" latinLnBrk="0" hangingPunct="1">
                <a:lnSpc>
                  <a:spcPct val="85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likely that unACKed segment lost, so don’</a:t>
              </a:r>
              <a:r>
                <a:rPr kumimoji="0" lang="en-US" altLang="ja-JP"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t wait for timeout</a:t>
              </a:r>
              <a:endParaRPr kumimoji="0" lang="en-US" altLang="en-US" sz="24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sp>
          <p:nvSpPr>
            <p:cNvPr id="59" name="Rectangle 6">
              <a:extLst>
                <a:ext uri="{FF2B5EF4-FFF2-40B4-BE49-F238E27FC236}">
                  <a16:creationId xmlns:a16="http://schemas.microsoft.com/office/drawing/2014/main" id="{8A365B45-4FD3-5C46-85AD-12CD5EA2110A}"/>
                </a:ext>
              </a:extLst>
            </p:cNvPr>
            <p:cNvSpPr>
              <a:spLocks noChangeArrowheads="1"/>
            </p:cNvSpPr>
            <p:nvPr/>
          </p:nvSpPr>
          <p:spPr bwMode="auto">
            <a:xfrm>
              <a:off x="7089911" y="1910106"/>
              <a:ext cx="5214977" cy="2650328"/>
            </a:xfrm>
            <a:prstGeom prst="rect">
              <a:avLst/>
            </a:prstGeom>
            <a:noFill/>
            <a:ln w="19050">
              <a:solidFill>
                <a:srgbClr val="CC0000"/>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ahoma" charset="0"/>
                <a:ea typeface="ＭＳ Ｐゴシック" charset="0"/>
                <a:cs typeface="+mn-cs"/>
              </a:endParaRPr>
            </a:p>
          </p:txBody>
        </p:sp>
        <p:sp>
          <p:nvSpPr>
            <p:cNvPr id="107" name="Text Box 7">
              <a:extLst>
                <a:ext uri="{FF2B5EF4-FFF2-40B4-BE49-F238E27FC236}">
                  <a16:creationId xmlns:a16="http://schemas.microsoft.com/office/drawing/2014/main" id="{F5EE31CA-1C9B-9E4F-8E15-A0B0919A3B54}"/>
                </a:ext>
              </a:extLst>
            </p:cNvPr>
            <p:cNvSpPr txBox="1">
              <a:spLocks noChangeArrowheads="1"/>
            </p:cNvSpPr>
            <p:nvPr/>
          </p:nvSpPr>
          <p:spPr bwMode="auto">
            <a:xfrm>
              <a:off x="7348953" y="1681505"/>
              <a:ext cx="2773363" cy="457200"/>
            </a:xfrm>
            <a:prstGeom prst="rect">
              <a:avLst/>
            </a:prstGeom>
            <a:solidFill>
              <a:schemeClr val="bg1"/>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lvl1pPr>
                <a:defRPr sz="1600">
                  <a:solidFill>
                    <a:schemeClr val="tx1"/>
                  </a:solidFill>
                  <a:latin typeface="Tahoma" charset="0"/>
                  <a:ea typeface="ＭＳ Ｐゴシック" charset="0"/>
                </a:defRPr>
              </a:lvl1pPr>
              <a:lvl2pPr marL="742950" indent="-285750">
                <a:defRPr sz="1600">
                  <a:solidFill>
                    <a:schemeClr val="tx1"/>
                  </a:solidFill>
                  <a:latin typeface="Tahoma" charset="0"/>
                  <a:ea typeface="ＭＳ Ｐゴシック" charset="0"/>
                </a:defRPr>
              </a:lvl2pPr>
              <a:lvl3pPr marL="1143000" indent="-228600">
                <a:defRPr sz="1600">
                  <a:solidFill>
                    <a:schemeClr val="tx1"/>
                  </a:solidFill>
                  <a:latin typeface="Tahoma" charset="0"/>
                  <a:ea typeface="ＭＳ Ｐゴシック" charset="0"/>
                </a:defRPr>
              </a:lvl3pPr>
              <a:lvl4pPr marL="1600200" indent="-228600">
                <a:defRPr sz="1600">
                  <a:solidFill>
                    <a:schemeClr val="tx1"/>
                  </a:solidFill>
                  <a:latin typeface="Tahoma" charset="0"/>
                  <a:ea typeface="ＭＳ Ｐゴシック" charset="0"/>
                </a:defRPr>
              </a:lvl4pPr>
              <a:lvl5pPr marL="2057400" indent="-228600">
                <a:defRPr sz="1600">
                  <a:solidFill>
                    <a:schemeClr val="tx1"/>
                  </a:solidFill>
                  <a:latin typeface="Tahoma" charset="0"/>
                  <a:ea typeface="ＭＳ Ｐゴシック" charset="0"/>
                </a:defRPr>
              </a:lvl5pPr>
              <a:lvl6pPr marL="2514600" indent="-228600" algn="ctr" eaLnBrk="0" fontAlgn="base" hangingPunct="0">
                <a:spcBef>
                  <a:spcPct val="0"/>
                </a:spcBef>
                <a:spcAft>
                  <a:spcPct val="0"/>
                </a:spcAft>
                <a:defRPr sz="1600">
                  <a:solidFill>
                    <a:schemeClr val="tx1"/>
                  </a:solidFill>
                  <a:latin typeface="Tahoma" charset="0"/>
                  <a:ea typeface="ＭＳ Ｐゴシック" charset="0"/>
                </a:defRPr>
              </a:lvl6pPr>
              <a:lvl7pPr marL="2971800" indent="-228600" algn="ctr" eaLnBrk="0" fontAlgn="base" hangingPunct="0">
                <a:spcBef>
                  <a:spcPct val="0"/>
                </a:spcBef>
                <a:spcAft>
                  <a:spcPct val="0"/>
                </a:spcAft>
                <a:defRPr sz="1600">
                  <a:solidFill>
                    <a:schemeClr val="tx1"/>
                  </a:solidFill>
                  <a:latin typeface="Tahoma" charset="0"/>
                  <a:ea typeface="ＭＳ Ｐゴシック" charset="0"/>
                </a:defRPr>
              </a:lvl7pPr>
              <a:lvl8pPr marL="3429000" indent="-228600" algn="ctr" eaLnBrk="0" fontAlgn="base" hangingPunct="0">
                <a:spcBef>
                  <a:spcPct val="0"/>
                </a:spcBef>
                <a:spcAft>
                  <a:spcPct val="0"/>
                </a:spcAft>
                <a:defRPr sz="1600">
                  <a:solidFill>
                    <a:schemeClr val="tx1"/>
                  </a:solidFill>
                  <a:latin typeface="Tahoma" charset="0"/>
                  <a:ea typeface="ＭＳ Ｐゴシック" charset="0"/>
                </a:defRPr>
              </a:lvl8pPr>
              <a:lvl9pPr marL="3886200" indent="-228600" algn="ctr" eaLnBrk="0" fontAlgn="base" hangingPunct="0">
                <a:spcBef>
                  <a:spcPct val="0"/>
                </a:spcBef>
                <a:spcAft>
                  <a:spcPct val="0"/>
                </a:spcAft>
                <a:defRPr sz="1600">
                  <a:solidFill>
                    <a:schemeClr val="tx1"/>
                  </a:solidFill>
                  <a:latin typeface="Tahoma" charset="0"/>
                  <a:ea typeface="ＭＳ Ｐゴシック"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1" u="none" strike="noStrike" kern="1200" cap="none" spc="0" normalizeH="0" baseline="0" noProof="0" dirty="0">
                  <a:ln>
                    <a:noFill/>
                  </a:ln>
                  <a:solidFill>
                    <a:srgbClr val="CC0000"/>
                  </a:solidFill>
                  <a:effectLst/>
                  <a:uLnTx/>
                  <a:uFillTx/>
                  <a:latin typeface="Tahoma" charset="0"/>
                  <a:ea typeface="ＭＳ Ｐゴシック" charset="0"/>
                  <a:cs typeface="+mn-cs"/>
                </a:rPr>
                <a:t>TCP fast retransmit</a:t>
              </a:r>
            </a:p>
          </p:txBody>
        </p:sp>
      </p:grpSp>
    </p:spTree>
    <p:extLst>
      <p:ext uri="{BB962C8B-B14F-4D97-AF65-F5344CB8AC3E}">
        <p14:creationId xmlns:p14="http://schemas.microsoft.com/office/powerpoint/2010/main" val="1196614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righ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dissolve">
                                      <p:cBhvr>
                                        <p:cTn id="27"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1080</TotalTime>
  <Words>4371</Words>
  <Application>Microsoft Office PowerPoint</Application>
  <PresentationFormat>Widescreen</PresentationFormat>
  <Paragraphs>869</Paragraphs>
  <Slides>34</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Courier</vt:lpstr>
      <vt:lpstr>ＭＳ Ｐゴシック</vt:lpstr>
      <vt:lpstr>Aptos</vt:lpstr>
      <vt:lpstr>Aptos Display</vt:lpstr>
      <vt:lpstr>Arial</vt:lpstr>
      <vt:lpstr>Calibri</vt:lpstr>
      <vt:lpstr>Courier New</vt:lpstr>
      <vt:lpstr>Roboto</vt:lpstr>
      <vt:lpstr>Tahoma</vt:lpstr>
      <vt:lpstr>Times New Roman</vt:lpstr>
      <vt:lpstr>Wingdings</vt:lpstr>
      <vt:lpstr>Office Theme</vt:lpstr>
      <vt:lpstr>CSC 3511 Security and Networking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TCP Connection Setup: Three-Way Handshake</vt:lpstr>
      <vt:lpstr>PowerPoint Presentation</vt:lpstr>
      <vt:lpstr>PowerPoint Presentation</vt:lpstr>
      <vt:lpstr>PowerPoint Presentation</vt:lpstr>
      <vt:lpstr>PowerPoint Presentation</vt:lpstr>
      <vt:lpstr>PowerPoint Presentation</vt:lpstr>
      <vt:lpstr>PowerPoint Presentation</vt:lpstr>
      <vt:lpstr>TCP timeout and round trip time (RTT)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TCP: Retransmission Scenarios</vt:lpstr>
      <vt:lpstr>TCP: Retransmission Scenarios</vt:lpstr>
      <vt:lpstr>TCP Fast Retransmit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Liao, Zhonghao</dc:creator>
  <cp:lastModifiedBy>Liao, Zhonghao</cp:lastModifiedBy>
  <cp:revision>322</cp:revision>
  <dcterms:created xsi:type="dcterms:W3CDTF">2025-09-03T22:06:31Z</dcterms:created>
  <dcterms:modified xsi:type="dcterms:W3CDTF">2025-09-19T21:26:19Z</dcterms:modified>
</cp:coreProperties>
</file>